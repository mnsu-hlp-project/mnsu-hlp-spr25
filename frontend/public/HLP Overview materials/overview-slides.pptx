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Quicksand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95C359-7BBF-4736-B948-F1F82F036117}">
  <a:tblStyle styleId="{F595C359-7BBF-4736-B948-F1F82F036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162F299-851B-46A4-8DF5-1AB755BAF1F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Quicksand-bold.fntdata"/><Relationship Id="rId14" Type="http://schemas.openxmlformats.org/officeDocument/2006/relationships/slide" Target="slides/slide8.xml"/><Relationship Id="rId36" Type="http://schemas.openxmlformats.org/officeDocument/2006/relationships/font" Target="fonts/Quicksan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82556bf9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82556bf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82556bf9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82556bf9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e9fe6c1d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e9fe6c1d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2556bf9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82556bf9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HLPs?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2556bf9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82556bf9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e9fe6c1d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e9fe6c1d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82556bf9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82556bf9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e9fe6c1d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e9fe6c1d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82556bf9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82556bf9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e9fe6c1d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e9fe6c1d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e9fe6c1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e9fe6c1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e9fe6c1d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e9fe6c1d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e9fe6c1d1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e9fe6c1d1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e9fe6c1d1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e9fe6c1d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e9fe6c1d1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e9fe6c1d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e9fe6c1d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e9fe6c1d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82556bf9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82556bf9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e944741f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e944741f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e9fe6c1d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e9fe6c1d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e9fe6c1d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e9fe6c1d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2 slides for this, if needed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e9fe6c1d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e9fe6c1d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e9fe6c1d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e9fe6c1d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82556bf9b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82556bf9b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This section should be highly practical.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e9fe6c1d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e9fe6c1d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e9fe6c1d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ee9fe6c1d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806310e3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806310e3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Throughout the remaining MyHLPTracker modules, you'll explore each High-Leverage Practice in greater depth, learning how these practices work together to improve instruction and student outcomes.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50e0e413d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50e0e413d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82556bf9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82556bf9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highleveragepractices.org/" TargetMode="External"/><Relationship Id="rId4" Type="http://schemas.openxmlformats.org/officeDocument/2006/relationships/hyperlink" Target="https://highleveragepractices.org/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8175" y="125175"/>
            <a:ext cx="8520600" cy="16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Overview of the High-Leverage Practices</a:t>
            </a:r>
            <a:r>
              <a:rPr lang="en">
                <a:solidFill>
                  <a:schemeClr val="accent1"/>
                </a:solidFill>
              </a:rPr>
              <a:t> Learning Module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82300"/>
            <a:ext cx="8520600" cy="18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3000"/>
              <a:t>A Foundation for Effective Instruction, Collaboration, and Student Success</a:t>
            </a:r>
            <a:endParaRPr b="1" sz="3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30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400"/>
              <a:t>Ruby L. Owiny, Ph.D.</a:t>
            </a:r>
            <a:endParaRPr sz="24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400"/>
              <a:t>Minnesota State University, Mankato</a:t>
            </a:r>
            <a:endParaRPr sz="2400"/>
          </a:p>
        </p:txBody>
      </p:sp>
      <p:pic>
        <p:nvPicPr>
          <p:cNvPr id="56" name="Google Shape;56;p13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Reminder</a:t>
            </a:r>
            <a:endParaRPr b="1" sz="3600">
              <a:solidFill>
                <a:schemeClr val="accent1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617750" y="1453525"/>
            <a:ext cx="4397400" cy="19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Complete the </a:t>
            </a:r>
            <a:r>
              <a:rPr b="1" lang="en" sz="2400"/>
              <a:t>Pre-Assessment </a:t>
            </a:r>
            <a:r>
              <a:rPr lang="en" sz="2400"/>
              <a:t>on Google Forms before starting this video. </a:t>
            </a:r>
            <a:endParaRPr sz="2400"/>
          </a:p>
        </p:txBody>
      </p:sp>
      <p:pic>
        <p:nvPicPr>
          <p:cNvPr id="63" name="Google Shape;63;p14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AdobeStock_323603916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8250" y="607325"/>
            <a:ext cx="2967378" cy="2967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Module Objectives</a:t>
            </a:r>
            <a:endParaRPr b="1" sz="3600">
              <a:solidFill>
                <a:schemeClr val="accent1"/>
              </a:solidFill>
            </a:endParaRPr>
          </a:p>
        </p:txBody>
      </p:sp>
      <p:pic>
        <p:nvPicPr>
          <p:cNvPr id="70" name="Google Shape;70;p15" title="AdobeStock_190908720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5150" y="60875"/>
            <a:ext cx="2752502" cy="222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017725"/>
            <a:ext cx="6889200" cy="3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92"/>
              <a:t>As a result of this module, participants will be able to:</a:t>
            </a:r>
            <a:endParaRPr sz="3192"/>
          </a:p>
          <a:p>
            <a:pPr indent="-370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3192"/>
              <a:t>Define the High-Leverage Practices (HLPs).</a:t>
            </a:r>
            <a:endParaRPr sz="3192"/>
          </a:p>
          <a:p>
            <a:pPr indent="-370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92"/>
              <a:t>Describe the purpose and structure of the HLP framework.</a:t>
            </a:r>
            <a:endParaRPr sz="3192"/>
          </a:p>
          <a:p>
            <a:pPr indent="-370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92"/>
              <a:t>Explain how the HLPs work together to improve student outcomes.</a:t>
            </a:r>
            <a:endParaRPr sz="3192"/>
          </a:p>
          <a:p>
            <a:pPr indent="-370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3192"/>
              <a:t>Recognize the role of HLPs in supporting students with disabilities and all learners.</a:t>
            </a:r>
            <a:endParaRPr sz="3192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2" name="Google Shape;72;p15" title="Screenshot 2026-06-03 at 3.13.19 PM.png"/>
          <p:cNvPicPr preferRelativeResize="0"/>
          <p:nvPr/>
        </p:nvPicPr>
        <p:blipFill rotWithShape="1">
          <a:blip r:embed="rId4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3332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40">
                <a:solidFill>
                  <a:schemeClr val="accent1"/>
                </a:solidFill>
              </a:rPr>
              <a:t>Introduction</a:t>
            </a:r>
            <a:r>
              <a:rPr b="1" lang="en" sz="3140">
                <a:solidFill>
                  <a:schemeClr val="accent1"/>
                </a:solidFill>
              </a:rPr>
              <a:t> to the High-Leverage Practices</a:t>
            </a:r>
            <a:endParaRPr b="1" sz="3140">
              <a:solidFill>
                <a:schemeClr val="accent1"/>
              </a:solidFill>
            </a:endParaRPr>
          </a:p>
        </p:txBody>
      </p:sp>
      <p:pic>
        <p:nvPicPr>
          <p:cNvPr id="78" name="Google Shape;78;p16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0863" y="897950"/>
            <a:ext cx="296227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ChatGPT Image Jul 13, 2026, 12_29_1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789" y="167275"/>
            <a:ext cx="7054423" cy="3970225"/>
          </a:xfrm>
          <a:prstGeom prst="rect">
            <a:avLst/>
          </a:prstGeom>
          <a:noFill/>
          <a:ln cap="flat" cmpd="sng" w="7620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699163" y="176075"/>
            <a:ext cx="815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Key Terms</a:t>
            </a:r>
            <a:endParaRPr b="1" sz="3600">
              <a:solidFill>
                <a:schemeClr val="accent1"/>
              </a:solidFill>
            </a:endParaRPr>
          </a:p>
        </p:txBody>
      </p:sp>
      <p:pic>
        <p:nvPicPr>
          <p:cNvPr id="91" name="Google Shape;91;p18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" name="Google Shape;92;p18"/>
          <p:cNvGraphicFramePr/>
          <p:nvPr/>
        </p:nvGraphicFramePr>
        <p:xfrm>
          <a:off x="795663" y="104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{F595C359-7BBF-4736-B948-F1F82F036117}</a:tableStyleId>
              </a:tblPr>
              <a:tblGrid>
                <a:gridCol w="2408475"/>
                <a:gridCol w="4983675"/>
              </a:tblGrid>
              <a:tr h="256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Term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45C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Definition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45C79"/>
                    </a:solidFill>
                  </a:tcPr>
                </a:tc>
              </a:tr>
              <a:tr h="334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High-Leverage Practice (HLP)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An essential practice used frequently by effective educators.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Pillar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Practice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 foundational HLP that serves as a cornerstone for effective implementation.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03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Embedded Practice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 supporting HLP that strengthens implementation of pillar practices.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03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Culturally Inclusive Practices &amp; Pedagogies (CIPP)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Approaches that recognize, value, and respond to students' diverse cultural, linguistic, and lived experiences while promoting equitable learning opportunities.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23332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40">
                <a:solidFill>
                  <a:schemeClr val="accent1"/>
                </a:solidFill>
              </a:rPr>
              <a:t>Why </a:t>
            </a:r>
            <a:r>
              <a:rPr b="1" lang="en" sz="3140">
                <a:solidFill>
                  <a:schemeClr val="accent1"/>
                </a:solidFill>
              </a:rPr>
              <a:t>the HLPs Matter</a:t>
            </a:r>
            <a:endParaRPr b="1" sz="3140">
              <a:solidFill>
                <a:schemeClr val="accent1"/>
              </a:solidFill>
            </a:endParaRPr>
          </a:p>
        </p:txBody>
      </p:sp>
      <p:pic>
        <p:nvPicPr>
          <p:cNvPr id="98" name="Google Shape;98;p19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0850" y="919850"/>
            <a:ext cx="296227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 title="ChatGPT Image Jul 13, 2026, 11_50_05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575" y="138225"/>
            <a:ext cx="6434849" cy="4047649"/>
          </a:xfrm>
          <a:prstGeom prst="rect">
            <a:avLst/>
          </a:prstGeom>
          <a:noFill/>
          <a:ln cap="flat" cmpd="sng" w="7620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" name="Google Shape;105;p20" title="Screenshot 2026-06-03 at 3.13.19 PM.png"/>
          <p:cNvPicPr preferRelativeResize="0"/>
          <p:nvPr/>
        </p:nvPicPr>
        <p:blipFill rotWithShape="1">
          <a:blip r:embed="rId4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ChatGPT Image Jul 13, 2026, 12_16_50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3174" y="174425"/>
            <a:ext cx="5977651" cy="3985101"/>
          </a:xfrm>
          <a:prstGeom prst="rect">
            <a:avLst/>
          </a:prstGeom>
          <a:noFill/>
          <a:ln cap="flat" cmpd="sng" w="7620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 title="ChatGPT Image Jul 13, 2026, 11_56_39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8663" y="148075"/>
            <a:ext cx="6066674" cy="4044449"/>
          </a:xfrm>
          <a:prstGeom prst="rect">
            <a:avLst/>
          </a:prstGeom>
          <a:noFill/>
          <a:ln cap="flat" cmpd="sng" w="7620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23332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40">
                <a:solidFill>
                  <a:schemeClr val="accent1"/>
                </a:solidFill>
              </a:rPr>
              <a:t>T</a:t>
            </a:r>
            <a:r>
              <a:rPr b="1" lang="en" sz="3140">
                <a:solidFill>
                  <a:schemeClr val="accent1"/>
                </a:solidFill>
              </a:rPr>
              <a:t>he Organizational Structure</a:t>
            </a:r>
            <a:endParaRPr b="1" sz="3140">
              <a:solidFill>
                <a:schemeClr val="accent1"/>
              </a:solidFill>
            </a:endParaRPr>
          </a:p>
        </p:txBody>
      </p:sp>
      <p:pic>
        <p:nvPicPr>
          <p:cNvPr id="123" name="Google Shape;123;p23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0850" y="919850"/>
            <a:ext cx="296227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Screenshot 2026-06-09 at 10.45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438" y="267737"/>
            <a:ext cx="5735774" cy="3881575"/>
          </a:xfrm>
          <a:prstGeom prst="rect">
            <a:avLst/>
          </a:prstGeom>
          <a:noFill/>
          <a:ln cap="flat" cmpd="sng" w="7620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0" name="Google Shape;130;p24" title="Screenshot 2026-06-03 at 3.13.19 PM.png"/>
          <p:cNvPicPr preferRelativeResize="0"/>
          <p:nvPr/>
        </p:nvPicPr>
        <p:blipFill rotWithShape="1">
          <a:blip r:embed="rId4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The Four HLP Domains</a:t>
            </a:r>
            <a:endParaRPr b="1" sz="3600">
              <a:solidFill>
                <a:schemeClr val="accent1"/>
              </a:solidFill>
            </a:endParaRPr>
          </a:p>
        </p:txBody>
      </p:sp>
      <p:pic>
        <p:nvPicPr>
          <p:cNvPr id="136" name="Google Shape;136;p25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488825" y="2648900"/>
            <a:ext cx="8307000" cy="16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r>
              <a:rPr lang="en"/>
              <a:t> four domains represent the essential work that educators do to support student success.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domains provide a framework for effective teaching, collaboration, planning, and intervention.</a:t>
            </a:r>
            <a:endParaRPr/>
          </a:p>
        </p:txBody>
      </p:sp>
      <p:pic>
        <p:nvPicPr>
          <p:cNvPr id="138" name="Google Shape;138;p25" title="Screenshot 2026-06-09 at 11.08.1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650" y="1170125"/>
            <a:ext cx="7850555" cy="14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160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accent1"/>
                </a:solidFill>
              </a:rPr>
              <a:t>Pillar Practices</a:t>
            </a:r>
            <a:r>
              <a:rPr lang="en"/>
              <a:t> </a:t>
            </a:r>
            <a:endParaRPr/>
          </a:p>
        </p:txBody>
      </p:sp>
      <p:pic>
        <p:nvPicPr>
          <p:cNvPr id="144" name="Google Shape;144;p26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555750" y="3319575"/>
            <a:ext cx="8032500" cy="16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/>
              <a:t>Pillar Practices </a:t>
            </a:r>
            <a:r>
              <a:rPr lang="en"/>
              <a:t>are the most essential HLPs for educators to learn, master, and implement. They represent the foundational practices that have the greatest impact on student success.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 title="Screenshot 2026-06-09 at 11.13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275" y="873475"/>
            <a:ext cx="8555474" cy="24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13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Embedded HLPs</a:t>
            </a:r>
            <a:endParaRPr b="1" sz="3600">
              <a:solidFill>
                <a:schemeClr val="accent1"/>
              </a:solidFill>
            </a:endParaRPr>
          </a:p>
        </p:txBody>
      </p:sp>
      <p:pic>
        <p:nvPicPr>
          <p:cNvPr id="152" name="Google Shape;152;p27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400100" y="3378675"/>
            <a:ext cx="7893900" cy="13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Embedded Practices</a:t>
            </a:r>
            <a:r>
              <a:rPr lang="en"/>
              <a:t> support and strengthen implementation of the </a:t>
            </a:r>
            <a:r>
              <a:rPr i="1" lang="en"/>
              <a:t>Pillar Practices</a:t>
            </a:r>
            <a:r>
              <a:rPr lang="en"/>
              <a:t>. They provide the additional knowledge and skills needed to effectively plan, teach, assess, collaborate, and intervene.</a:t>
            </a:r>
            <a:endParaRPr/>
          </a:p>
        </p:txBody>
      </p:sp>
      <p:pic>
        <p:nvPicPr>
          <p:cNvPr id="154" name="Google Shape;154;p27" title="Screenshot 2026-06-09 at 11.17.4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850" y="883275"/>
            <a:ext cx="7862400" cy="24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650" y="148875"/>
            <a:ext cx="3612300" cy="26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Relationship</a:t>
            </a:r>
            <a:r>
              <a:rPr b="1" lang="en" sz="3600">
                <a:solidFill>
                  <a:schemeClr val="accent1"/>
                </a:solidFill>
              </a:rPr>
              <a:t> between Pillars &amp; Embedded Practices</a:t>
            </a:r>
            <a:endParaRPr b="1" sz="3600">
              <a:solidFill>
                <a:schemeClr val="accent1"/>
              </a:solidFill>
            </a:endParaRPr>
          </a:p>
        </p:txBody>
      </p:sp>
      <p:pic>
        <p:nvPicPr>
          <p:cNvPr id="160" name="Google Shape;160;p28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 title="Pillar Practices vs. Embedded Practic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3950" y="556925"/>
            <a:ext cx="5005352" cy="3336876"/>
          </a:xfrm>
          <a:prstGeom prst="rect">
            <a:avLst/>
          </a:prstGeom>
          <a:noFill/>
          <a:ln cap="flat" cmpd="sng" w="7620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23332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40">
                <a:solidFill>
                  <a:schemeClr val="accent1"/>
                </a:solidFill>
              </a:rPr>
              <a:t>The HLPs Working Together</a:t>
            </a:r>
            <a:endParaRPr b="1" sz="3140">
              <a:solidFill>
                <a:schemeClr val="accent1"/>
              </a:solidFill>
            </a:endParaRPr>
          </a:p>
        </p:txBody>
      </p:sp>
      <p:pic>
        <p:nvPicPr>
          <p:cNvPr id="167" name="Google Shape;167;p29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0850" y="919850"/>
            <a:ext cx="296227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298325" y="218075"/>
            <a:ext cx="897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57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 sz="4000">
                <a:solidFill>
                  <a:schemeClr val="accent1"/>
                </a:solidFill>
              </a:rPr>
              <a:t>How the HLPs Work Together</a:t>
            </a:r>
            <a:endParaRPr b="1" sz="4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/>
        </p:nvSpPr>
        <p:spPr>
          <a:xfrm>
            <a:off x="3611400" y="707676"/>
            <a:ext cx="5274900" cy="3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</a:rPr>
              <a:t>Key Point:</a:t>
            </a:r>
            <a:r>
              <a:rPr lang="en" sz="2000">
                <a:solidFill>
                  <a:schemeClr val="dk2"/>
                </a:solidFill>
              </a:rPr>
              <a:t> The HLPs are not intended to be implemented one at a time.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Effective educators blend multiple HLPs together as they collaborate, plan, teach, assess, and support students.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75" name="Google Shape;175;p30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325" y="790775"/>
            <a:ext cx="3157051" cy="315705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0"/>
          <p:cNvSpPr txBox="1"/>
          <p:nvPr/>
        </p:nvSpPr>
        <p:spPr>
          <a:xfrm>
            <a:off x="298400" y="3662650"/>
            <a:ext cx="3156900" cy="554100"/>
          </a:xfrm>
          <a:prstGeom prst="rect">
            <a:avLst/>
          </a:prstGeom>
          <a:solidFill>
            <a:srgbClr val="F9F6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8761D"/>
                </a:solidFill>
                <a:latin typeface="Quicksand"/>
                <a:ea typeface="Quicksand"/>
                <a:cs typeface="Quicksand"/>
                <a:sym typeface="Quicksand"/>
              </a:rPr>
              <a:t>HLPs are interconnected and most effective when implemented together.</a:t>
            </a:r>
            <a:r>
              <a:rPr b="1" lang="en" sz="1100">
                <a:solidFill>
                  <a:srgbClr val="38761D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1100">
              <a:solidFill>
                <a:srgbClr val="38761D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283400" y="93950"/>
            <a:ext cx="897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57200" lvl="0" marL="45720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 sz="4000">
                <a:solidFill>
                  <a:schemeClr val="accent1"/>
                </a:solidFill>
              </a:rPr>
              <a:t>T</a:t>
            </a:r>
            <a:r>
              <a:rPr b="1" lang="en" sz="4000">
                <a:solidFill>
                  <a:schemeClr val="accent1"/>
                </a:solidFill>
              </a:rPr>
              <a:t>he HLPs in Action</a:t>
            </a:r>
            <a:endParaRPr b="1" sz="4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1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" name="Google Shape;184;p31"/>
          <p:cNvGraphicFramePr/>
          <p:nvPr/>
        </p:nvGraphicFramePr>
        <p:xfrm>
          <a:off x="283400" y="85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{8162F299-851B-46A4-8DF5-1AB755BAF1F2}</a:tableStyleId>
              </a:tblPr>
              <a:tblGrid>
                <a:gridCol w="5394150"/>
                <a:gridCol w="2983750"/>
              </a:tblGrid>
              <a:tr h="40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Student Need or Classroom Goal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HLPs Commonly Used Together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51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 student with reading difficulties needs to improve reading comprehension.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4, 6, 11, 12, 16, 20, 22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 student struggles to stay engaged during whole-group instruction.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7, 15, 17, 18, 22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51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 student demonstrates challenging classroom behaviors that interfere with the learning of both themselves and others.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7, 8, 9, 10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 student with a disability needs support accessing grade-level content.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12, 13, 15, 16, 19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440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 student is not making adequate progress toward an IEP goal.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4, 5, 6, 11, 20, 22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2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2" title="ChatGPT Image Jul 13, 2026, 12_02_54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3174" y="196225"/>
            <a:ext cx="5977651" cy="3985101"/>
          </a:xfrm>
          <a:prstGeom prst="rect">
            <a:avLst/>
          </a:prstGeom>
          <a:noFill/>
          <a:ln cap="flat" cmpd="sng" w="7620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3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3" title="ChatGPT Image Jul 13, 2026, 01_00_44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571" y="154700"/>
            <a:ext cx="7080857" cy="3985100"/>
          </a:xfrm>
          <a:prstGeom prst="rect">
            <a:avLst/>
          </a:prstGeom>
          <a:noFill/>
          <a:ln cap="flat" cmpd="sng" w="7620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23332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40">
                <a:solidFill>
                  <a:schemeClr val="accent1"/>
                </a:solidFill>
              </a:rPr>
              <a:t>Next Steps</a:t>
            </a:r>
            <a:endParaRPr b="1" sz="3140">
              <a:solidFill>
                <a:schemeClr val="accent1"/>
              </a:solidFill>
            </a:endParaRPr>
          </a:p>
        </p:txBody>
      </p:sp>
      <p:pic>
        <p:nvPicPr>
          <p:cNvPr id="202" name="Google Shape;202;p34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0850" y="919850"/>
            <a:ext cx="296227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297050" y="286275"/>
            <a:ext cx="8088000" cy="11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 sz="4000">
                <a:solidFill>
                  <a:schemeClr val="accent1"/>
                </a:solidFill>
              </a:rPr>
              <a:t>HLP Self-Reflection</a:t>
            </a:r>
            <a:endParaRPr b="1" sz="4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0968"/>
              <a:buFont typeface="Arial"/>
              <a:buNone/>
            </a:pPr>
            <a:r>
              <a:rPr lang="en" sz="1550"/>
              <a:t>Rate your familiarity with each domain.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9" name="Google Shape;209;p35"/>
          <p:cNvGraphicFramePr/>
          <p:nvPr/>
        </p:nvGraphicFramePr>
        <p:xfrm>
          <a:off x="409075" y="157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{8162F299-851B-46A4-8DF5-1AB755BAF1F2}</a:tableStyleId>
              </a:tblPr>
              <a:tblGrid>
                <a:gridCol w="3791575"/>
                <a:gridCol w="1636350"/>
                <a:gridCol w="1361350"/>
                <a:gridCol w="11868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Domain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45C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Emerging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45C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Developing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45C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Proficient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45C7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Collaboration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Data-Driven Planning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Instruction in Behavior &amp; Academics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Intensify &amp; Intervene as Needed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□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10" name="Google Shape;210;p35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6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6"/>
          <p:cNvSpPr txBox="1"/>
          <p:nvPr/>
        </p:nvSpPr>
        <p:spPr>
          <a:xfrm>
            <a:off x="306425" y="1766600"/>
            <a:ext cx="8784000" cy="29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Which HLP domain is your greatest strength? Which offers your greatest opportunity for growth?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Which HLPs do you already implement in your current role?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How can the HLPs improve equitable outcomes for all learners?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How do your practices honor students' strengths, identities, and experiences?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" sz="1900">
                <a:solidFill>
                  <a:schemeClr val="dk1"/>
                </a:solidFill>
              </a:rPr>
              <a:t>What is one action you will take after completing this module?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17" name="Google Shape;217;p36" title="AdobeStock_396413197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1675" y="0"/>
            <a:ext cx="5481523" cy="13789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6"/>
          <p:cNvSpPr txBox="1"/>
          <p:nvPr>
            <p:ph type="title"/>
          </p:nvPr>
        </p:nvSpPr>
        <p:spPr>
          <a:xfrm>
            <a:off x="116725" y="149500"/>
            <a:ext cx="3616200" cy="1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2000"/>
              </a:spcBef>
              <a:spcAft>
                <a:spcPts val="60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Reflect on Your Learning</a:t>
            </a:r>
            <a:endParaRPr b="1"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7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7" title="ChatGPT Image Jul 13, 2026, 01_21_27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1349" y="105475"/>
            <a:ext cx="5977651" cy="3985101"/>
          </a:xfrm>
          <a:prstGeom prst="rect">
            <a:avLst/>
          </a:prstGeom>
          <a:noFill/>
          <a:ln cap="flat" cmpd="sng" w="7620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234500" y="183400"/>
            <a:ext cx="8542500" cy="7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Next Step: Application Activity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03900" y="1613400"/>
            <a:ext cx="5324400" cy="20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Choose one HLP or domain to explore. </a:t>
            </a:r>
            <a:endParaRPr sz="2100"/>
          </a:p>
          <a:p>
            <a:pPr indent="-3619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Visit the </a:t>
            </a:r>
            <a:r>
              <a:rPr i="1" lang="en" sz="2100"/>
              <a:t>Resources</a:t>
            </a:r>
            <a:r>
              <a:rPr lang="en" sz="2100"/>
              <a:t> section in MyHLPTracker.</a:t>
            </a:r>
            <a:endParaRPr sz="2100"/>
          </a:p>
          <a:p>
            <a:pPr indent="-36101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5"/>
              <a:buChar char="●"/>
            </a:pPr>
            <a:r>
              <a:rPr lang="en" sz="2085"/>
              <a:t>Identify one strategy you will implement in your practice.</a:t>
            </a:r>
            <a:endParaRPr sz="2085"/>
          </a:p>
          <a:p>
            <a:pPr indent="-36101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5"/>
              <a:buChar char="●"/>
            </a:pPr>
            <a:r>
              <a:rPr lang="en" sz="2085"/>
              <a:t>See complete directions in the module. </a:t>
            </a:r>
            <a:endParaRPr sz="2085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8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8" title="Screenshot 2026-06-09 at 11.03.3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300" y="1469000"/>
            <a:ext cx="3148776" cy="220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9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 title="ChatGPT Image Jul 13, 2026, 01_30_0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5775" y="197000"/>
            <a:ext cx="6706875" cy="3905275"/>
          </a:xfrm>
          <a:prstGeom prst="rect">
            <a:avLst/>
          </a:prstGeom>
          <a:noFill/>
          <a:ln cap="flat" cmpd="sng" w="76200">
            <a:solidFill>
              <a:srgbClr val="76A5A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0" title="Screenshot 2026-06-03 at 3.13.19 PM.png"/>
          <p:cNvPicPr preferRelativeResize="0"/>
          <p:nvPr/>
        </p:nvPicPr>
        <p:blipFill rotWithShape="1">
          <a:blip r:embed="rId3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0" title="AdobeStock_33997391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428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311700" y="21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References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311700" y="651575"/>
            <a:ext cx="8520600" cy="43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Aceves, T. C., &amp; Kennedy, M. J. (Eds.) (2024, February). </a:t>
            </a:r>
            <a:r>
              <a:rPr i="1" lang="en"/>
              <a:t>High-leverage practices </a:t>
            </a:r>
            <a:endParaRPr i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for students with disabilities. </a:t>
            </a:r>
            <a:r>
              <a:rPr lang="en"/>
              <a:t>2nd edition. Council for Exceptional Children.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High-Leverage Practices for Students with Disabilities (2026).</a:t>
            </a:r>
            <a:r>
              <a:rPr lang="en">
                <a:uFill>
                  <a:noFill/>
                </a:uFill>
                <a:hlinkClick r:id="rId3"/>
              </a:rPr>
              <a:t>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lang="en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https://highleveragepractices.org</a:t>
            </a:r>
            <a:r>
              <a:rPr lang="en"/>
              <a:t>. Council for Exceptional Children.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McLeskey, J., et al. (2017). </a:t>
            </a:r>
            <a:r>
              <a:rPr i="1" lang="en"/>
              <a:t>High-leverage practices in special education.       </a:t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Routledge.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McLeskey, J., Maheady, L., Billingsley, B., Brownell, M. T., &amp; Lewis, T. J. (Eds.).  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(2022). </a:t>
            </a:r>
            <a:r>
              <a:rPr i="1" lang="en"/>
              <a:t>High leverage practices for inclusive classrooms. </a:t>
            </a:r>
            <a:r>
              <a:rPr lang="en"/>
              <a:t>Council for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Exceptional Children and Routledge.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Owiny, R. L., &amp; Cornelius, K. E. (2023). </a:t>
            </a:r>
            <a:r>
              <a:rPr i="1" lang="en"/>
              <a:t>The practical guide to high-leverage </a:t>
            </a:r>
            <a:endParaRPr i="1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practices in special education: The Purposeful ‘how’ to increase classroom </a:t>
            </a:r>
            <a:endParaRPr i="1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rigor. </a:t>
            </a:r>
            <a:r>
              <a:rPr lang="en"/>
              <a:t>Routledge.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51" name="Google Shape;251;p41" title="Screenshot 2026-06-03 at 3.13.19 PM.png"/>
          <p:cNvPicPr preferRelativeResize="0"/>
          <p:nvPr/>
        </p:nvPicPr>
        <p:blipFill rotWithShape="1">
          <a:blip r:embed="rId5">
            <a:alphaModFix/>
          </a:blip>
          <a:srcRect b="0" l="11017" r="11017" t="0"/>
          <a:stretch/>
        </p:blipFill>
        <p:spPr>
          <a:xfrm>
            <a:off x="0" y="4289900"/>
            <a:ext cx="9144003" cy="8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