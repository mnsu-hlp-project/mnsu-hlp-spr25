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 uri="GoogleSlidesCustomDataVersion2">
      <go:slidesCustomData xmlns:go="http://customooxmlschemas.google.com/" r:id="rId22" roundtripDataSignature="AMtx7mj09PJQzBjBRVYlhBA/owsMKVBUC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6CD891CA-F92E-42AB-9E33-DF8CC96513A6}">
  <a:tblStyle styleId="{6CD891CA-F92E-42AB-9E33-DF8CC96513A6}" styleName="Table_0">
    <a:wholeTbl>
      <a:tcTxStyle b="off" i="off">
        <a:font>
          <a:latin typeface="Arial"/>
          <a:ea typeface="Arial"/>
          <a:cs typeface="Arial"/>
        </a:font>
        <a:srgbClr val="000000"/>
      </a:tcTxStyle>
      <a:tcStyle>
        <a:tcBdr>
          <a:left>
            <a:ln cap="flat" cmpd="sng" w="9525">
              <a:solidFill>
                <a:srgbClr val="808080"/>
              </a:solidFill>
              <a:prstDash val="solid"/>
              <a:round/>
              <a:headEnd len="sm" w="sm" type="none"/>
              <a:tailEnd len="sm" w="sm" type="none"/>
            </a:ln>
          </a:left>
          <a:right>
            <a:ln cap="flat" cmpd="sng" w="9525">
              <a:solidFill>
                <a:srgbClr val="808080"/>
              </a:solidFill>
              <a:prstDash val="solid"/>
              <a:round/>
              <a:headEnd len="sm" w="sm" type="none"/>
              <a:tailEnd len="sm" w="sm" type="none"/>
            </a:ln>
          </a:right>
          <a:top>
            <a:ln cap="flat" cmpd="sng" w="9525">
              <a:solidFill>
                <a:srgbClr val="808080"/>
              </a:solidFill>
              <a:prstDash val="solid"/>
              <a:round/>
              <a:headEnd len="sm" w="sm" type="none"/>
              <a:tailEnd len="sm" w="sm" type="none"/>
            </a:ln>
          </a:top>
          <a:bottom>
            <a:ln cap="flat" cmpd="sng" w="9525">
              <a:solidFill>
                <a:srgbClr val="808080"/>
              </a:solidFill>
              <a:prstDash val="solid"/>
              <a:round/>
              <a:headEnd len="sm" w="sm" type="none"/>
              <a:tailEnd len="sm" w="sm" type="none"/>
            </a:ln>
          </a:bottom>
          <a:insideH>
            <a:ln cap="flat" cmpd="sng" w="9525">
              <a:solidFill>
                <a:srgbClr val="808080"/>
              </a:solidFill>
              <a:prstDash val="solid"/>
              <a:round/>
              <a:headEnd len="sm" w="sm" type="none"/>
              <a:tailEnd len="sm" w="sm" type="none"/>
            </a:ln>
          </a:insideH>
          <a:insideV>
            <a:ln cap="flat" cmpd="sng" w="9525">
              <a:solidFill>
                <a:srgbClr val="808080"/>
              </a:solidFill>
              <a:prstDash val="solid"/>
              <a:round/>
              <a:headEnd len="sm" w="sm" type="none"/>
              <a:tailEnd len="sm" w="sm" type="none"/>
            </a:ln>
          </a:insideV>
        </a:tcBdr>
      </a:tc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11" Type="http://schemas.openxmlformats.org/officeDocument/2006/relationships/slide" Target="slides/slide5.xml"/><Relationship Id="rId22" Type="http://customschemas.google.com/relationships/presentationmetadata" Target="metadata"/><Relationship Id="rId10" Type="http://schemas.openxmlformats.org/officeDocument/2006/relationships/slide" Target="slides/slide4.xml"/><Relationship Id="rId21" Type="http://schemas.openxmlformats.org/officeDocument/2006/relationships/slide" Target="slides/slide15.xml"/><Relationship Id="rId13" Type="http://schemas.openxmlformats.org/officeDocument/2006/relationships/slide" Target="slides/slide7.xml"/><Relationship Id="rId12" Type="http://schemas.openxmlformats.org/officeDocument/2006/relationships/slide" Target="slides/slide6.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5" Type="http://schemas.openxmlformats.org/officeDocument/2006/relationships/slideMaster" Target="slideMasters/slideMaster1.xml"/><Relationship Id="rId19" Type="http://schemas.openxmlformats.org/officeDocument/2006/relationships/slide" Target="slides/slide13.xml"/><Relationship Id="rId6" Type="http://schemas.openxmlformats.org/officeDocument/2006/relationships/notesMaster" Target="notesMasters/notesMaster1.xml"/><Relationship Id="rId18" Type="http://schemas.openxmlformats.org/officeDocument/2006/relationships/slide" Target="slides/slide12.xml"/><Relationship Id="rId7" Type="http://schemas.openxmlformats.org/officeDocument/2006/relationships/slide" Target="slides/slide1.xml"/><Relationship Id="rId8"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1: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2" name="Google Shape;52;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 name="Shape 58"/>
        <p:cNvGrpSpPr/>
        <p:nvPr/>
      </p:nvGrpSpPr>
      <p:grpSpPr>
        <a:xfrm>
          <a:off x="0" y="0"/>
          <a:ext cx="0" cy="0"/>
          <a:chOff x="0" y="0"/>
          <a:chExt cx="0" cy="0"/>
        </a:xfrm>
      </p:grpSpPr>
      <p:sp>
        <p:nvSpPr>
          <p:cNvPr id="59" name="Google Shape;59;p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0" name="Google Shape;60;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457200" rtl="0" algn="l">
              <a:lnSpc>
                <a:spcPct val="100000"/>
              </a:lnSpc>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 name="Shape 67"/>
        <p:cNvGrpSpPr/>
        <p:nvPr/>
      </p:nvGrpSpPr>
      <p:grpSpPr>
        <a:xfrm>
          <a:off x="0" y="0"/>
          <a:ext cx="0" cy="0"/>
          <a:chOff x="0" y="0"/>
          <a:chExt cx="0" cy="0"/>
        </a:xfrm>
      </p:grpSpPr>
      <p:sp>
        <p:nvSpPr>
          <p:cNvPr id="68" name="Google Shape;68;p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9" name="Google Shape;69;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 name="Shape 75"/>
        <p:cNvGrpSpPr/>
        <p:nvPr/>
      </p:nvGrpSpPr>
      <p:grpSpPr>
        <a:xfrm>
          <a:off x="0" y="0"/>
          <a:ext cx="0" cy="0"/>
          <a:chOff x="0" y="0"/>
          <a:chExt cx="0" cy="0"/>
        </a:xfrm>
      </p:grpSpPr>
      <p:sp>
        <p:nvSpPr>
          <p:cNvPr id="76" name="Google Shape;76;p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7" name="Google Shape;77;p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 name="Shape 83"/>
        <p:cNvGrpSpPr/>
        <p:nvPr/>
      </p:nvGrpSpPr>
      <p:grpSpPr>
        <a:xfrm>
          <a:off x="0" y="0"/>
          <a:ext cx="0" cy="0"/>
          <a:chOff x="0" y="0"/>
          <a:chExt cx="0" cy="0"/>
        </a:xfrm>
      </p:grpSpPr>
      <p:sp>
        <p:nvSpPr>
          <p:cNvPr id="84" name="Google Shape;84;p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5" name="Google Shape;85;p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 name="Shape 96"/>
        <p:cNvGrpSpPr/>
        <p:nvPr/>
      </p:nvGrpSpPr>
      <p:grpSpPr>
        <a:xfrm>
          <a:off x="0" y="0"/>
          <a:ext cx="0" cy="0"/>
          <a:chOff x="0" y="0"/>
          <a:chExt cx="0" cy="0"/>
        </a:xfrm>
      </p:grpSpPr>
      <p:sp>
        <p:nvSpPr>
          <p:cNvPr id="97" name="Google Shape;97;p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8" name="Google Shape;98;p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 name="Shape 108"/>
        <p:cNvGrpSpPr/>
        <p:nvPr/>
      </p:nvGrpSpPr>
      <p:grpSpPr>
        <a:xfrm>
          <a:off x="0" y="0"/>
          <a:ext cx="0" cy="0"/>
          <a:chOff x="0" y="0"/>
          <a:chExt cx="0" cy="0"/>
        </a:xfrm>
      </p:grpSpPr>
      <p:sp>
        <p:nvSpPr>
          <p:cNvPr id="109" name="Google Shape;109;p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0" name="Google Shape;110;p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 name="Shape 123"/>
        <p:cNvGrpSpPr/>
        <p:nvPr/>
      </p:nvGrpSpPr>
      <p:grpSpPr>
        <a:xfrm>
          <a:off x="0" y="0"/>
          <a:ext cx="0" cy="0"/>
          <a:chOff x="0" y="0"/>
          <a:chExt cx="0" cy="0"/>
        </a:xfrm>
      </p:grpSpPr>
      <p:sp>
        <p:nvSpPr>
          <p:cNvPr id="124" name="Google Shape;124;p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25" name="Google Shape;125;p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457200" rtl="0" algn="l">
              <a:lnSpc>
                <a:spcPct val="100000"/>
              </a:lnSpc>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p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36" name="Google Shape;136;p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 name="Shape 145"/>
        <p:cNvGrpSpPr/>
        <p:nvPr/>
      </p:nvGrpSpPr>
      <p:grpSpPr>
        <a:xfrm>
          <a:off x="0" y="0"/>
          <a:ext cx="0" cy="0"/>
          <a:chOff x="0" y="0"/>
          <a:chExt cx="0" cy="0"/>
        </a:xfrm>
      </p:grpSpPr>
      <p:sp>
        <p:nvSpPr>
          <p:cNvPr id="146" name="Google Shape;146;p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47" name="Google Shape;147;p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 name="Shape 155"/>
        <p:cNvGrpSpPr/>
        <p:nvPr/>
      </p:nvGrpSpPr>
      <p:grpSpPr>
        <a:xfrm>
          <a:off x="0" y="0"/>
          <a:ext cx="0" cy="0"/>
          <a:chOff x="0" y="0"/>
          <a:chExt cx="0" cy="0"/>
        </a:xfrm>
      </p:grpSpPr>
      <p:sp>
        <p:nvSpPr>
          <p:cNvPr id="156" name="Google Shape;156;p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57" name="Google Shape;157;p1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3" name="Shape 163"/>
        <p:cNvGrpSpPr/>
        <p:nvPr/>
      </p:nvGrpSpPr>
      <p:grpSpPr>
        <a:xfrm>
          <a:off x="0" y="0"/>
          <a:ext cx="0" cy="0"/>
          <a:chOff x="0" y="0"/>
          <a:chExt cx="0" cy="0"/>
        </a:xfrm>
      </p:grpSpPr>
      <p:sp>
        <p:nvSpPr>
          <p:cNvPr id="164" name="Google Shape;164;p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65" name="Google Shape;165;p1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5" name="Shape 175"/>
        <p:cNvGrpSpPr/>
        <p:nvPr/>
      </p:nvGrpSpPr>
      <p:grpSpPr>
        <a:xfrm>
          <a:off x="0" y="0"/>
          <a:ext cx="0" cy="0"/>
          <a:chOff x="0" y="0"/>
          <a:chExt cx="0" cy="0"/>
        </a:xfrm>
      </p:grpSpPr>
      <p:sp>
        <p:nvSpPr>
          <p:cNvPr id="176" name="Google Shape;176;p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77" name="Google Shape;177;p1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3" name="Shape 183"/>
        <p:cNvGrpSpPr/>
        <p:nvPr/>
      </p:nvGrpSpPr>
      <p:grpSpPr>
        <a:xfrm>
          <a:off x="0" y="0"/>
          <a:ext cx="0" cy="0"/>
          <a:chOff x="0" y="0"/>
          <a:chExt cx="0" cy="0"/>
        </a:xfrm>
      </p:grpSpPr>
      <p:sp>
        <p:nvSpPr>
          <p:cNvPr id="184" name="Google Shape;184;p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85" name="Google Shape;185;p1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457200" rtl="0" algn="l">
              <a:lnSpc>
                <a:spcPct val="100000"/>
              </a:lnSpc>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2" name="Shape 192"/>
        <p:cNvGrpSpPr/>
        <p:nvPr/>
      </p:nvGrpSpPr>
      <p:grpSpPr>
        <a:xfrm>
          <a:off x="0" y="0"/>
          <a:ext cx="0" cy="0"/>
          <a:chOff x="0" y="0"/>
          <a:chExt cx="0" cy="0"/>
        </a:xfrm>
      </p:grpSpPr>
      <p:sp>
        <p:nvSpPr>
          <p:cNvPr id="193" name="Google Shape;193;p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94" name="Google Shape;194;p1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98450" lvl="0" marL="457200" rtl="0" algn="l">
              <a:lnSpc>
                <a:spcPct val="100000"/>
              </a:lnSpc>
              <a:spcBef>
                <a:spcPts val="0"/>
              </a:spcBef>
              <a:spcAft>
                <a:spcPts val="0"/>
              </a:spcAft>
              <a:buSzPts val="1100"/>
              <a:buChar char="●"/>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17"/>
          <p:cNvSpPr txBox="1"/>
          <p:nvPr>
            <p:ph type="ctrTitle"/>
          </p:nvPr>
        </p:nvSpPr>
        <p:spPr>
          <a:xfrm>
            <a:off x="311708" y="744575"/>
            <a:ext cx="8520600" cy="20526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5200"/>
              <a:buNone/>
              <a:defRPr sz="52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p:txBody>
      </p:sp>
      <p:sp>
        <p:nvSpPr>
          <p:cNvPr id="11" name="Google Shape;11;p17"/>
          <p:cNvSpPr txBox="1"/>
          <p:nvPr>
            <p:ph idx="1" type="subTitle"/>
          </p:nvPr>
        </p:nvSpPr>
        <p:spPr>
          <a:xfrm>
            <a:off x="311700" y="2834125"/>
            <a:ext cx="8520600" cy="7926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1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3" name="Shape 13"/>
        <p:cNvGrpSpPr/>
        <p:nvPr/>
      </p:nvGrpSpPr>
      <p:grpSpPr>
        <a:xfrm>
          <a:off x="0" y="0"/>
          <a:ext cx="0" cy="0"/>
          <a:chOff x="0" y="0"/>
          <a:chExt cx="0" cy="0"/>
        </a:xfrm>
      </p:grpSpPr>
      <p:sp>
        <p:nvSpPr>
          <p:cNvPr id="14" name="Google Shape;14;p18"/>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5" name="Google Shape;15;p18"/>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16" name="Google Shape;16;p1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7" name="Shape 17"/>
        <p:cNvGrpSpPr/>
        <p:nvPr/>
      </p:nvGrpSpPr>
      <p:grpSpPr>
        <a:xfrm>
          <a:off x="0" y="0"/>
          <a:ext cx="0" cy="0"/>
          <a:chOff x="0" y="0"/>
          <a:chExt cx="0" cy="0"/>
        </a:xfrm>
      </p:grpSpPr>
      <p:sp>
        <p:nvSpPr>
          <p:cNvPr id="18" name="Google Shape;18;p19"/>
          <p:cNvSpPr txBox="1"/>
          <p:nvPr>
            <p:ph type="title"/>
          </p:nvPr>
        </p:nvSpPr>
        <p:spPr>
          <a:xfrm>
            <a:off x="311700" y="2150850"/>
            <a:ext cx="8520600" cy="841800"/>
          </a:xfrm>
          <a:prstGeom prst="rect">
            <a:avLst/>
          </a:prstGeom>
          <a:noFill/>
          <a:ln>
            <a:noFill/>
          </a:ln>
        </p:spPr>
        <p:txBody>
          <a:bodyPr anchorCtr="0" anchor="ctr" bIns="91425" lIns="91425" spcFirstLastPara="1" rIns="91425" wrap="square" tIns="91425">
            <a:norm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p:txBody>
      </p:sp>
      <p:sp>
        <p:nvSpPr>
          <p:cNvPr id="19" name="Google Shape;19;p1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20"/>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2" name="Google Shape;22;p20"/>
          <p:cNvSpPr txBox="1"/>
          <p:nvPr>
            <p:ph idx="1" type="body"/>
          </p:nvPr>
        </p:nvSpPr>
        <p:spPr>
          <a:xfrm>
            <a:off x="3117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23" name="Google Shape;23;p20"/>
          <p:cNvSpPr txBox="1"/>
          <p:nvPr>
            <p:ph idx="2" type="body"/>
          </p:nvPr>
        </p:nvSpPr>
        <p:spPr>
          <a:xfrm>
            <a:off x="48324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24" name="Google Shape;24;p2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2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7" name="Google Shape;27;p2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22"/>
          <p:cNvSpPr txBox="1"/>
          <p:nvPr>
            <p:ph type="title"/>
          </p:nvPr>
        </p:nvSpPr>
        <p:spPr>
          <a:xfrm>
            <a:off x="311700" y="555600"/>
            <a:ext cx="2808000" cy="755700"/>
          </a:xfrm>
          <a:prstGeom prst="rect">
            <a:avLst/>
          </a:prstGeom>
          <a:noFill/>
          <a:ln>
            <a:noFill/>
          </a:ln>
        </p:spPr>
        <p:txBody>
          <a:bodyPr anchorCtr="0" anchor="b" bIns="91425" lIns="91425" spcFirstLastPara="1" rIns="91425" wrap="square" tIns="91425">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30" name="Google Shape;30;p22"/>
          <p:cNvSpPr txBox="1"/>
          <p:nvPr>
            <p:ph idx="1" type="body"/>
          </p:nvPr>
        </p:nvSpPr>
        <p:spPr>
          <a:xfrm>
            <a:off x="311700" y="1389600"/>
            <a:ext cx="2808000" cy="3179400"/>
          </a:xfrm>
          <a:prstGeom prst="rect">
            <a:avLst/>
          </a:prstGeom>
          <a:noFill/>
          <a:ln>
            <a:noFill/>
          </a:ln>
        </p:spPr>
        <p:txBody>
          <a:bodyPr anchorCtr="0" anchor="t" bIns="91425" lIns="91425" spcFirstLastPara="1" rIns="91425" wrap="square" tIns="91425">
            <a:normAutofit/>
          </a:bodyPr>
          <a:lstStyle>
            <a:lvl1pPr indent="-304800" lvl="0" marL="457200" algn="l">
              <a:lnSpc>
                <a:spcPct val="115000"/>
              </a:lnSpc>
              <a:spcBef>
                <a:spcPts val="0"/>
              </a:spcBef>
              <a:spcAft>
                <a:spcPts val="0"/>
              </a:spcAft>
              <a:buSzPts val="1200"/>
              <a:buChar char="●"/>
              <a:defRPr sz="12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31" name="Google Shape;31;p2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23"/>
          <p:cNvSpPr txBox="1"/>
          <p:nvPr>
            <p:ph type="title"/>
          </p:nvPr>
        </p:nvSpPr>
        <p:spPr>
          <a:xfrm>
            <a:off x="490250" y="450150"/>
            <a:ext cx="6367800" cy="4090800"/>
          </a:xfrm>
          <a:prstGeom prst="rect">
            <a:avLst/>
          </a:prstGeom>
          <a:noFill/>
          <a:ln>
            <a:noFill/>
          </a:ln>
        </p:spPr>
        <p:txBody>
          <a:bodyPr anchorCtr="0" anchor="ctr" bIns="91425" lIns="91425" spcFirstLastPara="1" rIns="91425" wrap="square" tIns="91425">
            <a:norm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p:txBody>
      </p:sp>
      <p:sp>
        <p:nvSpPr>
          <p:cNvPr id="34" name="Google Shape;34;p2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24"/>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 name="Google Shape;37;p24"/>
          <p:cNvSpPr txBox="1"/>
          <p:nvPr>
            <p:ph type="title"/>
          </p:nvPr>
        </p:nvSpPr>
        <p:spPr>
          <a:xfrm>
            <a:off x="265500" y="1233175"/>
            <a:ext cx="4045200" cy="14823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p:txBody>
      </p:sp>
      <p:sp>
        <p:nvSpPr>
          <p:cNvPr id="38" name="Google Shape;38;p24"/>
          <p:cNvSpPr txBox="1"/>
          <p:nvPr>
            <p:ph idx="1" type="subTitle"/>
          </p:nvPr>
        </p:nvSpPr>
        <p:spPr>
          <a:xfrm>
            <a:off x="265500" y="2803075"/>
            <a:ext cx="4045200" cy="12351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24"/>
          <p:cNvSpPr txBox="1"/>
          <p:nvPr>
            <p:ph idx="2" type="body"/>
          </p:nvPr>
        </p:nvSpPr>
        <p:spPr>
          <a:xfrm>
            <a:off x="4939500" y="724075"/>
            <a:ext cx="3837000" cy="3695100"/>
          </a:xfrm>
          <a:prstGeom prst="rect">
            <a:avLst/>
          </a:prstGeom>
          <a:noFill/>
          <a:ln>
            <a:noFill/>
          </a:ln>
        </p:spPr>
        <p:txBody>
          <a:bodyPr anchorCtr="0" anchor="ctr"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40" name="Google Shape;40;p2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25"/>
          <p:cNvSpPr txBox="1"/>
          <p:nvPr>
            <p:ph idx="1" type="body"/>
          </p:nvPr>
        </p:nvSpPr>
        <p:spPr>
          <a:xfrm>
            <a:off x="311700" y="4230575"/>
            <a:ext cx="5998800" cy="605100"/>
          </a:xfrm>
          <a:prstGeom prst="rect">
            <a:avLst/>
          </a:prstGeom>
          <a:noFill/>
          <a:ln>
            <a:noFill/>
          </a:ln>
        </p:spPr>
        <p:txBody>
          <a:bodyPr anchorCtr="0" anchor="ctr" bIns="91425" lIns="91425" spcFirstLastPara="1" rIns="91425" wrap="square" tIns="91425">
            <a:normAutofit/>
          </a:bodyPr>
          <a:lstStyle>
            <a:lvl1pPr indent="-228600" lvl="0" marL="457200" algn="l">
              <a:lnSpc>
                <a:spcPct val="100000"/>
              </a:lnSpc>
              <a:spcBef>
                <a:spcPts val="0"/>
              </a:spcBef>
              <a:spcAft>
                <a:spcPts val="0"/>
              </a:spcAft>
              <a:buSzPts val="1800"/>
              <a:buNone/>
              <a:defRPr/>
            </a:lvl1pPr>
          </a:lstStyle>
          <a:p/>
        </p:txBody>
      </p:sp>
      <p:sp>
        <p:nvSpPr>
          <p:cNvPr id="43" name="Google Shape;43;p2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26"/>
          <p:cNvSpPr txBox="1"/>
          <p:nvPr>
            <p:ph hasCustomPrompt="1" type="title"/>
          </p:nvPr>
        </p:nvSpPr>
        <p:spPr>
          <a:xfrm>
            <a:off x="311700" y="1106125"/>
            <a:ext cx="8520600" cy="19635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12000"/>
              <a:buNone/>
              <a:defRPr sz="12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46" name="Google Shape;46;p26"/>
          <p:cNvSpPr txBox="1"/>
          <p:nvPr>
            <p:ph idx="1" type="body"/>
          </p:nvPr>
        </p:nvSpPr>
        <p:spPr>
          <a:xfrm>
            <a:off x="311700" y="3152225"/>
            <a:ext cx="8520600" cy="1300800"/>
          </a:xfrm>
          <a:prstGeom prst="rect">
            <a:avLst/>
          </a:prstGeom>
          <a:noFill/>
          <a:ln>
            <a:noFill/>
          </a:ln>
        </p:spPr>
        <p:txBody>
          <a:bodyPr anchorCtr="0" anchor="t" bIns="91425" lIns="91425" spcFirstLastPara="1" rIns="91425" wrap="square" tIns="91425">
            <a:normAutofit/>
          </a:bodyPr>
          <a:lstStyle>
            <a:lvl1pPr indent="-342900" lvl="0" marL="457200" algn="ctr">
              <a:lnSpc>
                <a:spcPct val="115000"/>
              </a:lnSpc>
              <a:spcBef>
                <a:spcPts val="0"/>
              </a:spcBef>
              <a:spcAft>
                <a:spcPts val="0"/>
              </a:spcAft>
              <a:buSzPts val="1800"/>
              <a:buChar char="●"/>
              <a:defRPr/>
            </a:lvl1pPr>
            <a:lvl2pPr indent="-317500" lvl="1" marL="914400" algn="ctr">
              <a:lnSpc>
                <a:spcPct val="115000"/>
              </a:lnSpc>
              <a:spcBef>
                <a:spcPts val="0"/>
              </a:spcBef>
              <a:spcAft>
                <a:spcPts val="0"/>
              </a:spcAft>
              <a:buSzPts val="1400"/>
              <a:buChar char="○"/>
              <a:defRPr/>
            </a:lvl2pPr>
            <a:lvl3pPr indent="-317500" lvl="2" marL="1371600" algn="ctr">
              <a:lnSpc>
                <a:spcPct val="115000"/>
              </a:lnSpc>
              <a:spcBef>
                <a:spcPts val="0"/>
              </a:spcBef>
              <a:spcAft>
                <a:spcPts val="0"/>
              </a:spcAft>
              <a:buSzPts val="1400"/>
              <a:buChar char="■"/>
              <a:defRPr/>
            </a:lvl3pPr>
            <a:lvl4pPr indent="-317500" lvl="3" marL="1828800" algn="ctr">
              <a:lnSpc>
                <a:spcPct val="115000"/>
              </a:lnSpc>
              <a:spcBef>
                <a:spcPts val="0"/>
              </a:spcBef>
              <a:spcAft>
                <a:spcPts val="0"/>
              </a:spcAft>
              <a:buSzPts val="1400"/>
              <a:buChar char="●"/>
              <a:defRPr/>
            </a:lvl4pPr>
            <a:lvl5pPr indent="-317500" lvl="4" marL="2286000" algn="ctr">
              <a:lnSpc>
                <a:spcPct val="115000"/>
              </a:lnSpc>
              <a:spcBef>
                <a:spcPts val="0"/>
              </a:spcBef>
              <a:spcAft>
                <a:spcPts val="0"/>
              </a:spcAft>
              <a:buSzPts val="1400"/>
              <a:buChar char="○"/>
              <a:defRPr/>
            </a:lvl5pPr>
            <a:lvl6pPr indent="-317500" lvl="5" marL="2743200" algn="ctr">
              <a:lnSpc>
                <a:spcPct val="115000"/>
              </a:lnSpc>
              <a:spcBef>
                <a:spcPts val="0"/>
              </a:spcBef>
              <a:spcAft>
                <a:spcPts val="0"/>
              </a:spcAft>
              <a:buSzPts val="1400"/>
              <a:buChar char="■"/>
              <a:defRPr/>
            </a:lvl6pPr>
            <a:lvl7pPr indent="-317500" lvl="6" marL="3200400" algn="ctr">
              <a:lnSpc>
                <a:spcPct val="115000"/>
              </a:lnSpc>
              <a:spcBef>
                <a:spcPts val="0"/>
              </a:spcBef>
              <a:spcAft>
                <a:spcPts val="0"/>
              </a:spcAft>
              <a:buSzPts val="1400"/>
              <a:buChar char="●"/>
              <a:defRPr/>
            </a:lvl7pPr>
            <a:lvl8pPr indent="-317500" lvl="7" marL="3657600" algn="ctr">
              <a:lnSpc>
                <a:spcPct val="115000"/>
              </a:lnSpc>
              <a:spcBef>
                <a:spcPts val="0"/>
              </a:spcBef>
              <a:spcAft>
                <a:spcPts val="0"/>
              </a:spcAft>
              <a:buSzPts val="1400"/>
              <a:buChar char="○"/>
              <a:defRPr/>
            </a:lvl8pPr>
            <a:lvl9pPr indent="-317500" lvl="8" marL="4114800" algn="ctr">
              <a:lnSpc>
                <a:spcPct val="115000"/>
              </a:lnSpc>
              <a:spcBef>
                <a:spcPts val="0"/>
              </a:spcBef>
              <a:spcAft>
                <a:spcPts val="0"/>
              </a:spcAft>
              <a:buSzPts val="1400"/>
              <a:buChar char="■"/>
              <a:defRPr/>
            </a:lvl9pPr>
          </a:lstStyle>
          <a:p/>
        </p:txBody>
      </p:sp>
      <p:sp>
        <p:nvSpPr>
          <p:cNvPr id="47" name="Google Shape;47;p2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2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6"/>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9pPr>
          </a:lstStyle>
          <a:p/>
        </p:txBody>
      </p:sp>
      <p:sp>
        <p:nvSpPr>
          <p:cNvPr id="7" name="Google Shape;7;p16"/>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marR="0" rtl="0" algn="l">
              <a:lnSpc>
                <a:spcPct val="115000"/>
              </a:lnSpc>
              <a:spcBef>
                <a:spcPts val="0"/>
              </a:spcBef>
              <a:spcAft>
                <a:spcPts val="0"/>
              </a:spcAft>
              <a:buClr>
                <a:schemeClr val="dk2"/>
              </a:buClr>
              <a:buSzPts val="1800"/>
              <a:buFont typeface="Arial"/>
              <a:buChar char="●"/>
              <a:defRPr b="0" i="0" sz="1800" u="none" cap="none" strike="noStrike">
                <a:solidFill>
                  <a:schemeClr val="dk2"/>
                </a:solidFill>
                <a:latin typeface="Arial"/>
                <a:ea typeface="Arial"/>
                <a:cs typeface="Arial"/>
                <a:sym typeface="Arial"/>
              </a:defRPr>
            </a:lvl1pPr>
            <a:lvl2pPr indent="-317500" lvl="1" marL="9144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2pPr>
            <a:lvl3pPr indent="-317500" lvl="2" marL="13716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3pPr>
            <a:lvl4pPr indent="-317500" lvl="3" marL="18288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4pPr>
            <a:lvl5pPr indent="-317500" lvl="4" marL="22860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5pPr>
            <a:lvl6pPr indent="-317500" lvl="5" marL="27432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6pPr>
            <a:lvl7pPr indent="-317500" lvl="6" marL="32004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7pPr>
            <a:lvl8pPr indent="-317500" lvl="7" marL="36576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8pPr>
            <a:lvl9pPr indent="-317500" lvl="8" marL="41148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9pPr>
          </a:lstStyle>
          <a:p/>
        </p:txBody>
      </p:sp>
      <p:sp>
        <p:nvSpPr>
          <p:cNvPr id="8" name="Google Shape;8;p1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4.png"/><Relationship Id="rId4" Type="http://schemas.openxmlformats.org/officeDocument/2006/relationships/image" Target="../media/image7.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5.jpg"/><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2.jpg"/><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4.png"/><Relationship Id="rId4" Type="http://schemas.openxmlformats.org/officeDocument/2006/relationships/image" Target="../media/image3.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10.jpg"/><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4.png"/><Relationship Id="rId4" Type="http://schemas.openxmlformats.org/officeDocument/2006/relationships/image" Target="../media/image8.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1.jpg"/><Relationship Id="rId4" Type="http://schemas.openxmlformats.org/officeDocument/2006/relationships/image" Target="../media/image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4.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4.png"/><Relationship Id="rId4" Type="http://schemas.openxmlformats.org/officeDocument/2006/relationships/image" Target="../media/image6.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4.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4.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4.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4.png"/><Relationship Id="rId4" Type="http://schemas.openxmlformats.org/officeDocument/2006/relationships/image" Target="../media/image9.jp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hyperlink" Target="https://iris.peabody.vanderbilt.edu/module/bi2-elem/cresource/q1/p02/"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pic>
        <p:nvPicPr>
          <p:cNvPr id="54" name="Google Shape;54;p1" title="Screenshot 2026-06-03 at 3.13.19 PM.png"/>
          <p:cNvPicPr preferRelativeResize="0"/>
          <p:nvPr/>
        </p:nvPicPr>
        <p:blipFill rotWithShape="1">
          <a:blip r:embed="rId3">
            <a:alphaModFix/>
          </a:blip>
          <a:srcRect b="0" l="11017" r="11017" t="0"/>
          <a:stretch/>
        </p:blipFill>
        <p:spPr>
          <a:xfrm>
            <a:off x="0" y="4289900"/>
            <a:ext cx="9144003" cy="853600"/>
          </a:xfrm>
          <a:prstGeom prst="rect">
            <a:avLst/>
          </a:prstGeom>
          <a:noFill/>
          <a:ln>
            <a:noFill/>
          </a:ln>
        </p:spPr>
      </p:pic>
      <p:sp>
        <p:nvSpPr>
          <p:cNvPr id="55" name="Google Shape;55;p1"/>
          <p:cNvSpPr txBox="1"/>
          <p:nvPr/>
        </p:nvSpPr>
        <p:spPr>
          <a:xfrm>
            <a:off x="177550" y="2921688"/>
            <a:ext cx="8339100" cy="1256100"/>
          </a:xfrm>
          <a:prstGeom prst="rect">
            <a:avLst/>
          </a:prstGeom>
          <a:noFill/>
          <a:ln>
            <a:noFill/>
          </a:ln>
        </p:spPr>
        <p:txBody>
          <a:bodyPr anchorCtr="0" anchor="ctr" bIns="73150" lIns="73150" spcFirstLastPara="1" rIns="73150" wrap="square" tIns="73150">
            <a:spAutoFit/>
          </a:bodyPr>
          <a:lstStyle/>
          <a:p>
            <a:pPr indent="0" lvl="0" marL="0" marR="0" rtl="0" algn="ctr">
              <a:lnSpc>
                <a:spcPct val="100000"/>
              </a:lnSpc>
              <a:spcBef>
                <a:spcPts val="0"/>
              </a:spcBef>
              <a:spcAft>
                <a:spcPts val="0"/>
              </a:spcAft>
              <a:buClr>
                <a:srgbClr val="000000"/>
              </a:buClr>
              <a:buSzPts val="1600"/>
              <a:buFont typeface="Arial"/>
              <a:buNone/>
            </a:pPr>
            <a:r>
              <a:rPr b="0" i="0" lang="en" sz="2400" u="none" cap="none" strike="noStrike">
                <a:solidFill>
                  <a:schemeClr val="dk2"/>
                </a:solidFill>
                <a:latin typeface="Arial"/>
                <a:ea typeface="Arial"/>
                <a:cs typeface="Arial"/>
                <a:sym typeface="Arial"/>
              </a:rPr>
              <a:t>Dr. Ruby L. Owiny</a:t>
            </a:r>
            <a:br>
              <a:rPr b="0" i="0" lang="en" sz="2400" u="none" cap="none" strike="noStrike">
                <a:solidFill>
                  <a:schemeClr val="dk2"/>
                </a:solidFill>
                <a:latin typeface="Arial"/>
                <a:ea typeface="Arial"/>
                <a:cs typeface="Arial"/>
                <a:sym typeface="Arial"/>
              </a:rPr>
            </a:br>
            <a:r>
              <a:rPr b="0" i="0" lang="en" sz="2400" u="none" cap="none" strike="noStrike">
                <a:solidFill>
                  <a:schemeClr val="dk2"/>
                </a:solidFill>
                <a:latin typeface="Arial"/>
                <a:ea typeface="Arial"/>
                <a:cs typeface="Arial"/>
                <a:sym typeface="Arial"/>
              </a:rPr>
              <a:t>Associate Professor of Special Education</a:t>
            </a:r>
            <a:br>
              <a:rPr b="0" i="0" lang="en" sz="2400" u="none" cap="none" strike="noStrike">
                <a:solidFill>
                  <a:schemeClr val="dk2"/>
                </a:solidFill>
                <a:latin typeface="Arial"/>
                <a:ea typeface="Arial"/>
                <a:cs typeface="Arial"/>
                <a:sym typeface="Arial"/>
              </a:rPr>
            </a:br>
            <a:r>
              <a:rPr b="0" i="0" lang="en" sz="2400" u="none" cap="none" strike="noStrike">
                <a:solidFill>
                  <a:schemeClr val="dk2"/>
                </a:solidFill>
                <a:latin typeface="Arial"/>
                <a:ea typeface="Arial"/>
                <a:cs typeface="Arial"/>
                <a:sym typeface="Arial"/>
              </a:rPr>
              <a:t>Minnesota State University, Mankato</a:t>
            </a:r>
            <a:endParaRPr b="0" i="0" sz="2400" u="none" cap="none" strike="noStrike">
              <a:solidFill>
                <a:schemeClr val="dk2"/>
              </a:solidFill>
              <a:latin typeface="Arial"/>
              <a:ea typeface="Arial"/>
              <a:cs typeface="Arial"/>
              <a:sym typeface="Arial"/>
            </a:endParaRPr>
          </a:p>
        </p:txBody>
      </p:sp>
      <p:sp>
        <p:nvSpPr>
          <p:cNvPr id="56" name="Google Shape;56;p1"/>
          <p:cNvSpPr txBox="1"/>
          <p:nvPr/>
        </p:nvSpPr>
        <p:spPr>
          <a:xfrm>
            <a:off x="311708" y="160900"/>
            <a:ext cx="8520600" cy="2052600"/>
          </a:xfrm>
          <a:prstGeom prst="rect">
            <a:avLst/>
          </a:prstGeom>
          <a:noFill/>
          <a:ln>
            <a:noFill/>
          </a:ln>
        </p:spPr>
        <p:txBody>
          <a:bodyPr anchorCtr="0" anchor="b" bIns="91425" lIns="91425" spcFirstLastPara="1" rIns="91425" wrap="square" tIns="91425">
            <a:normAutofit/>
          </a:bodyPr>
          <a:lstStyle/>
          <a:p>
            <a:pPr indent="0" lvl="0" marL="0" rtl="0" algn="ctr">
              <a:spcBef>
                <a:spcPts val="0"/>
              </a:spcBef>
              <a:spcAft>
                <a:spcPts val="0"/>
              </a:spcAft>
              <a:buNone/>
            </a:pPr>
            <a:r>
              <a:rPr lang="en" sz="5200">
                <a:solidFill>
                  <a:srgbClr val="4285F4"/>
                </a:solidFill>
              </a:rPr>
              <a:t>HLP 8/22 Learning Module</a:t>
            </a:r>
            <a:endParaRPr sz="5200">
              <a:solidFill>
                <a:srgbClr val="4285F4"/>
              </a:solidFill>
            </a:endParaRPr>
          </a:p>
        </p:txBody>
      </p:sp>
      <p:sp>
        <p:nvSpPr>
          <p:cNvPr id="57" name="Google Shape;57;p1"/>
          <p:cNvSpPr txBox="1"/>
          <p:nvPr/>
        </p:nvSpPr>
        <p:spPr>
          <a:xfrm>
            <a:off x="0" y="2016975"/>
            <a:ext cx="8922600" cy="792600"/>
          </a:xfrm>
          <a:prstGeom prst="rect">
            <a:avLst/>
          </a:prstGeom>
          <a:noFill/>
          <a:ln>
            <a:noFill/>
          </a:ln>
        </p:spPr>
        <p:txBody>
          <a:bodyPr anchorCtr="0" anchor="t" bIns="91425" lIns="91425" spcFirstLastPara="1" rIns="91425" wrap="square" tIns="91425">
            <a:normAutofit/>
          </a:bodyPr>
          <a:lstStyle/>
          <a:p>
            <a:pPr indent="0" lvl="0" marL="0" rtl="0" algn="ctr">
              <a:lnSpc>
                <a:spcPct val="120000"/>
              </a:lnSpc>
              <a:spcBef>
                <a:spcPts val="0"/>
              </a:spcBef>
              <a:spcAft>
                <a:spcPts val="0"/>
              </a:spcAft>
              <a:buNone/>
            </a:pPr>
            <a:r>
              <a:rPr b="1" lang="en" sz="1600">
                <a:solidFill>
                  <a:srgbClr val="000000"/>
                </a:solidFill>
              </a:rPr>
              <a:t>Provide Positive and Constructive Feedback to Guide Students’ Learning and Behavior</a:t>
            </a:r>
            <a:endParaRPr b="1" sz="1600">
              <a:solidFill>
                <a:srgbClr val="000000"/>
              </a:solidFill>
            </a:endParaRPr>
          </a:p>
          <a:p>
            <a:pPr indent="0" lvl="0" marL="0" rtl="0" algn="ctr">
              <a:spcBef>
                <a:spcPts val="200"/>
              </a:spcBef>
              <a:spcAft>
                <a:spcPts val="0"/>
              </a:spcAft>
              <a:buNone/>
            </a:pPr>
            <a:r>
              <a:t/>
            </a:r>
            <a:endParaRPr b="1" sz="1600">
              <a:solidFill>
                <a:srgbClr val="595959"/>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 name="Shape 61"/>
        <p:cNvGrpSpPr/>
        <p:nvPr/>
      </p:nvGrpSpPr>
      <p:grpSpPr>
        <a:xfrm>
          <a:off x="0" y="0"/>
          <a:ext cx="0" cy="0"/>
          <a:chOff x="0" y="0"/>
          <a:chExt cx="0" cy="0"/>
        </a:xfrm>
      </p:grpSpPr>
      <p:sp>
        <p:nvSpPr>
          <p:cNvPr id="62" name="Google Shape;62;p2"/>
          <p:cNvSpPr txBox="1"/>
          <p:nvPr>
            <p:ph type="title"/>
          </p:nvPr>
        </p:nvSpPr>
        <p:spPr>
          <a:xfrm>
            <a:off x="311700" y="445025"/>
            <a:ext cx="8520600" cy="572700"/>
          </a:xfrm>
          <a:prstGeom prst="rect">
            <a:avLst/>
          </a:prstGeom>
          <a:noFill/>
          <a:ln>
            <a:noFill/>
          </a:ln>
        </p:spPr>
        <p:txBody>
          <a:bodyPr anchorCtr="0" anchor="ctr" bIns="73150" lIns="73150" spcFirstLastPara="1" rIns="73150" wrap="square" tIns="73150">
            <a:normAutofit fontScale="90000"/>
          </a:bodyPr>
          <a:lstStyle/>
          <a:p>
            <a:pPr indent="0" lvl="0" marL="0" rtl="0" algn="ctr">
              <a:lnSpc>
                <a:spcPct val="100000"/>
              </a:lnSpc>
              <a:spcBef>
                <a:spcPts val="0"/>
              </a:spcBef>
              <a:spcAft>
                <a:spcPts val="0"/>
              </a:spcAft>
              <a:buSzPct val="111111"/>
              <a:buNone/>
            </a:pPr>
            <a:r>
              <a:rPr b="1" lang="en" sz="2800">
                <a:solidFill>
                  <a:srgbClr val="FFFFFF"/>
                </a:solidFill>
                <a:latin typeface="Arial"/>
                <a:ea typeface="Arial"/>
                <a:cs typeface="Arial"/>
                <a:sym typeface="Arial"/>
              </a:rPr>
              <a:t>REMINDER</a:t>
            </a:r>
            <a:endParaRPr b="1">
              <a:solidFill>
                <a:schemeClr val="accent1"/>
              </a:solidFill>
            </a:endParaRPr>
          </a:p>
        </p:txBody>
      </p:sp>
      <p:pic>
        <p:nvPicPr>
          <p:cNvPr id="63" name="Google Shape;63;p2" title="Screenshot 2026-06-03 at 3.13.19 PM.png"/>
          <p:cNvPicPr preferRelativeResize="0"/>
          <p:nvPr/>
        </p:nvPicPr>
        <p:blipFill rotWithShape="1">
          <a:blip r:embed="rId3">
            <a:alphaModFix/>
          </a:blip>
          <a:srcRect b="0" l="11017" r="11017" t="0"/>
          <a:stretch/>
        </p:blipFill>
        <p:spPr>
          <a:xfrm>
            <a:off x="0" y="4289900"/>
            <a:ext cx="9144003" cy="853600"/>
          </a:xfrm>
          <a:prstGeom prst="rect">
            <a:avLst/>
          </a:prstGeom>
          <a:noFill/>
          <a:ln>
            <a:noFill/>
          </a:ln>
        </p:spPr>
      </p:pic>
      <p:pic>
        <p:nvPicPr>
          <p:cNvPr id="64" name="Google Shape;64;p2" title="AdobeStock_323603916.jpeg"/>
          <p:cNvPicPr preferRelativeResize="0"/>
          <p:nvPr/>
        </p:nvPicPr>
        <p:blipFill rotWithShape="1">
          <a:blip r:embed="rId4">
            <a:alphaModFix/>
          </a:blip>
          <a:srcRect b="0" l="0" r="0" t="0"/>
          <a:stretch/>
        </p:blipFill>
        <p:spPr>
          <a:xfrm>
            <a:off x="5899225" y="665700"/>
            <a:ext cx="2967378" cy="2967378"/>
          </a:xfrm>
          <a:prstGeom prst="rect">
            <a:avLst/>
          </a:prstGeom>
          <a:noFill/>
          <a:ln>
            <a:noFill/>
          </a:ln>
        </p:spPr>
      </p:pic>
      <p:sp>
        <p:nvSpPr>
          <p:cNvPr id="65" name="Google Shape;65;p2"/>
          <p:cNvSpPr txBox="1"/>
          <p:nvPr/>
        </p:nvSpPr>
        <p:spPr>
          <a:xfrm>
            <a:off x="311700" y="1670725"/>
            <a:ext cx="5707200" cy="14664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1200"/>
              </a:spcAft>
              <a:buNone/>
            </a:pPr>
            <a:r>
              <a:rPr lang="en" sz="2400">
                <a:solidFill>
                  <a:srgbClr val="595959"/>
                </a:solidFill>
              </a:rPr>
              <a:t>Complete the </a:t>
            </a:r>
            <a:r>
              <a:rPr b="1" lang="en" sz="2400">
                <a:solidFill>
                  <a:srgbClr val="595959"/>
                </a:solidFill>
              </a:rPr>
              <a:t>Pre-Assessment </a:t>
            </a:r>
            <a:r>
              <a:rPr lang="en" sz="2400">
                <a:solidFill>
                  <a:srgbClr val="595959"/>
                </a:solidFill>
              </a:rPr>
              <a:t>on Google Forms before starting this video. </a:t>
            </a:r>
            <a:endParaRPr sz="2400">
              <a:solidFill>
                <a:srgbClr val="595959"/>
              </a:solidFill>
            </a:endParaRPr>
          </a:p>
        </p:txBody>
      </p:sp>
      <p:sp>
        <p:nvSpPr>
          <p:cNvPr id="66" name="Google Shape;66;p2"/>
          <p:cNvSpPr txBox="1"/>
          <p:nvPr/>
        </p:nvSpPr>
        <p:spPr>
          <a:xfrm>
            <a:off x="311700" y="445025"/>
            <a:ext cx="8520600" cy="572700"/>
          </a:xfrm>
          <a:prstGeom prst="rect">
            <a:avLst/>
          </a:prstGeom>
          <a:noFill/>
          <a:ln>
            <a:noFill/>
          </a:ln>
        </p:spPr>
        <p:txBody>
          <a:bodyPr anchorCtr="0" anchor="t" bIns="91425" lIns="91425" spcFirstLastPara="1" rIns="91425" wrap="square" tIns="91425">
            <a:normAutofit lnSpcReduction="10000"/>
          </a:bodyPr>
          <a:lstStyle/>
          <a:p>
            <a:pPr indent="0" lvl="0" marL="0" rtl="0" algn="l">
              <a:spcBef>
                <a:spcPts val="0"/>
              </a:spcBef>
              <a:spcAft>
                <a:spcPts val="0"/>
              </a:spcAft>
              <a:buNone/>
            </a:pPr>
            <a:r>
              <a:rPr b="1" lang="en" sz="2800">
                <a:solidFill>
                  <a:srgbClr val="4285F4"/>
                </a:solidFill>
              </a:rPr>
              <a:t>REMINDER</a:t>
            </a:r>
            <a:endParaRPr b="1" sz="2800">
              <a:solidFill>
                <a:srgbClr val="4285F4"/>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 name="Shape 70"/>
        <p:cNvGrpSpPr/>
        <p:nvPr/>
      </p:nvGrpSpPr>
      <p:grpSpPr>
        <a:xfrm>
          <a:off x="0" y="0"/>
          <a:ext cx="0" cy="0"/>
          <a:chOff x="0" y="0"/>
          <a:chExt cx="0" cy="0"/>
        </a:xfrm>
      </p:grpSpPr>
      <p:sp>
        <p:nvSpPr>
          <p:cNvPr id="71" name="Google Shape;71;p3"/>
          <p:cNvSpPr txBox="1"/>
          <p:nvPr>
            <p:ph type="title"/>
          </p:nvPr>
        </p:nvSpPr>
        <p:spPr>
          <a:xfrm>
            <a:off x="311700" y="149575"/>
            <a:ext cx="4029300" cy="572700"/>
          </a:xfrm>
          <a:prstGeom prst="rect">
            <a:avLst/>
          </a:prstGeom>
          <a:noFill/>
          <a:ln>
            <a:noFill/>
          </a:ln>
        </p:spPr>
        <p:txBody>
          <a:bodyPr anchorCtr="0" anchor="t" bIns="73150" lIns="73150" spcFirstLastPara="1" rIns="73150" wrap="square" tIns="73150">
            <a:normAutofit fontScale="90000"/>
          </a:bodyPr>
          <a:lstStyle/>
          <a:p>
            <a:pPr indent="0" lvl="0" marL="0" rtl="0" algn="l">
              <a:spcBef>
                <a:spcPts val="0"/>
              </a:spcBef>
              <a:spcAft>
                <a:spcPts val="0"/>
              </a:spcAft>
              <a:buNone/>
            </a:pPr>
            <a:r>
              <a:rPr b="1" lang="en" sz="3300">
                <a:solidFill>
                  <a:srgbClr val="4285F4"/>
                </a:solidFill>
              </a:rPr>
              <a:t>Module Objectives</a:t>
            </a:r>
            <a:endParaRPr b="1" sz="3300">
              <a:solidFill>
                <a:srgbClr val="4285F4"/>
              </a:solidFill>
            </a:endParaRPr>
          </a:p>
          <a:p>
            <a:pPr indent="0" lvl="0" marL="0" rtl="0" algn="l">
              <a:lnSpc>
                <a:spcPct val="100000"/>
              </a:lnSpc>
              <a:spcBef>
                <a:spcPts val="0"/>
              </a:spcBef>
              <a:spcAft>
                <a:spcPts val="0"/>
              </a:spcAft>
              <a:buSzPct val="124444"/>
              <a:buNone/>
            </a:pPr>
            <a:r>
              <a:t/>
            </a:r>
            <a:endParaRPr b="1" sz="2500">
              <a:solidFill>
                <a:srgbClr val="2A3D4C"/>
              </a:solidFill>
            </a:endParaRPr>
          </a:p>
        </p:txBody>
      </p:sp>
      <p:pic>
        <p:nvPicPr>
          <p:cNvPr id="72" name="Google Shape;72;p3" title="AdobeStock_1909087204.jpeg"/>
          <p:cNvPicPr preferRelativeResize="0"/>
          <p:nvPr/>
        </p:nvPicPr>
        <p:blipFill rotWithShape="1">
          <a:blip r:embed="rId3">
            <a:alphaModFix/>
          </a:blip>
          <a:srcRect b="0" l="0" r="0" t="0"/>
          <a:stretch/>
        </p:blipFill>
        <p:spPr>
          <a:xfrm>
            <a:off x="5966100" y="1429975"/>
            <a:ext cx="3557074" cy="1995626"/>
          </a:xfrm>
          <a:prstGeom prst="rect">
            <a:avLst/>
          </a:prstGeom>
          <a:noFill/>
          <a:ln>
            <a:noFill/>
          </a:ln>
        </p:spPr>
      </p:pic>
      <p:sp>
        <p:nvSpPr>
          <p:cNvPr id="73" name="Google Shape;73;p3"/>
          <p:cNvSpPr txBox="1"/>
          <p:nvPr>
            <p:ph idx="1" type="body"/>
          </p:nvPr>
        </p:nvSpPr>
        <p:spPr>
          <a:xfrm>
            <a:off x="311700" y="722275"/>
            <a:ext cx="6626700" cy="35676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800"/>
              <a:buNone/>
            </a:pPr>
            <a:r>
              <a:rPr lang="en">
                <a:solidFill>
                  <a:srgbClr val="373737"/>
                </a:solidFill>
                <a:latin typeface="Arial"/>
                <a:ea typeface="Arial"/>
                <a:cs typeface="Arial"/>
                <a:sym typeface="Arial"/>
              </a:rPr>
              <a:t>1. Define HLP 8/22 and explain why effective feedback is central to learning and behavior.</a:t>
            </a:r>
            <a:endParaRPr sz="2000"/>
          </a:p>
          <a:p>
            <a:pPr indent="0" lvl="0" marL="0" rtl="0" algn="l">
              <a:lnSpc>
                <a:spcPct val="100000"/>
              </a:lnSpc>
              <a:spcBef>
                <a:spcPts val="800"/>
              </a:spcBef>
              <a:spcAft>
                <a:spcPts val="0"/>
              </a:spcAft>
              <a:buNone/>
            </a:pPr>
            <a:r>
              <a:rPr lang="en">
                <a:solidFill>
                  <a:srgbClr val="373737"/>
                </a:solidFill>
                <a:latin typeface="Arial"/>
                <a:ea typeface="Arial"/>
                <a:cs typeface="Arial"/>
                <a:sym typeface="Arial"/>
              </a:rPr>
              <a:t>2. Distinguish feedback from general praise and reprimands.</a:t>
            </a:r>
            <a:endParaRPr sz="2000"/>
          </a:p>
          <a:p>
            <a:pPr indent="0" lvl="0" marL="0" rtl="0" algn="l">
              <a:lnSpc>
                <a:spcPct val="100000"/>
              </a:lnSpc>
              <a:spcBef>
                <a:spcPts val="800"/>
              </a:spcBef>
              <a:spcAft>
                <a:spcPts val="0"/>
              </a:spcAft>
              <a:buNone/>
            </a:pPr>
            <a:r>
              <a:rPr lang="en">
                <a:solidFill>
                  <a:srgbClr val="373737"/>
                </a:solidFill>
                <a:latin typeface="Arial"/>
                <a:ea typeface="Arial"/>
                <a:cs typeface="Arial"/>
                <a:sym typeface="Arial"/>
              </a:rPr>
              <a:t>3. Apply six implementation components to academic and behavioral examples.</a:t>
            </a:r>
            <a:endParaRPr sz="2000"/>
          </a:p>
          <a:p>
            <a:pPr indent="0" lvl="0" marL="0" rtl="0" algn="l">
              <a:lnSpc>
                <a:spcPct val="100000"/>
              </a:lnSpc>
              <a:spcBef>
                <a:spcPts val="800"/>
              </a:spcBef>
              <a:spcAft>
                <a:spcPts val="0"/>
              </a:spcAft>
              <a:buNone/>
            </a:pPr>
            <a:r>
              <a:rPr lang="en">
                <a:solidFill>
                  <a:srgbClr val="373737"/>
                </a:solidFill>
                <a:latin typeface="Arial"/>
                <a:ea typeface="Arial"/>
                <a:cs typeface="Arial"/>
                <a:sym typeface="Arial"/>
              </a:rPr>
              <a:t>4. Identify evidence-based practices that strengthen feedback.</a:t>
            </a:r>
            <a:endParaRPr sz="2000"/>
          </a:p>
          <a:p>
            <a:pPr indent="0" lvl="0" marL="0" rtl="0" algn="l">
              <a:lnSpc>
                <a:spcPct val="100000"/>
              </a:lnSpc>
              <a:spcBef>
                <a:spcPts val="800"/>
              </a:spcBef>
              <a:spcAft>
                <a:spcPts val="0"/>
              </a:spcAft>
              <a:buNone/>
            </a:pPr>
            <a:r>
              <a:rPr lang="en">
                <a:solidFill>
                  <a:srgbClr val="373737"/>
                </a:solidFill>
                <a:latin typeface="Arial"/>
                <a:ea typeface="Arial"/>
                <a:cs typeface="Arial"/>
                <a:sym typeface="Arial"/>
              </a:rPr>
              <a:t>5. Recognize common implementation challenges and select practical solutions.</a:t>
            </a:r>
            <a:endParaRPr sz="2000"/>
          </a:p>
          <a:p>
            <a:pPr indent="0" lvl="0" marL="0" rtl="0" algn="l">
              <a:lnSpc>
                <a:spcPct val="100000"/>
              </a:lnSpc>
              <a:spcBef>
                <a:spcPts val="800"/>
              </a:spcBef>
              <a:spcAft>
                <a:spcPts val="800"/>
              </a:spcAft>
              <a:buNone/>
            </a:pPr>
            <a:r>
              <a:rPr lang="en">
                <a:solidFill>
                  <a:srgbClr val="373737"/>
                </a:solidFill>
                <a:latin typeface="Arial"/>
                <a:ea typeface="Arial"/>
                <a:cs typeface="Arial"/>
                <a:sym typeface="Arial"/>
              </a:rPr>
              <a:t>6. Use observable indicators to self-assess HLP 8/22 in practice.</a:t>
            </a:r>
            <a:endParaRPr sz="2000"/>
          </a:p>
        </p:txBody>
      </p:sp>
      <p:pic>
        <p:nvPicPr>
          <p:cNvPr id="74" name="Google Shape;74;p3" title="Screenshot 2026-06-03 at 3.13.19 PM.png"/>
          <p:cNvPicPr preferRelativeResize="0"/>
          <p:nvPr/>
        </p:nvPicPr>
        <p:blipFill rotWithShape="1">
          <a:blip r:embed="rId4">
            <a:alphaModFix/>
          </a:blip>
          <a:srcRect b="0" l="11017" r="11017" t="0"/>
          <a:stretch/>
        </p:blipFill>
        <p:spPr>
          <a:xfrm>
            <a:off x="0" y="4289900"/>
            <a:ext cx="9144003" cy="85360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 name="Shape 78"/>
        <p:cNvGrpSpPr/>
        <p:nvPr/>
      </p:nvGrpSpPr>
      <p:grpSpPr>
        <a:xfrm>
          <a:off x="0" y="0"/>
          <a:ext cx="0" cy="0"/>
          <a:chOff x="0" y="0"/>
          <a:chExt cx="0" cy="0"/>
        </a:xfrm>
      </p:grpSpPr>
      <p:sp>
        <p:nvSpPr>
          <p:cNvPr id="79" name="Google Shape;79;p4"/>
          <p:cNvSpPr txBox="1"/>
          <p:nvPr>
            <p:ph type="title"/>
          </p:nvPr>
        </p:nvSpPr>
        <p:spPr>
          <a:xfrm>
            <a:off x="311700" y="141475"/>
            <a:ext cx="8520600" cy="572700"/>
          </a:xfrm>
          <a:prstGeom prst="rect">
            <a:avLst/>
          </a:prstGeom>
          <a:noFill/>
          <a:ln>
            <a:noFill/>
          </a:ln>
        </p:spPr>
        <p:txBody>
          <a:bodyPr anchorCtr="0" anchor="t" bIns="73150" lIns="73150" spcFirstLastPara="1" rIns="73150" wrap="square" tIns="73150">
            <a:noAutofit/>
          </a:bodyPr>
          <a:lstStyle/>
          <a:p>
            <a:pPr indent="0" lvl="0" marL="0" rtl="0" algn="l">
              <a:lnSpc>
                <a:spcPct val="100000"/>
              </a:lnSpc>
              <a:spcBef>
                <a:spcPts val="0"/>
              </a:spcBef>
              <a:spcAft>
                <a:spcPts val="0"/>
              </a:spcAft>
              <a:buSzPts val="3111"/>
              <a:buNone/>
            </a:pPr>
            <a:r>
              <a:rPr b="1" lang="en" sz="3000">
                <a:solidFill>
                  <a:srgbClr val="2A3D4C"/>
                </a:solidFill>
                <a:latin typeface="Arial"/>
                <a:ea typeface="Arial"/>
                <a:cs typeface="Arial"/>
                <a:sym typeface="Arial"/>
              </a:rPr>
              <a:t>HLP 8/22 Defined</a:t>
            </a:r>
            <a:endParaRPr b="1" sz="3000">
              <a:solidFill>
                <a:schemeClr val="accent1"/>
              </a:solidFill>
            </a:endParaRPr>
          </a:p>
        </p:txBody>
      </p:sp>
      <p:pic>
        <p:nvPicPr>
          <p:cNvPr id="80" name="Google Shape;80;p4" title="AdobeStock_448917021.jpeg"/>
          <p:cNvPicPr preferRelativeResize="0"/>
          <p:nvPr/>
        </p:nvPicPr>
        <p:blipFill rotWithShape="1">
          <a:blip r:embed="rId3">
            <a:alphaModFix/>
          </a:blip>
          <a:srcRect b="0" l="0" r="0" t="0"/>
          <a:stretch/>
        </p:blipFill>
        <p:spPr>
          <a:xfrm rot="-265695">
            <a:off x="6886224" y="1678451"/>
            <a:ext cx="2798103" cy="2798103"/>
          </a:xfrm>
          <a:prstGeom prst="rect">
            <a:avLst/>
          </a:prstGeom>
          <a:noFill/>
          <a:ln>
            <a:noFill/>
          </a:ln>
        </p:spPr>
      </p:pic>
      <p:pic>
        <p:nvPicPr>
          <p:cNvPr id="81" name="Google Shape;81;p4" title="Screenshot 2026-06-03 at 3.13.19 PM.png"/>
          <p:cNvPicPr preferRelativeResize="0"/>
          <p:nvPr/>
        </p:nvPicPr>
        <p:blipFill rotWithShape="1">
          <a:blip r:embed="rId4">
            <a:alphaModFix/>
          </a:blip>
          <a:srcRect b="0" l="11017" r="11017" t="0"/>
          <a:stretch/>
        </p:blipFill>
        <p:spPr>
          <a:xfrm>
            <a:off x="0" y="4289900"/>
            <a:ext cx="9144003" cy="853600"/>
          </a:xfrm>
          <a:prstGeom prst="rect">
            <a:avLst/>
          </a:prstGeom>
          <a:noFill/>
          <a:ln>
            <a:noFill/>
          </a:ln>
        </p:spPr>
      </p:pic>
      <p:sp>
        <p:nvSpPr>
          <p:cNvPr id="82" name="Google Shape;82;p4"/>
          <p:cNvSpPr txBox="1"/>
          <p:nvPr>
            <p:ph idx="1" type="body"/>
          </p:nvPr>
        </p:nvSpPr>
        <p:spPr>
          <a:xfrm>
            <a:off x="311700" y="751450"/>
            <a:ext cx="8303100" cy="3665400"/>
          </a:xfrm>
          <a:prstGeom prst="rect">
            <a:avLst/>
          </a:prstGeom>
          <a:noFill/>
          <a:ln>
            <a:noFill/>
          </a:ln>
        </p:spPr>
        <p:txBody>
          <a:bodyPr anchorCtr="0" anchor="t" bIns="73150" lIns="73150" spcFirstLastPara="1" rIns="73150" wrap="square" tIns="73150">
            <a:normAutofit fontScale="92500" lnSpcReduction="20000"/>
          </a:bodyPr>
          <a:lstStyle/>
          <a:p>
            <a:pPr indent="0" lvl="0" marL="0" rtl="0" algn="l">
              <a:lnSpc>
                <a:spcPct val="115000"/>
              </a:lnSpc>
              <a:spcBef>
                <a:spcPts val="0"/>
              </a:spcBef>
              <a:spcAft>
                <a:spcPts val="0"/>
              </a:spcAft>
              <a:buSzPct val="104882"/>
              <a:buNone/>
            </a:pPr>
            <a:r>
              <a:rPr b="0" i="1" lang="en" sz="1716">
                <a:solidFill>
                  <a:srgbClr val="373737"/>
                </a:solidFill>
                <a:latin typeface="Arial"/>
                <a:ea typeface="Arial"/>
                <a:cs typeface="Arial"/>
                <a:sym typeface="Arial"/>
              </a:rPr>
              <a:t>HLP 8/22</a:t>
            </a:r>
            <a:r>
              <a:rPr i="1" lang="en" sz="1716">
                <a:solidFill>
                  <a:srgbClr val="373737"/>
                </a:solidFill>
              </a:rPr>
              <a:t>: E</a:t>
            </a:r>
            <a:r>
              <a:rPr b="0" i="1" lang="en" sz="1716">
                <a:solidFill>
                  <a:srgbClr val="373737"/>
                </a:solidFill>
                <a:latin typeface="Arial"/>
                <a:ea typeface="Arial"/>
                <a:cs typeface="Arial"/>
                <a:sym typeface="Arial"/>
              </a:rPr>
              <a:t>mbedded “How to Teach” </a:t>
            </a:r>
            <a:r>
              <a:rPr i="1" lang="en" sz="1716">
                <a:solidFill>
                  <a:srgbClr val="373737"/>
                </a:solidFill>
              </a:rPr>
              <a:t>P</a:t>
            </a:r>
            <a:r>
              <a:rPr b="0" i="1" lang="en" sz="1716">
                <a:solidFill>
                  <a:srgbClr val="373737"/>
                </a:solidFill>
                <a:latin typeface="Arial"/>
                <a:ea typeface="Arial"/>
                <a:cs typeface="Arial"/>
                <a:sym typeface="Arial"/>
              </a:rPr>
              <a:t>ractice</a:t>
            </a:r>
            <a:r>
              <a:rPr i="1" lang="en" sz="1716">
                <a:solidFill>
                  <a:srgbClr val="373737"/>
                </a:solidFill>
              </a:rPr>
              <a:t> </a:t>
            </a:r>
            <a:endParaRPr i="1" sz="1716">
              <a:solidFill>
                <a:srgbClr val="373737"/>
              </a:solidFill>
            </a:endParaRPr>
          </a:p>
          <a:p>
            <a:pPr indent="0" lvl="0" marL="0" rtl="0" algn="l">
              <a:lnSpc>
                <a:spcPct val="115000"/>
              </a:lnSpc>
              <a:spcBef>
                <a:spcPts val="0"/>
              </a:spcBef>
              <a:spcAft>
                <a:spcPts val="0"/>
              </a:spcAft>
              <a:buSzPct val="112500"/>
              <a:buNone/>
            </a:pPr>
            <a:r>
              <a:rPr lang="en" sz="1600">
                <a:solidFill>
                  <a:srgbClr val="363636"/>
                </a:solidFill>
                <a:highlight>
                  <a:srgbClr val="FFFFFF"/>
                </a:highlight>
              </a:rPr>
              <a:t>The effective provision of feedback is one of the most important instructional practices for teachers. Feedback is used to guide student learning and behavior and increase motivation, engagement, and independence. Effective feedback must be strategically delivered and focused on tasks, processes, or self-regulatory actions. Feedback should be goal directed and is most effective when the learner has a goal, and the feedback informs the learner how to improve performance toward reaching that goal. Feedback may be verbal, nonverbal, or written, and should be timely, contingent, genuine, meaningful, age appropriate, and at rates </a:t>
            </a:r>
            <a:endParaRPr sz="1600">
              <a:solidFill>
                <a:srgbClr val="363636"/>
              </a:solidFill>
              <a:highlight>
                <a:srgbClr val="FFFFFF"/>
              </a:highlight>
            </a:endParaRPr>
          </a:p>
          <a:p>
            <a:pPr indent="0" lvl="0" marL="0" rtl="0" algn="l">
              <a:lnSpc>
                <a:spcPct val="115000"/>
              </a:lnSpc>
              <a:spcBef>
                <a:spcPts val="0"/>
              </a:spcBef>
              <a:spcAft>
                <a:spcPts val="0"/>
              </a:spcAft>
              <a:buSzPct val="112500"/>
              <a:buNone/>
            </a:pPr>
            <a:r>
              <a:rPr lang="en" sz="1600">
                <a:solidFill>
                  <a:srgbClr val="363636"/>
                </a:solidFill>
                <a:highlight>
                  <a:srgbClr val="FFFFFF"/>
                </a:highlight>
              </a:rPr>
              <a:t>commensurate with task and phase of learning (i.e., acquisition, fluency, </a:t>
            </a:r>
            <a:endParaRPr sz="1600">
              <a:solidFill>
                <a:srgbClr val="363636"/>
              </a:solidFill>
              <a:highlight>
                <a:srgbClr val="FFFFFF"/>
              </a:highlight>
            </a:endParaRPr>
          </a:p>
          <a:p>
            <a:pPr indent="0" lvl="0" marL="0" rtl="0" algn="l">
              <a:lnSpc>
                <a:spcPct val="115000"/>
              </a:lnSpc>
              <a:spcBef>
                <a:spcPts val="0"/>
              </a:spcBef>
              <a:spcAft>
                <a:spcPts val="0"/>
              </a:spcAft>
              <a:buSzPct val="112500"/>
              <a:buNone/>
            </a:pPr>
            <a:r>
              <a:rPr lang="en" sz="1600">
                <a:solidFill>
                  <a:srgbClr val="363636"/>
                </a:solidFill>
                <a:highlight>
                  <a:srgbClr val="FFFFFF"/>
                </a:highlight>
              </a:rPr>
              <a:t>maintenance). In equitable and inclusive classrooms, educators take care to </a:t>
            </a:r>
            <a:endParaRPr sz="1600">
              <a:solidFill>
                <a:srgbClr val="363636"/>
              </a:solidFill>
              <a:highlight>
                <a:srgbClr val="FFFFFF"/>
              </a:highlight>
            </a:endParaRPr>
          </a:p>
          <a:p>
            <a:pPr indent="0" lvl="0" marL="0" rtl="0" algn="l">
              <a:lnSpc>
                <a:spcPct val="115000"/>
              </a:lnSpc>
              <a:spcBef>
                <a:spcPts val="0"/>
              </a:spcBef>
              <a:spcAft>
                <a:spcPts val="0"/>
              </a:spcAft>
              <a:buSzPct val="112500"/>
              <a:buNone/>
            </a:pPr>
            <a:r>
              <a:rPr lang="en" sz="1600">
                <a:solidFill>
                  <a:srgbClr val="363636"/>
                </a:solidFill>
                <a:highlight>
                  <a:srgbClr val="FFFFFF"/>
                </a:highlight>
              </a:rPr>
              <a:t>provide meaningful feedback to all students and recognize the potential for </a:t>
            </a:r>
            <a:endParaRPr sz="1600">
              <a:solidFill>
                <a:srgbClr val="363636"/>
              </a:solidFill>
              <a:highlight>
                <a:srgbClr val="FFFFFF"/>
              </a:highlight>
            </a:endParaRPr>
          </a:p>
          <a:p>
            <a:pPr indent="0" lvl="0" marL="0" rtl="0" algn="l">
              <a:lnSpc>
                <a:spcPct val="115000"/>
              </a:lnSpc>
              <a:spcBef>
                <a:spcPts val="0"/>
              </a:spcBef>
              <a:spcAft>
                <a:spcPts val="0"/>
              </a:spcAft>
              <a:buSzPct val="112500"/>
              <a:buNone/>
            </a:pPr>
            <a:r>
              <a:rPr lang="en" sz="1600">
                <a:solidFill>
                  <a:srgbClr val="363636"/>
                </a:solidFill>
                <a:highlight>
                  <a:srgbClr val="FFFFFF"/>
                </a:highlight>
              </a:rPr>
              <a:t>unconscious bias that may prompt lowered expectations or deficit thinking </a:t>
            </a:r>
            <a:endParaRPr sz="1600">
              <a:solidFill>
                <a:srgbClr val="363636"/>
              </a:solidFill>
              <a:highlight>
                <a:srgbClr val="FFFFFF"/>
              </a:highlight>
            </a:endParaRPr>
          </a:p>
          <a:p>
            <a:pPr indent="0" lvl="0" marL="0" rtl="0" algn="l">
              <a:lnSpc>
                <a:spcPct val="115000"/>
              </a:lnSpc>
              <a:spcBef>
                <a:spcPts val="0"/>
              </a:spcBef>
              <a:spcAft>
                <a:spcPts val="0"/>
              </a:spcAft>
              <a:buSzPct val="112500"/>
              <a:buNone/>
            </a:pPr>
            <a:r>
              <a:rPr lang="en" sz="1600">
                <a:solidFill>
                  <a:srgbClr val="363636"/>
                </a:solidFill>
                <a:highlight>
                  <a:srgbClr val="FFFFFF"/>
                </a:highlight>
              </a:rPr>
              <a:t>toward historically marginalized students. Educators must consider age, cultural </a:t>
            </a:r>
            <a:endParaRPr sz="1600">
              <a:solidFill>
                <a:srgbClr val="363636"/>
              </a:solidFill>
              <a:highlight>
                <a:srgbClr val="FFFFFF"/>
              </a:highlight>
            </a:endParaRPr>
          </a:p>
          <a:p>
            <a:pPr indent="0" lvl="0" marL="0" rtl="0" algn="l">
              <a:lnSpc>
                <a:spcPct val="115000"/>
              </a:lnSpc>
              <a:spcBef>
                <a:spcPts val="0"/>
              </a:spcBef>
              <a:spcAft>
                <a:spcPts val="0"/>
              </a:spcAft>
              <a:buSzPct val="112500"/>
              <a:buNone/>
            </a:pPr>
            <a:r>
              <a:rPr lang="en" sz="1600">
                <a:solidFill>
                  <a:srgbClr val="363636"/>
                </a:solidFill>
                <a:highlight>
                  <a:srgbClr val="FFFFFF"/>
                </a:highlight>
              </a:rPr>
              <a:t>background, learning preferences, and classroom dynamics when providing public or private feedback. </a:t>
            </a:r>
            <a:endParaRPr sz="1600">
              <a:solidFill>
                <a:srgbClr val="373737"/>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 name="Shape 86"/>
        <p:cNvGrpSpPr/>
        <p:nvPr/>
      </p:nvGrpSpPr>
      <p:grpSpPr>
        <a:xfrm>
          <a:off x="0" y="0"/>
          <a:ext cx="0" cy="0"/>
          <a:chOff x="0" y="0"/>
          <a:chExt cx="0" cy="0"/>
        </a:xfrm>
      </p:grpSpPr>
      <p:sp>
        <p:nvSpPr>
          <p:cNvPr id="87" name="Google Shape;87;p5"/>
          <p:cNvSpPr txBox="1"/>
          <p:nvPr>
            <p:ph type="title"/>
          </p:nvPr>
        </p:nvSpPr>
        <p:spPr>
          <a:xfrm>
            <a:off x="178550" y="247475"/>
            <a:ext cx="8520600" cy="572700"/>
          </a:xfrm>
          <a:prstGeom prst="rect">
            <a:avLst/>
          </a:prstGeom>
          <a:noFill/>
          <a:ln>
            <a:noFill/>
          </a:ln>
        </p:spPr>
        <p:txBody>
          <a:bodyPr anchorCtr="0" anchor="t" bIns="73150" lIns="73150" spcFirstLastPara="1" rIns="73150" wrap="square" tIns="73150">
            <a:noAutofit/>
          </a:bodyPr>
          <a:lstStyle/>
          <a:p>
            <a:pPr indent="0" lvl="0" marL="0" rtl="0" algn="l">
              <a:lnSpc>
                <a:spcPct val="100000"/>
              </a:lnSpc>
              <a:spcBef>
                <a:spcPts val="0"/>
              </a:spcBef>
              <a:spcAft>
                <a:spcPts val="0"/>
              </a:spcAft>
              <a:buSzPts val="3111"/>
              <a:buNone/>
            </a:pPr>
            <a:r>
              <a:rPr b="1" lang="en" sz="3000">
                <a:solidFill>
                  <a:srgbClr val="2A3D4C"/>
                </a:solidFill>
                <a:latin typeface="Arial"/>
                <a:ea typeface="Arial"/>
                <a:cs typeface="Arial"/>
                <a:sym typeface="Arial"/>
              </a:rPr>
              <a:t>Key Terms &amp; Six Implementation Components</a:t>
            </a:r>
            <a:endParaRPr b="1" sz="3000">
              <a:solidFill>
                <a:schemeClr val="accent1"/>
              </a:solidFill>
            </a:endParaRPr>
          </a:p>
        </p:txBody>
      </p:sp>
      <p:pic>
        <p:nvPicPr>
          <p:cNvPr id="88" name="Google Shape;88;p5" title="Screenshot 2026-06-03 at 3.13.19 PM.png"/>
          <p:cNvPicPr preferRelativeResize="0"/>
          <p:nvPr/>
        </p:nvPicPr>
        <p:blipFill rotWithShape="1">
          <a:blip r:embed="rId3">
            <a:alphaModFix/>
          </a:blip>
          <a:srcRect b="0" l="11017" r="11017" t="0"/>
          <a:stretch/>
        </p:blipFill>
        <p:spPr>
          <a:xfrm>
            <a:off x="0" y="4289900"/>
            <a:ext cx="9144003" cy="853600"/>
          </a:xfrm>
          <a:prstGeom prst="rect">
            <a:avLst/>
          </a:prstGeom>
          <a:noFill/>
          <a:ln>
            <a:noFill/>
          </a:ln>
        </p:spPr>
      </p:pic>
      <p:pic>
        <p:nvPicPr>
          <p:cNvPr id="89" name="Google Shape;89;p5" title="AdobeStock_1904742215.jpeg"/>
          <p:cNvPicPr preferRelativeResize="0"/>
          <p:nvPr/>
        </p:nvPicPr>
        <p:blipFill rotWithShape="1">
          <a:blip r:embed="rId4">
            <a:alphaModFix/>
          </a:blip>
          <a:srcRect b="0" l="0" r="0" t="0"/>
          <a:stretch/>
        </p:blipFill>
        <p:spPr>
          <a:xfrm>
            <a:off x="6006550" y="1558339"/>
            <a:ext cx="2896773" cy="1930711"/>
          </a:xfrm>
          <a:prstGeom prst="rect">
            <a:avLst/>
          </a:prstGeom>
          <a:noFill/>
          <a:ln>
            <a:noFill/>
          </a:ln>
        </p:spPr>
      </p:pic>
      <p:sp>
        <p:nvSpPr>
          <p:cNvPr id="90" name="Google Shape;90;p5"/>
          <p:cNvSpPr/>
          <p:nvPr/>
        </p:nvSpPr>
        <p:spPr>
          <a:xfrm>
            <a:off x="211350" y="1188725"/>
            <a:ext cx="2659800" cy="749700"/>
          </a:xfrm>
          <a:prstGeom prst="roundRect">
            <a:avLst>
              <a:gd fmla="val 16667" name="adj"/>
            </a:avLst>
          </a:prstGeom>
          <a:solidFill>
            <a:srgbClr val="E0F4F1"/>
          </a:solidFill>
          <a:ln>
            <a:noFill/>
          </a:ln>
          <a:effectLst>
            <a:outerShdw blurRad="40000" rotWithShape="0" dir="5400000" dist="23000">
              <a:srgbClr val="000000">
                <a:alpha val="34902"/>
              </a:srgbClr>
            </a:outerShdw>
          </a:effectLst>
        </p:spPr>
        <p:txBody>
          <a:bodyPr anchorCtr="0" anchor="t" bIns="82275" lIns="82275" spcFirstLastPara="1" rIns="82275" wrap="square" tIns="82275">
            <a:noAutofit/>
          </a:bodyPr>
          <a:lstStyle/>
          <a:p>
            <a:pPr indent="0" lvl="0" marL="0" marR="0" rtl="0" algn="l">
              <a:lnSpc>
                <a:spcPct val="100000"/>
              </a:lnSpc>
              <a:spcBef>
                <a:spcPts val="0"/>
              </a:spcBef>
              <a:spcAft>
                <a:spcPts val="0"/>
              </a:spcAft>
              <a:buNone/>
            </a:pPr>
            <a:r>
              <a:rPr b="1" i="0" lang="en" sz="1150" u="none" cap="none" strike="noStrike">
                <a:solidFill>
                  <a:srgbClr val="373737"/>
                </a:solidFill>
              </a:rPr>
              <a:t>1  Goal-directed</a:t>
            </a:r>
            <a:br>
              <a:rPr b="0" i="0" lang="en" sz="1150" u="none" cap="none" strike="noStrike">
                <a:solidFill>
                  <a:srgbClr val="373737"/>
                </a:solidFill>
                <a:latin typeface="Arial"/>
                <a:ea typeface="Arial"/>
                <a:cs typeface="Arial"/>
                <a:sym typeface="Arial"/>
              </a:rPr>
            </a:br>
            <a:r>
              <a:rPr b="0" i="0" lang="en" sz="1150" u="none" cap="none" strike="noStrike">
                <a:solidFill>
                  <a:srgbClr val="373737"/>
                </a:solidFill>
                <a:latin typeface="Arial"/>
                <a:ea typeface="Arial"/>
                <a:cs typeface="Arial"/>
                <a:sym typeface="Arial"/>
              </a:rPr>
              <a:t>Connect feedback to a clear learning or behavior goal.</a:t>
            </a:r>
            <a:endParaRPr/>
          </a:p>
        </p:txBody>
      </p:sp>
      <p:sp>
        <p:nvSpPr>
          <p:cNvPr id="91" name="Google Shape;91;p5"/>
          <p:cNvSpPr/>
          <p:nvPr/>
        </p:nvSpPr>
        <p:spPr>
          <a:xfrm>
            <a:off x="3108950" y="1188725"/>
            <a:ext cx="2659800" cy="749700"/>
          </a:xfrm>
          <a:prstGeom prst="roundRect">
            <a:avLst>
              <a:gd fmla="val 16667" name="adj"/>
            </a:avLst>
          </a:prstGeom>
          <a:solidFill>
            <a:srgbClr val="E7F3FB"/>
          </a:solidFill>
          <a:ln>
            <a:noFill/>
          </a:ln>
          <a:effectLst>
            <a:outerShdw blurRad="40000" rotWithShape="0" dir="5400000" dist="23000">
              <a:srgbClr val="000000">
                <a:alpha val="34902"/>
              </a:srgbClr>
            </a:outerShdw>
          </a:effectLst>
        </p:spPr>
        <p:txBody>
          <a:bodyPr anchorCtr="0" anchor="t" bIns="82275" lIns="82275" spcFirstLastPara="1" rIns="82275" wrap="square" tIns="82275">
            <a:noAutofit/>
          </a:bodyPr>
          <a:lstStyle/>
          <a:p>
            <a:pPr indent="0" lvl="0" marL="0" marR="0" rtl="0" algn="l">
              <a:lnSpc>
                <a:spcPct val="100000"/>
              </a:lnSpc>
              <a:spcBef>
                <a:spcPts val="0"/>
              </a:spcBef>
              <a:spcAft>
                <a:spcPts val="0"/>
              </a:spcAft>
              <a:buNone/>
            </a:pPr>
            <a:r>
              <a:rPr b="1" i="0" lang="en" sz="1150" u="none" cap="none" strike="noStrike">
                <a:solidFill>
                  <a:srgbClr val="373737"/>
                </a:solidFill>
              </a:rPr>
              <a:t>2  Specific &amp; descriptive</a:t>
            </a:r>
            <a:br>
              <a:rPr b="0" i="0" lang="en" sz="1150" u="none" cap="none" strike="noStrike">
                <a:solidFill>
                  <a:srgbClr val="373737"/>
                </a:solidFill>
                <a:latin typeface="Arial"/>
                <a:ea typeface="Arial"/>
                <a:cs typeface="Arial"/>
                <a:sym typeface="Arial"/>
              </a:rPr>
            </a:br>
            <a:r>
              <a:rPr b="0" i="0" lang="en" sz="1150" u="none" cap="none" strike="noStrike">
                <a:solidFill>
                  <a:srgbClr val="373737"/>
                </a:solidFill>
                <a:latin typeface="Arial"/>
                <a:ea typeface="Arial"/>
                <a:cs typeface="Arial"/>
                <a:sym typeface="Arial"/>
              </a:rPr>
              <a:t>Name what the student did and why it matters.</a:t>
            </a:r>
            <a:endParaRPr/>
          </a:p>
        </p:txBody>
      </p:sp>
      <p:sp>
        <p:nvSpPr>
          <p:cNvPr id="92" name="Google Shape;92;p5"/>
          <p:cNvSpPr/>
          <p:nvPr/>
        </p:nvSpPr>
        <p:spPr>
          <a:xfrm>
            <a:off x="211350" y="2148844"/>
            <a:ext cx="2659800" cy="749700"/>
          </a:xfrm>
          <a:prstGeom prst="roundRect">
            <a:avLst>
              <a:gd fmla="val 16667" name="adj"/>
            </a:avLst>
          </a:prstGeom>
          <a:solidFill>
            <a:srgbClr val="FFF7DE"/>
          </a:solidFill>
          <a:ln>
            <a:noFill/>
          </a:ln>
          <a:effectLst>
            <a:outerShdw blurRad="40000" rotWithShape="0" dir="5400000" dist="23000">
              <a:srgbClr val="000000">
                <a:alpha val="34902"/>
              </a:srgbClr>
            </a:outerShdw>
          </a:effectLst>
        </p:spPr>
        <p:txBody>
          <a:bodyPr anchorCtr="0" anchor="t" bIns="82275" lIns="82275" spcFirstLastPara="1" rIns="82275" wrap="square" tIns="82275">
            <a:noAutofit/>
          </a:bodyPr>
          <a:lstStyle/>
          <a:p>
            <a:pPr indent="0" lvl="0" marL="0" marR="0" rtl="0" algn="l">
              <a:lnSpc>
                <a:spcPct val="100000"/>
              </a:lnSpc>
              <a:spcBef>
                <a:spcPts val="0"/>
              </a:spcBef>
              <a:spcAft>
                <a:spcPts val="0"/>
              </a:spcAft>
              <a:buNone/>
            </a:pPr>
            <a:r>
              <a:rPr b="1" i="0" lang="en" sz="1150" u="none" cap="none" strike="noStrike">
                <a:solidFill>
                  <a:srgbClr val="373737"/>
                </a:solidFill>
              </a:rPr>
              <a:t>3  Task, process &amp; self-regulation</a:t>
            </a:r>
            <a:br>
              <a:rPr b="0" i="0" lang="en" sz="1150" u="none" cap="none" strike="noStrike">
                <a:solidFill>
                  <a:srgbClr val="373737"/>
                </a:solidFill>
                <a:latin typeface="Arial"/>
                <a:ea typeface="Arial"/>
                <a:cs typeface="Arial"/>
                <a:sym typeface="Arial"/>
              </a:rPr>
            </a:br>
            <a:r>
              <a:rPr b="0" i="0" lang="en" sz="1150" u="none" cap="none" strike="noStrike">
                <a:solidFill>
                  <a:srgbClr val="373737"/>
                </a:solidFill>
                <a:latin typeface="Arial"/>
                <a:ea typeface="Arial"/>
                <a:cs typeface="Arial"/>
                <a:sym typeface="Arial"/>
              </a:rPr>
              <a:t>Focus on the work, strategy, or learner action—not the person.</a:t>
            </a:r>
            <a:endParaRPr/>
          </a:p>
        </p:txBody>
      </p:sp>
      <p:sp>
        <p:nvSpPr>
          <p:cNvPr id="93" name="Google Shape;93;p5"/>
          <p:cNvSpPr/>
          <p:nvPr/>
        </p:nvSpPr>
        <p:spPr>
          <a:xfrm>
            <a:off x="3108950" y="2148844"/>
            <a:ext cx="2659800" cy="749700"/>
          </a:xfrm>
          <a:prstGeom prst="roundRect">
            <a:avLst>
              <a:gd fmla="val 16667" name="adj"/>
            </a:avLst>
          </a:prstGeom>
          <a:solidFill>
            <a:srgbClr val="FDEBE7"/>
          </a:solidFill>
          <a:ln>
            <a:noFill/>
          </a:ln>
          <a:effectLst>
            <a:outerShdw blurRad="40000" rotWithShape="0" dir="5400000" dist="23000">
              <a:srgbClr val="000000">
                <a:alpha val="34902"/>
              </a:srgbClr>
            </a:outerShdw>
          </a:effectLst>
        </p:spPr>
        <p:txBody>
          <a:bodyPr anchorCtr="0" anchor="t" bIns="82275" lIns="82275" spcFirstLastPara="1" rIns="82275" wrap="square" tIns="82275">
            <a:noAutofit/>
          </a:bodyPr>
          <a:lstStyle/>
          <a:p>
            <a:pPr indent="0" lvl="0" marL="0" marR="0" rtl="0" algn="l">
              <a:lnSpc>
                <a:spcPct val="100000"/>
              </a:lnSpc>
              <a:spcBef>
                <a:spcPts val="0"/>
              </a:spcBef>
              <a:spcAft>
                <a:spcPts val="0"/>
              </a:spcAft>
              <a:buNone/>
            </a:pPr>
            <a:r>
              <a:rPr b="1" i="0" lang="en" sz="1150" u="none" cap="none" strike="noStrike">
                <a:solidFill>
                  <a:srgbClr val="373737"/>
                </a:solidFill>
              </a:rPr>
              <a:t>4  Feedback ≠ praise ≠ reprimand</a:t>
            </a:r>
            <a:br>
              <a:rPr b="0" i="0" lang="en" sz="1150" u="none" cap="none" strike="noStrike">
                <a:solidFill>
                  <a:srgbClr val="373737"/>
                </a:solidFill>
                <a:latin typeface="Arial"/>
                <a:ea typeface="Arial"/>
                <a:cs typeface="Arial"/>
                <a:sym typeface="Arial"/>
              </a:rPr>
            </a:br>
            <a:r>
              <a:rPr b="0" i="0" lang="en" sz="1150" u="none" cap="none" strike="noStrike">
                <a:solidFill>
                  <a:srgbClr val="373737"/>
                </a:solidFill>
                <a:latin typeface="Arial"/>
                <a:ea typeface="Arial"/>
                <a:cs typeface="Arial"/>
                <a:sym typeface="Arial"/>
              </a:rPr>
              <a:t>Provide information the learner can use to act.</a:t>
            </a:r>
            <a:endParaRPr/>
          </a:p>
        </p:txBody>
      </p:sp>
      <p:sp>
        <p:nvSpPr>
          <p:cNvPr id="94" name="Google Shape;94;p5"/>
          <p:cNvSpPr/>
          <p:nvPr/>
        </p:nvSpPr>
        <p:spPr>
          <a:xfrm>
            <a:off x="211352" y="3108951"/>
            <a:ext cx="2660100" cy="905700"/>
          </a:xfrm>
          <a:prstGeom prst="roundRect">
            <a:avLst>
              <a:gd fmla="val 16667" name="adj"/>
            </a:avLst>
          </a:prstGeom>
          <a:solidFill>
            <a:srgbClr val="E0F4F1"/>
          </a:solidFill>
          <a:ln>
            <a:noFill/>
          </a:ln>
          <a:effectLst>
            <a:outerShdw blurRad="40000" rotWithShape="0" dir="5400000" dist="23000">
              <a:srgbClr val="000000">
                <a:alpha val="34902"/>
              </a:srgbClr>
            </a:outerShdw>
          </a:effectLst>
        </p:spPr>
        <p:txBody>
          <a:bodyPr anchorCtr="0" anchor="t" bIns="82275" lIns="82275" spcFirstLastPara="1" rIns="82275" wrap="square" tIns="82275">
            <a:noAutofit/>
          </a:bodyPr>
          <a:lstStyle/>
          <a:p>
            <a:pPr indent="0" lvl="0" marL="0" marR="0" rtl="0" algn="l">
              <a:lnSpc>
                <a:spcPct val="100000"/>
              </a:lnSpc>
              <a:spcBef>
                <a:spcPts val="0"/>
              </a:spcBef>
              <a:spcAft>
                <a:spcPts val="0"/>
              </a:spcAft>
              <a:buNone/>
            </a:pPr>
            <a:r>
              <a:rPr b="1" i="0" lang="en" sz="1150" u="none" cap="none" strike="noStrike">
                <a:solidFill>
                  <a:srgbClr val="373737"/>
                </a:solidFill>
              </a:rPr>
              <a:t>5  Timely, contingent &amp; genuine</a:t>
            </a:r>
            <a:br>
              <a:rPr b="0" i="0" lang="en" sz="1150" u="none" cap="none" strike="noStrike">
                <a:solidFill>
                  <a:srgbClr val="373737"/>
                </a:solidFill>
                <a:latin typeface="Arial"/>
                <a:ea typeface="Arial"/>
                <a:cs typeface="Arial"/>
                <a:sym typeface="Arial"/>
              </a:rPr>
            </a:br>
            <a:r>
              <a:rPr b="0" i="0" lang="en" sz="1150" u="none" cap="none" strike="noStrike">
                <a:solidFill>
                  <a:srgbClr val="373737"/>
                </a:solidFill>
                <a:latin typeface="Arial"/>
                <a:ea typeface="Arial"/>
                <a:cs typeface="Arial"/>
                <a:sym typeface="Arial"/>
              </a:rPr>
              <a:t>Connect feedback to the response and deliver it when it can be used.</a:t>
            </a:r>
            <a:endParaRPr/>
          </a:p>
        </p:txBody>
      </p:sp>
      <p:sp>
        <p:nvSpPr>
          <p:cNvPr id="95" name="Google Shape;95;p5"/>
          <p:cNvSpPr/>
          <p:nvPr/>
        </p:nvSpPr>
        <p:spPr>
          <a:xfrm>
            <a:off x="3108949" y="3108951"/>
            <a:ext cx="2659800" cy="905700"/>
          </a:xfrm>
          <a:prstGeom prst="roundRect">
            <a:avLst>
              <a:gd fmla="val 16667" name="adj"/>
            </a:avLst>
          </a:prstGeom>
          <a:solidFill>
            <a:srgbClr val="E7F3FB"/>
          </a:solidFill>
          <a:ln>
            <a:noFill/>
          </a:ln>
          <a:effectLst>
            <a:outerShdw blurRad="40000" rotWithShape="0" dir="5400000" dist="23000">
              <a:srgbClr val="000000">
                <a:alpha val="34902"/>
              </a:srgbClr>
            </a:outerShdw>
          </a:effectLst>
        </p:spPr>
        <p:txBody>
          <a:bodyPr anchorCtr="0" anchor="t" bIns="82275" lIns="82275" spcFirstLastPara="1" rIns="82275" wrap="square" tIns="82275">
            <a:noAutofit/>
          </a:bodyPr>
          <a:lstStyle/>
          <a:p>
            <a:pPr indent="0" lvl="0" marL="0" marR="0" rtl="0" algn="l">
              <a:lnSpc>
                <a:spcPct val="100000"/>
              </a:lnSpc>
              <a:spcBef>
                <a:spcPts val="0"/>
              </a:spcBef>
              <a:spcAft>
                <a:spcPts val="0"/>
              </a:spcAft>
              <a:buNone/>
            </a:pPr>
            <a:r>
              <a:rPr b="1" i="0" lang="en" sz="1150" u="none" cap="none" strike="noStrike">
                <a:solidFill>
                  <a:srgbClr val="373737"/>
                </a:solidFill>
              </a:rPr>
              <a:t>6  Individualized</a:t>
            </a:r>
            <a:br>
              <a:rPr b="0" i="0" lang="en" sz="1150" u="none" cap="none" strike="noStrike">
                <a:solidFill>
                  <a:srgbClr val="373737"/>
                </a:solidFill>
                <a:latin typeface="Arial"/>
                <a:ea typeface="Arial"/>
                <a:cs typeface="Arial"/>
                <a:sym typeface="Arial"/>
              </a:rPr>
            </a:br>
            <a:r>
              <a:rPr b="0" i="0" lang="en" sz="1150" u="none" cap="none" strike="noStrike">
                <a:solidFill>
                  <a:srgbClr val="373737"/>
                </a:solidFill>
                <a:latin typeface="Arial"/>
                <a:ea typeface="Arial"/>
                <a:cs typeface="Arial"/>
                <a:sym typeface="Arial"/>
              </a:rPr>
              <a:t>Match feedback to learner, task, context, preferences, and phase of learning.</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 name="Shape 99"/>
        <p:cNvGrpSpPr/>
        <p:nvPr/>
      </p:nvGrpSpPr>
      <p:grpSpPr>
        <a:xfrm>
          <a:off x="0" y="0"/>
          <a:ext cx="0" cy="0"/>
          <a:chOff x="0" y="0"/>
          <a:chExt cx="0" cy="0"/>
        </a:xfrm>
      </p:grpSpPr>
      <p:pic>
        <p:nvPicPr>
          <p:cNvPr id="100" name="Google Shape;100;p6" title="AdobeStock_1597142515.jpeg"/>
          <p:cNvPicPr preferRelativeResize="0"/>
          <p:nvPr/>
        </p:nvPicPr>
        <p:blipFill>
          <a:blip r:embed="rId3">
            <a:alphaModFix/>
          </a:blip>
          <a:stretch>
            <a:fillRect/>
          </a:stretch>
        </p:blipFill>
        <p:spPr>
          <a:xfrm rot="760572">
            <a:off x="5303368" y="927138"/>
            <a:ext cx="4502589" cy="3080123"/>
          </a:xfrm>
          <a:prstGeom prst="rect">
            <a:avLst/>
          </a:prstGeom>
          <a:noFill/>
          <a:ln>
            <a:noFill/>
          </a:ln>
        </p:spPr>
      </p:pic>
      <p:sp>
        <p:nvSpPr>
          <p:cNvPr id="101" name="Google Shape;101;p6"/>
          <p:cNvSpPr txBox="1"/>
          <p:nvPr>
            <p:ph type="title"/>
          </p:nvPr>
        </p:nvSpPr>
        <p:spPr>
          <a:xfrm>
            <a:off x="246950" y="261600"/>
            <a:ext cx="8520600" cy="572700"/>
          </a:xfrm>
          <a:prstGeom prst="rect">
            <a:avLst/>
          </a:prstGeom>
          <a:noFill/>
          <a:ln>
            <a:noFill/>
          </a:ln>
        </p:spPr>
        <p:txBody>
          <a:bodyPr anchorCtr="0" anchor="t" bIns="73150" lIns="73150" spcFirstLastPara="1" rIns="73150" wrap="square" tIns="73150">
            <a:noAutofit/>
          </a:bodyPr>
          <a:lstStyle/>
          <a:p>
            <a:pPr indent="0" lvl="0" marL="0" rtl="0" algn="l">
              <a:lnSpc>
                <a:spcPct val="100000"/>
              </a:lnSpc>
              <a:spcBef>
                <a:spcPts val="0"/>
              </a:spcBef>
              <a:spcAft>
                <a:spcPts val="0"/>
              </a:spcAft>
              <a:buSzPts val="3111"/>
              <a:buNone/>
            </a:pPr>
            <a:r>
              <a:rPr b="1" lang="en" sz="3000">
                <a:solidFill>
                  <a:srgbClr val="2A3D4C"/>
                </a:solidFill>
                <a:latin typeface="Arial"/>
                <a:ea typeface="Arial"/>
                <a:cs typeface="Arial"/>
                <a:sym typeface="Arial"/>
              </a:rPr>
              <a:t>Why This Practice Matters</a:t>
            </a:r>
            <a:endParaRPr b="1" sz="3000">
              <a:solidFill>
                <a:schemeClr val="accent1"/>
              </a:solidFill>
            </a:endParaRPr>
          </a:p>
        </p:txBody>
      </p:sp>
      <p:sp>
        <p:nvSpPr>
          <p:cNvPr id="102" name="Google Shape;102;p6"/>
          <p:cNvSpPr txBox="1"/>
          <p:nvPr>
            <p:ph idx="1" type="body"/>
          </p:nvPr>
        </p:nvSpPr>
        <p:spPr>
          <a:xfrm>
            <a:off x="311700" y="1152475"/>
            <a:ext cx="5577000" cy="2858700"/>
          </a:xfrm>
          <a:prstGeom prst="rect">
            <a:avLst/>
          </a:prstGeom>
          <a:noFill/>
          <a:ln>
            <a:noFill/>
          </a:ln>
        </p:spPr>
        <p:txBody>
          <a:bodyPr anchorCtr="0" anchor="t" bIns="91425" lIns="91425" spcFirstLastPara="1" rIns="91425" wrap="square" tIns="91425">
            <a:normAutofit/>
          </a:bodyPr>
          <a:lstStyle/>
          <a:p>
            <a:pPr indent="0" lvl="0" marL="457200" rtl="0" algn="l">
              <a:lnSpc>
                <a:spcPct val="115000"/>
              </a:lnSpc>
              <a:spcBef>
                <a:spcPts val="0"/>
              </a:spcBef>
              <a:spcAft>
                <a:spcPts val="0"/>
              </a:spcAft>
              <a:buSzPts val="1800"/>
              <a:buNone/>
            </a:pPr>
            <a:r>
              <a:t/>
            </a:r>
            <a:endParaRPr b="1"/>
          </a:p>
          <a:p>
            <a:pPr indent="0" lvl="0" marL="0" rtl="0" algn="l">
              <a:lnSpc>
                <a:spcPct val="115000"/>
              </a:lnSpc>
              <a:spcBef>
                <a:spcPts val="1200"/>
              </a:spcBef>
              <a:spcAft>
                <a:spcPts val="1200"/>
              </a:spcAft>
              <a:buSzPts val="1800"/>
              <a:buNone/>
            </a:pPr>
            <a:r>
              <a:t/>
            </a:r>
            <a:endParaRPr b="1"/>
          </a:p>
        </p:txBody>
      </p:sp>
      <p:pic>
        <p:nvPicPr>
          <p:cNvPr id="103" name="Google Shape;103;p6" title="Screenshot 2026-06-03 at 3.13.19 PM.png"/>
          <p:cNvPicPr preferRelativeResize="0"/>
          <p:nvPr/>
        </p:nvPicPr>
        <p:blipFill rotWithShape="1">
          <a:blip r:embed="rId4">
            <a:alphaModFix/>
          </a:blip>
          <a:srcRect b="0" l="11017" r="11017" t="0"/>
          <a:stretch/>
        </p:blipFill>
        <p:spPr>
          <a:xfrm>
            <a:off x="0" y="4289900"/>
            <a:ext cx="9144003" cy="853600"/>
          </a:xfrm>
          <a:prstGeom prst="rect">
            <a:avLst/>
          </a:prstGeom>
          <a:noFill/>
          <a:ln>
            <a:noFill/>
          </a:ln>
        </p:spPr>
      </p:pic>
      <p:sp>
        <p:nvSpPr>
          <p:cNvPr id="104" name="Google Shape;104;p6"/>
          <p:cNvSpPr/>
          <p:nvPr/>
        </p:nvSpPr>
        <p:spPr>
          <a:xfrm>
            <a:off x="246950" y="1188725"/>
            <a:ext cx="2587800" cy="1170300"/>
          </a:xfrm>
          <a:prstGeom prst="roundRect">
            <a:avLst>
              <a:gd fmla="val 16667" name="adj"/>
            </a:avLst>
          </a:prstGeom>
          <a:solidFill>
            <a:srgbClr val="E7F3FB"/>
          </a:solidFill>
          <a:ln>
            <a:noFill/>
          </a:ln>
          <a:effectLst>
            <a:outerShdw blurRad="40000" rotWithShape="0" dir="5400000" dist="23000">
              <a:srgbClr val="000000">
                <a:alpha val="34902"/>
              </a:srgbClr>
            </a:outerShdw>
          </a:effectLst>
        </p:spPr>
        <p:txBody>
          <a:bodyPr anchorCtr="0" anchor="t" bIns="91425" lIns="91425" spcFirstLastPara="1" rIns="91425" wrap="square" tIns="91425">
            <a:noAutofit/>
          </a:bodyPr>
          <a:lstStyle/>
          <a:p>
            <a:pPr indent="0" lvl="0" marL="0" marR="0" rtl="0" algn="l">
              <a:lnSpc>
                <a:spcPct val="100000"/>
              </a:lnSpc>
              <a:spcBef>
                <a:spcPts val="0"/>
              </a:spcBef>
              <a:spcAft>
                <a:spcPts val="0"/>
              </a:spcAft>
              <a:buNone/>
            </a:pPr>
            <a:r>
              <a:rPr b="1" i="0" lang="en" sz="1220" u="none" cap="none" strike="noStrike">
                <a:solidFill>
                  <a:srgbClr val="373737"/>
                </a:solidFill>
              </a:rPr>
              <a:t>For students with disabilities</a:t>
            </a:r>
            <a:br>
              <a:rPr b="0" i="0" lang="en" sz="1220" u="none" cap="none" strike="noStrike">
                <a:solidFill>
                  <a:srgbClr val="373737"/>
                </a:solidFill>
                <a:latin typeface="Arial"/>
                <a:ea typeface="Arial"/>
                <a:cs typeface="Arial"/>
                <a:sym typeface="Arial"/>
              </a:rPr>
            </a:br>
            <a:r>
              <a:rPr b="0" i="0" lang="en" sz="1220" u="none" cap="none" strike="noStrike">
                <a:solidFill>
                  <a:srgbClr val="373737"/>
                </a:solidFill>
                <a:latin typeface="Arial"/>
                <a:ea typeface="Arial"/>
                <a:cs typeface="Arial"/>
                <a:sym typeface="Arial"/>
              </a:rPr>
              <a:t>Clear, timely feedback can make expectations visible and provide information students can use to adjust performance.</a:t>
            </a:r>
            <a:endParaRPr/>
          </a:p>
        </p:txBody>
      </p:sp>
      <p:sp>
        <p:nvSpPr>
          <p:cNvPr id="105" name="Google Shape;105;p6"/>
          <p:cNvSpPr/>
          <p:nvPr/>
        </p:nvSpPr>
        <p:spPr>
          <a:xfrm>
            <a:off x="3108949" y="1188725"/>
            <a:ext cx="2648400" cy="1170300"/>
          </a:xfrm>
          <a:prstGeom prst="roundRect">
            <a:avLst>
              <a:gd fmla="val 16667" name="adj"/>
            </a:avLst>
          </a:prstGeom>
          <a:solidFill>
            <a:srgbClr val="E0F4F1"/>
          </a:solidFill>
          <a:ln>
            <a:noFill/>
          </a:ln>
          <a:effectLst>
            <a:outerShdw blurRad="40000" rotWithShape="0" dir="5400000" dist="23000">
              <a:srgbClr val="000000">
                <a:alpha val="34902"/>
              </a:srgbClr>
            </a:outerShdw>
          </a:effectLst>
        </p:spPr>
        <p:txBody>
          <a:bodyPr anchorCtr="0" anchor="t" bIns="91425" lIns="91425" spcFirstLastPara="1" rIns="91425" wrap="square" tIns="91425">
            <a:noAutofit/>
          </a:bodyPr>
          <a:lstStyle/>
          <a:p>
            <a:pPr indent="0" lvl="0" marL="0" marR="0" rtl="0" algn="l">
              <a:lnSpc>
                <a:spcPct val="100000"/>
              </a:lnSpc>
              <a:spcBef>
                <a:spcPts val="0"/>
              </a:spcBef>
              <a:spcAft>
                <a:spcPts val="0"/>
              </a:spcAft>
              <a:buNone/>
            </a:pPr>
            <a:r>
              <a:rPr b="1" i="0" lang="en" sz="1220" u="none" cap="none" strike="noStrike">
                <a:solidFill>
                  <a:srgbClr val="373737"/>
                </a:solidFill>
              </a:rPr>
              <a:t>For all learners</a:t>
            </a:r>
            <a:br>
              <a:rPr b="0" i="0" lang="en" sz="1220" u="none" cap="none" strike="noStrike">
                <a:solidFill>
                  <a:srgbClr val="373737"/>
                </a:solidFill>
                <a:latin typeface="Arial"/>
                <a:ea typeface="Arial"/>
                <a:cs typeface="Arial"/>
                <a:sym typeface="Arial"/>
              </a:rPr>
            </a:br>
            <a:r>
              <a:rPr b="0" i="0" lang="en" sz="1220" u="none" cap="none" strike="noStrike">
                <a:solidFill>
                  <a:srgbClr val="373737"/>
                </a:solidFill>
                <a:latin typeface="Arial"/>
                <a:ea typeface="Arial"/>
                <a:cs typeface="Arial"/>
                <a:sym typeface="Arial"/>
              </a:rPr>
              <a:t>Feedback supports learning, motivation, engagement, and independence when connected to meaningful goals.</a:t>
            </a:r>
            <a:endParaRPr/>
          </a:p>
        </p:txBody>
      </p:sp>
      <p:sp>
        <p:nvSpPr>
          <p:cNvPr id="106" name="Google Shape;106;p6"/>
          <p:cNvSpPr/>
          <p:nvPr/>
        </p:nvSpPr>
        <p:spPr>
          <a:xfrm>
            <a:off x="246950" y="2606044"/>
            <a:ext cx="2587800" cy="1170300"/>
          </a:xfrm>
          <a:prstGeom prst="roundRect">
            <a:avLst>
              <a:gd fmla="val 16667" name="adj"/>
            </a:avLst>
          </a:prstGeom>
          <a:solidFill>
            <a:srgbClr val="FFF7DE"/>
          </a:solidFill>
          <a:ln>
            <a:noFill/>
          </a:ln>
          <a:effectLst>
            <a:outerShdw blurRad="40000" rotWithShape="0" dir="5400000" dist="23000">
              <a:srgbClr val="000000">
                <a:alpha val="34902"/>
              </a:srgbClr>
            </a:outerShdw>
          </a:effectLst>
        </p:spPr>
        <p:txBody>
          <a:bodyPr anchorCtr="0" anchor="t" bIns="91425" lIns="91425" spcFirstLastPara="1" rIns="91425" wrap="square" tIns="91425">
            <a:noAutofit/>
          </a:bodyPr>
          <a:lstStyle/>
          <a:p>
            <a:pPr indent="0" lvl="0" marL="0" marR="0" rtl="0" algn="l">
              <a:lnSpc>
                <a:spcPct val="100000"/>
              </a:lnSpc>
              <a:spcBef>
                <a:spcPts val="0"/>
              </a:spcBef>
              <a:spcAft>
                <a:spcPts val="0"/>
              </a:spcAft>
              <a:buNone/>
            </a:pPr>
            <a:r>
              <a:rPr b="1" i="0" lang="en" sz="1220" u="none" cap="none" strike="noStrike">
                <a:solidFill>
                  <a:srgbClr val="373737"/>
                </a:solidFill>
              </a:rPr>
              <a:t>For inclusive education</a:t>
            </a:r>
            <a:br>
              <a:rPr b="0" i="0" lang="en" sz="1220" u="none" cap="none" strike="noStrike">
                <a:solidFill>
                  <a:srgbClr val="373737"/>
                </a:solidFill>
                <a:latin typeface="Arial"/>
                <a:ea typeface="Arial"/>
                <a:cs typeface="Arial"/>
                <a:sym typeface="Arial"/>
              </a:rPr>
            </a:br>
            <a:r>
              <a:rPr b="0" i="0" lang="en" sz="1220" u="none" cap="none" strike="noStrike">
                <a:solidFill>
                  <a:srgbClr val="373737"/>
                </a:solidFill>
                <a:latin typeface="Arial"/>
                <a:ea typeface="Arial"/>
                <a:cs typeface="Arial"/>
                <a:sym typeface="Arial"/>
              </a:rPr>
              <a:t>Feedback can be delivered across whole-group, small-group, individual, and technology-supported settings.</a:t>
            </a:r>
            <a:endParaRPr/>
          </a:p>
        </p:txBody>
      </p:sp>
      <p:sp>
        <p:nvSpPr>
          <p:cNvPr id="107" name="Google Shape;107;p6"/>
          <p:cNvSpPr/>
          <p:nvPr/>
        </p:nvSpPr>
        <p:spPr>
          <a:xfrm>
            <a:off x="3108949" y="2606044"/>
            <a:ext cx="2648400" cy="1170300"/>
          </a:xfrm>
          <a:prstGeom prst="roundRect">
            <a:avLst>
              <a:gd fmla="val 16667" name="adj"/>
            </a:avLst>
          </a:prstGeom>
          <a:solidFill>
            <a:srgbClr val="FDEBE7"/>
          </a:solidFill>
          <a:ln>
            <a:noFill/>
          </a:ln>
          <a:effectLst>
            <a:outerShdw blurRad="40000" rotWithShape="0" dir="5400000" dist="23000">
              <a:srgbClr val="000000">
                <a:alpha val="34902"/>
              </a:srgbClr>
            </a:outerShdw>
          </a:effectLst>
        </p:spPr>
        <p:txBody>
          <a:bodyPr anchorCtr="0" anchor="t" bIns="91425" lIns="91425" spcFirstLastPara="1" rIns="91425" wrap="square" tIns="91425">
            <a:noAutofit/>
          </a:bodyPr>
          <a:lstStyle/>
          <a:p>
            <a:pPr indent="0" lvl="0" marL="0" marR="0" rtl="0" algn="l">
              <a:lnSpc>
                <a:spcPct val="100000"/>
              </a:lnSpc>
              <a:spcBef>
                <a:spcPts val="0"/>
              </a:spcBef>
              <a:spcAft>
                <a:spcPts val="0"/>
              </a:spcAft>
              <a:buNone/>
            </a:pPr>
            <a:r>
              <a:rPr b="1" i="0" lang="en" sz="1220" u="none" cap="none" strike="noStrike">
                <a:solidFill>
                  <a:srgbClr val="373737"/>
                </a:solidFill>
              </a:rPr>
              <a:t>For outcomes</a:t>
            </a:r>
            <a:br>
              <a:rPr b="0" i="0" lang="en" sz="1220" u="none" cap="none" strike="noStrike">
                <a:solidFill>
                  <a:srgbClr val="373737"/>
                </a:solidFill>
                <a:latin typeface="Arial"/>
                <a:ea typeface="Arial"/>
                <a:cs typeface="Arial"/>
                <a:sym typeface="Arial"/>
              </a:rPr>
            </a:br>
            <a:r>
              <a:rPr b="0" i="0" lang="en" sz="1220" u="none" cap="none" strike="noStrike">
                <a:solidFill>
                  <a:srgbClr val="373737"/>
                </a:solidFill>
                <a:latin typeface="Arial"/>
                <a:ea typeface="Arial"/>
                <a:cs typeface="Arial"/>
                <a:sym typeface="Arial"/>
              </a:rPr>
              <a:t>Academic feedback can improve learning; behavioral feedback can strengthen expected behavior and reduce ambiguity.</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 name="Shape 111"/>
        <p:cNvGrpSpPr/>
        <p:nvPr/>
      </p:nvGrpSpPr>
      <p:grpSpPr>
        <a:xfrm>
          <a:off x="0" y="0"/>
          <a:ext cx="0" cy="0"/>
          <a:chOff x="0" y="0"/>
          <a:chExt cx="0" cy="0"/>
        </a:xfrm>
      </p:grpSpPr>
      <p:sp>
        <p:nvSpPr>
          <p:cNvPr id="112" name="Google Shape;112;p7"/>
          <p:cNvSpPr txBox="1"/>
          <p:nvPr>
            <p:ph type="title"/>
          </p:nvPr>
        </p:nvSpPr>
        <p:spPr>
          <a:xfrm>
            <a:off x="311700" y="127525"/>
            <a:ext cx="8520600" cy="572700"/>
          </a:xfrm>
          <a:prstGeom prst="rect">
            <a:avLst/>
          </a:prstGeom>
          <a:noFill/>
          <a:ln>
            <a:noFill/>
          </a:ln>
        </p:spPr>
        <p:txBody>
          <a:bodyPr anchorCtr="0" anchor="t" bIns="73150" lIns="73150" spcFirstLastPara="1" rIns="73150" wrap="square" tIns="73150">
            <a:noAutofit/>
          </a:bodyPr>
          <a:lstStyle/>
          <a:p>
            <a:pPr indent="0" lvl="0" marL="0" rtl="0" algn="l">
              <a:lnSpc>
                <a:spcPct val="100000"/>
              </a:lnSpc>
              <a:spcBef>
                <a:spcPts val="0"/>
              </a:spcBef>
              <a:spcAft>
                <a:spcPts val="0"/>
              </a:spcAft>
              <a:buSzPts val="3111"/>
              <a:buNone/>
            </a:pPr>
            <a:r>
              <a:rPr b="1" lang="en" sz="3000">
                <a:solidFill>
                  <a:srgbClr val="2A3D4C"/>
                </a:solidFill>
                <a:latin typeface="Arial"/>
                <a:ea typeface="Arial"/>
                <a:cs typeface="Arial"/>
                <a:sym typeface="Arial"/>
              </a:rPr>
              <a:t>How HLP 8/22 Benefits Students</a:t>
            </a:r>
            <a:endParaRPr b="1" sz="3000">
              <a:solidFill>
                <a:schemeClr val="accent1"/>
              </a:solidFill>
            </a:endParaRPr>
          </a:p>
        </p:txBody>
      </p:sp>
      <p:pic>
        <p:nvPicPr>
          <p:cNvPr id="113" name="Google Shape;113;p7" title="Screenshot 2026-06-03 at 3.13.19 PM.png"/>
          <p:cNvPicPr preferRelativeResize="0"/>
          <p:nvPr/>
        </p:nvPicPr>
        <p:blipFill rotWithShape="1">
          <a:blip r:embed="rId3">
            <a:alphaModFix/>
          </a:blip>
          <a:srcRect b="0" l="11017" r="11017" t="0"/>
          <a:stretch/>
        </p:blipFill>
        <p:spPr>
          <a:xfrm>
            <a:off x="0" y="4289900"/>
            <a:ext cx="9144003" cy="853600"/>
          </a:xfrm>
          <a:prstGeom prst="rect">
            <a:avLst/>
          </a:prstGeom>
          <a:noFill/>
          <a:ln>
            <a:noFill/>
          </a:ln>
        </p:spPr>
      </p:pic>
      <p:pic>
        <p:nvPicPr>
          <p:cNvPr id="114" name="Google Shape;114;p7" title="AdobeStock_169074941.jpeg"/>
          <p:cNvPicPr preferRelativeResize="0"/>
          <p:nvPr/>
        </p:nvPicPr>
        <p:blipFill rotWithShape="1">
          <a:blip r:embed="rId4">
            <a:alphaModFix/>
          </a:blip>
          <a:srcRect b="0" l="0" r="0" t="0"/>
          <a:stretch/>
        </p:blipFill>
        <p:spPr>
          <a:xfrm>
            <a:off x="5058875" y="1114775"/>
            <a:ext cx="3821389" cy="2550699"/>
          </a:xfrm>
          <a:prstGeom prst="rect">
            <a:avLst/>
          </a:prstGeom>
          <a:noFill/>
          <a:ln>
            <a:noFill/>
          </a:ln>
        </p:spPr>
      </p:pic>
      <p:sp>
        <p:nvSpPr>
          <p:cNvPr id="115" name="Google Shape;115;p7"/>
          <p:cNvSpPr/>
          <p:nvPr/>
        </p:nvSpPr>
        <p:spPr>
          <a:xfrm>
            <a:off x="411475" y="976754"/>
            <a:ext cx="1234500" cy="476400"/>
          </a:xfrm>
          <a:prstGeom prst="roundRect">
            <a:avLst>
              <a:gd fmla="val 16667" name="adj"/>
            </a:avLst>
          </a:prstGeom>
          <a:solidFill>
            <a:srgbClr val="489AD8"/>
          </a:solidFill>
          <a:ln>
            <a:noFill/>
          </a:ln>
          <a:effectLst>
            <a:outerShdw blurRad="40000" rotWithShape="0" dir="5400000" dist="23000">
              <a:srgbClr val="000000">
                <a:alpha val="34902"/>
              </a:srgbClr>
            </a:outerShdw>
          </a:effectLst>
        </p:spPr>
        <p:txBody>
          <a:bodyPr anchorCtr="0" anchor="ctr" bIns="27425" lIns="27425" spcFirstLastPara="1" rIns="27425" wrap="square" tIns="27425">
            <a:noAutofit/>
          </a:bodyPr>
          <a:lstStyle/>
          <a:p>
            <a:pPr indent="0" lvl="0" marL="0" marR="0" rtl="0" algn="ctr">
              <a:lnSpc>
                <a:spcPct val="100000"/>
              </a:lnSpc>
              <a:spcBef>
                <a:spcPts val="0"/>
              </a:spcBef>
              <a:spcAft>
                <a:spcPts val="0"/>
              </a:spcAft>
              <a:buNone/>
            </a:pPr>
            <a:r>
              <a:rPr b="1" i="0" lang="en" sz="1050" u="none" cap="none" strike="noStrike">
                <a:solidFill>
                  <a:srgbClr val="FFFFFF"/>
                </a:solidFill>
                <a:latin typeface="Arial"/>
                <a:ea typeface="Arial"/>
                <a:cs typeface="Arial"/>
                <a:sym typeface="Arial"/>
              </a:rPr>
              <a:t>ACADEMIC</a:t>
            </a:r>
            <a:endParaRPr/>
          </a:p>
        </p:txBody>
      </p:sp>
      <p:sp>
        <p:nvSpPr>
          <p:cNvPr id="116" name="Google Shape;116;p7"/>
          <p:cNvSpPr/>
          <p:nvPr/>
        </p:nvSpPr>
        <p:spPr>
          <a:xfrm>
            <a:off x="1755642" y="888998"/>
            <a:ext cx="3108900" cy="702000"/>
          </a:xfrm>
          <a:prstGeom prst="roundRect">
            <a:avLst>
              <a:gd fmla="val 16667" name="adj"/>
            </a:avLst>
          </a:prstGeom>
          <a:solidFill>
            <a:srgbClr val="E7F3FB"/>
          </a:solidFill>
          <a:ln>
            <a:noFill/>
          </a:ln>
          <a:effectLst>
            <a:outerShdw blurRad="40000" rotWithShape="0" dir="5400000" dist="23000">
              <a:srgbClr val="000000">
                <a:alpha val="34902"/>
              </a:srgbClr>
            </a:outerShdw>
          </a:effectLst>
        </p:spPr>
        <p:txBody>
          <a:bodyPr anchorCtr="0" anchor="t" bIns="73150" lIns="73150" spcFirstLastPara="1" rIns="73150" wrap="square" tIns="73150">
            <a:noAutofit/>
          </a:bodyPr>
          <a:lstStyle/>
          <a:p>
            <a:pPr indent="0" lvl="0" marL="0" marR="0" rtl="0" algn="l">
              <a:lnSpc>
                <a:spcPct val="100000"/>
              </a:lnSpc>
              <a:spcBef>
                <a:spcPts val="0"/>
              </a:spcBef>
              <a:spcAft>
                <a:spcPts val="0"/>
              </a:spcAft>
              <a:buNone/>
            </a:pPr>
            <a:r>
              <a:rPr b="0" i="0" lang="en" sz="1200" u="none" cap="none" strike="noStrike">
                <a:solidFill>
                  <a:srgbClr val="373737"/>
                </a:solidFill>
                <a:latin typeface="Arial"/>
                <a:ea typeface="Arial"/>
                <a:cs typeface="Arial"/>
                <a:sym typeface="Arial"/>
              </a:rPr>
              <a:t>Clarifies what was learned, identifies errors or strengths, and points toward the next step.</a:t>
            </a:r>
            <a:endParaRPr/>
          </a:p>
        </p:txBody>
      </p:sp>
      <p:sp>
        <p:nvSpPr>
          <p:cNvPr id="117" name="Google Shape;117;p7"/>
          <p:cNvSpPr/>
          <p:nvPr/>
        </p:nvSpPr>
        <p:spPr>
          <a:xfrm>
            <a:off x="411475" y="1772462"/>
            <a:ext cx="1234500" cy="497700"/>
          </a:xfrm>
          <a:prstGeom prst="roundRect">
            <a:avLst>
              <a:gd fmla="val 16667" name="adj"/>
            </a:avLst>
          </a:prstGeom>
          <a:solidFill>
            <a:srgbClr val="EF705B"/>
          </a:solidFill>
          <a:ln>
            <a:noFill/>
          </a:ln>
          <a:effectLst>
            <a:outerShdw blurRad="40000" rotWithShape="0" dir="5400000" dist="23000">
              <a:srgbClr val="000000">
                <a:alpha val="34902"/>
              </a:srgbClr>
            </a:outerShdw>
          </a:effectLst>
        </p:spPr>
        <p:txBody>
          <a:bodyPr anchorCtr="0" anchor="ctr" bIns="27425" lIns="27425" spcFirstLastPara="1" rIns="27425" wrap="square" tIns="27425">
            <a:noAutofit/>
          </a:bodyPr>
          <a:lstStyle/>
          <a:p>
            <a:pPr indent="0" lvl="0" marL="0" marR="0" rtl="0" algn="ctr">
              <a:lnSpc>
                <a:spcPct val="100000"/>
              </a:lnSpc>
              <a:spcBef>
                <a:spcPts val="0"/>
              </a:spcBef>
              <a:spcAft>
                <a:spcPts val="0"/>
              </a:spcAft>
              <a:buNone/>
            </a:pPr>
            <a:r>
              <a:rPr b="1" i="0" lang="en" sz="1050" u="none" cap="none" strike="noStrike">
                <a:solidFill>
                  <a:srgbClr val="FFFFFF"/>
                </a:solidFill>
                <a:latin typeface="Arial"/>
                <a:ea typeface="Arial"/>
                <a:cs typeface="Arial"/>
                <a:sym typeface="Arial"/>
              </a:rPr>
              <a:t>BEHAVIORAL</a:t>
            </a:r>
            <a:endParaRPr/>
          </a:p>
        </p:txBody>
      </p:sp>
      <p:sp>
        <p:nvSpPr>
          <p:cNvPr id="118" name="Google Shape;118;p7"/>
          <p:cNvSpPr/>
          <p:nvPr/>
        </p:nvSpPr>
        <p:spPr>
          <a:xfrm>
            <a:off x="1755647" y="1680788"/>
            <a:ext cx="3108900" cy="733200"/>
          </a:xfrm>
          <a:prstGeom prst="roundRect">
            <a:avLst>
              <a:gd fmla="val 16667" name="adj"/>
            </a:avLst>
          </a:prstGeom>
          <a:solidFill>
            <a:srgbClr val="FDEBE7"/>
          </a:solidFill>
          <a:ln>
            <a:noFill/>
          </a:ln>
          <a:effectLst>
            <a:outerShdw blurRad="40000" rotWithShape="0" dir="5400000" dist="23000">
              <a:srgbClr val="000000">
                <a:alpha val="34902"/>
              </a:srgbClr>
            </a:outerShdw>
          </a:effectLst>
        </p:spPr>
        <p:txBody>
          <a:bodyPr anchorCtr="0" anchor="t" bIns="73150" lIns="73150" spcFirstLastPara="1" rIns="73150" wrap="square" tIns="73150">
            <a:noAutofit/>
          </a:bodyPr>
          <a:lstStyle/>
          <a:p>
            <a:pPr indent="0" lvl="0" marL="0" marR="0" rtl="0" algn="l">
              <a:lnSpc>
                <a:spcPct val="100000"/>
              </a:lnSpc>
              <a:spcBef>
                <a:spcPts val="0"/>
              </a:spcBef>
              <a:spcAft>
                <a:spcPts val="0"/>
              </a:spcAft>
              <a:buNone/>
            </a:pPr>
            <a:r>
              <a:rPr b="0" i="0" lang="en" sz="1200" u="none" cap="none" strike="noStrike">
                <a:solidFill>
                  <a:srgbClr val="373737"/>
                </a:solidFill>
                <a:latin typeface="Arial"/>
                <a:ea typeface="Arial"/>
                <a:cs typeface="Arial"/>
                <a:sym typeface="Arial"/>
              </a:rPr>
              <a:t>Makes expected behavior observable and helps students understand what to repeat or change.</a:t>
            </a:r>
            <a:endParaRPr/>
          </a:p>
        </p:txBody>
      </p:sp>
      <p:sp>
        <p:nvSpPr>
          <p:cNvPr id="119" name="Google Shape;119;p7"/>
          <p:cNvSpPr/>
          <p:nvPr/>
        </p:nvSpPr>
        <p:spPr>
          <a:xfrm>
            <a:off x="411475" y="2577037"/>
            <a:ext cx="1234500" cy="388500"/>
          </a:xfrm>
          <a:prstGeom prst="roundRect">
            <a:avLst>
              <a:gd fmla="val 16667" name="adj"/>
            </a:avLst>
          </a:prstGeom>
          <a:solidFill>
            <a:srgbClr val="54B5AC"/>
          </a:solidFill>
          <a:ln>
            <a:noFill/>
          </a:ln>
          <a:effectLst>
            <a:outerShdw blurRad="40000" rotWithShape="0" dir="5400000" dist="23000">
              <a:srgbClr val="000000">
                <a:alpha val="34902"/>
              </a:srgbClr>
            </a:outerShdw>
          </a:effectLst>
        </p:spPr>
        <p:txBody>
          <a:bodyPr anchorCtr="0" anchor="ctr" bIns="27425" lIns="27425" spcFirstLastPara="1" rIns="27425" wrap="square" tIns="27425">
            <a:noAutofit/>
          </a:bodyPr>
          <a:lstStyle/>
          <a:p>
            <a:pPr indent="0" lvl="0" marL="0" marR="0" rtl="0" algn="ctr">
              <a:lnSpc>
                <a:spcPct val="100000"/>
              </a:lnSpc>
              <a:spcBef>
                <a:spcPts val="0"/>
              </a:spcBef>
              <a:spcAft>
                <a:spcPts val="0"/>
              </a:spcAft>
              <a:buNone/>
            </a:pPr>
            <a:r>
              <a:rPr b="1" i="0" lang="en" sz="1050" u="none" cap="none" strike="noStrike">
                <a:solidFill>
                  <a:srgbClr val="FFFFFF"/>
                </a:solidFill>
                <a:latin typeface="Arial"/>
                <a:ea typeface="Arial"/>
                <a:cs typeface="Arial"/>
                <a:sym typeface="Arial"/>
              </a:rPr>
              <a:t>SOCIAL &amp; EMOTIONAL</a:t>
            </a:r>
            <a:endParaRPr/>
          </a:p>
        </p:txBody>
      </p:sp>
      <p:sp>
        <p:nvSpPr>
          <p:cNvPr id="120" name="Google Shape;120;p7"/>
          <p:cNvSpPr/>
          <p:nvPr/>
        </p:nvSpPr>
        <p:spPr>
          <a:xfrm>
            <a:off x="1755642" y="2505449"/>
            <a:ext cx="3108900" cy="572700"/>
          </a:xfrm>
          <a:prstGeom prst="roundRect">
            <a:avLst>
              <a:gd fmla="val 16667" name="adj"/>
            </a:avLst>
          </a:prstGeom>
          <a:solidFill>
            <a:srgbClr val="E0F4F1"/>
          </a:solidFill>
          <a:ln>
            <a:noFill/>
          </a:ln>
          <a:effectLst>
            <a:outerShdw blurRad="40000" rotWithShape="0" dir="5400000" dist="23000">
              <a:srgbClr val="000000">
                <a:alpha val="34902"/>
              </a:srgbClr>
            </a:outerShdw>
          </a:effectLst>
        </p:spPr>
        <p:txBody>
          <a:bodyPr anchorCtr="0" anchor="t" bIns="73150" lIns="73150" spcFirstLastPara="1" rIns="73150" wrap="square" tIns="73150">
            <a:noAutofit/>
          </a:bodyPr>
          <a:lstStyle/>
          <a:p>
            <a:pPr indent="0" lvl="0" marL="0" marR="0" rtl="0" algn="l">
              <a:lnSpc>
                <a:spcPct val="100000"/>
              </a:lnSpc>
              <a:spcBef>
                <a:spcPts val="0"/>
              </a:spcBef>
              <a:spcAft>
                <a:spcPts val="0"/>
              </a:spcAft>
              <a:buNone/>
            </a:pPr>
            <a:r>
              <a:rPr b="0" i="0" lang="en" sz="1200" u="none" cap="none" strike="noStrike">
                <a:solidFill>
                  <a:srgbClr val="373737"/>
                </a:solidFill>
                <a:latin typeface="Arial"/>
                <a:ea typeface="Arial"/>
                <a:cs typeface="Arial"/>
                <a:sym typeface="Arial"/>
              </a:rPr>
              <a:t>Can strengthen engagement, confidence, self-regulation, and a sense of progress.</a:t>
            </a:r>
            <a:endParaRPr/>
          </a:p>
        </p:txBody>
      </p:sp>
      <p:sp>
        <p:nvSpPr>
          <p:cNvPr id="121" name="Google Shape;121;p7"/>
          <p:cNvSpPr/>
          <p:nvPr/>
        </p:nvSpPr>
        <p:spPr>
          <a:xfrm>
            <a:off x="411475" y="3229639"/>
            <a:ext cx="1234500" cy="388500"/>
          </a:xfrm>
          <a:prstGeom prst="roundRect">
            <a:avLst>
              <a:gd fmla="val 16667" name="adj"/>
            </a:avLst>
          </a:prstGeom>
          <a:solidFill>
            <a:srgbClr val="8B63BE"/>
          </a:solidFill>
          <a:ln>
            <a:noFill/>
          </a:ln>
          <a:effectLst>
            <a:outerShdw blurRad="40000" rotWithShape="0" dir="5400000" dist="23000">
              <a:srgbClr val="000000">
                <a:alpha val="34902"/>
              </a:srgbClr>
            </a:outerShdw>
          </a:effectLst>
        </p:spPr>
        <p:txBody>
          <a:bodyPr anchorCtr="0" anchor="ctr" bIns="27425" lIns="27425" spcFirstLastPara="1" rIns="27425" wrap="square" tIns="27425">
            <a:noAutofit/>
          </a:bodyPr>
          <a:lstStyle/>
          <a:p>
            <a:pPr indent="0" lvl="0" marL="0" marR="0" rtl="0" algn="ctr">
              <a:lnSpc>
                <a:spcPct val="100000"/>
              </a:lnSpc>
              <a:spcBef>
                <a:spcPts val="0"/>
              </a:spcBef>
              <a:spcAft>
                <a:spcPts val="0"/>
              </a:spcAft>
              <a:buNone/>
            </a:pPr>
            <a:r>
              <a:rPr b="1" i="0" lang="en" sz="1050" u="none" cap="none" strike="noStrike">
                <a:solidFill>
                  <a:srgbClr val="FFFFFF"/>
                </a:solidFill>
                <a:latin typeface="Arial"/>
                <a:ea typeface="Arial"/>
                <a:cs typeface="Arial"/>
                <a:sym typeface="Arial"/>
              </a:rPr>
              <a:t>INDEPENDENCE</a:t>
            </a:r>
            <a:endParaRPr/>
          </a:p>
        </p:txBody>
      </p:sp>
      <p:sp>
        <p:nvSpPr>
          <p:cNvPr id="122" name="Google Shape;122;p7"/>
          <p:cNvSpPr/>
          <p:nvPr/>
        </p:nvSpPr>
        <p:spPr>
          <a:xfrm>
            <a:off x="1755642" y="3158050"/>
            <a:ext cx="3108900" cy="572700"/>
          </a:xfrm>
          <a:prstGeom prst="roundRect">
            <a:avLst>
              <a:gd fmla="val 16667" name="adj"/>
            </a:avLst>
          </a:prstGeom>
          <a:solidFill>
            <a:srgbClr val="F2EBF9"/>
          </a:solidFill>
          <a:ln>
            <a:noFill/>
          </a:ln>
          <a:effectLst>
            <a:outerShdw blurRad="40000" rotWithShape="0" dir="5400000" dist="23000">
              <a:srgbClr val="000000">
                <a:alpha val="34902"/>
              </a:srgbClr>
            </a:outerShdw>
          </a:effectLst>
        </p:spPr>
        <p:txBody>
          <a:bodyPr anchorCtr="0" anchor="t" bIns="73150" lIns="73150" spcFirstLastPara="1" rIns="73150" wrap="square" tIns="73150">
            <a:noAutofit/>
          </a:bodyPr>
          <a:lstStyle/>
          <a:p>
            <a:pPr indent="0" lvl="0" marL="0" marR="0" rtl="0" algn="l">
              <a:lnSpc>
                <a:spcPct val="100000"/>
              </a:lnSpc>
              <a:spcBef>
                <a:spcPts val="0"/>
              </a:spcBef>
              <a:spcAft>
                <a:spcPts val="0"/>
              </a:spcAft>
              <a:buNone/>
            </a:pPr>
            <a:r>
              <a:rPr b="0" i="0" lang="en" sz="1200" u="none" cap="none" strike="noStrike">
                <a:solidFill>
                  <a:srgbClr val="373737"/>
                </a:solidFill>
                <a:latin typeface="Arial"/>
                <a:ea typeface="Arial"/>
                <a:cs typeface="Arial"/>
                <a:sym typeface="Arial"/>
              </a:rPr>
              <a:t>Moves students toward monitoring and adjusting their own learning and behavior.</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6" name="Shape 126"/>
        <p:cNvGrpSpPr/>
        <p:nvPr/>
      </p:nvGrpSpPr>
      <p:grpSpPr>
        <a:xfrm>
          <a:off x="0" y="0"/>
          <a:ext cx="0" cy="0"/>
          <a:chOff x="0" y="0"/>
          <a:chExt cx="0" cy="0"/>
        </a:xfrm>
      </p:grpSpPr>
      <p:pic>
        <p:nvPicPr>
          <p:cNvPr id="127" name="Google Shape;127;p8" title="AdobeStock_1854807922.jpeg"/>
          <p:cNvPicPr preferRelativeResize="0"/>
          <p:nvPr/>
        </p:nvPicPr>
        <p:blipFill rotWithShape="1">
          <a:blip r:embed="rId3">
            <a:alphaModFix/>
          </a:blip>
          <a:srcRect b="0" l="0" r="0" t="0"/>
          <a:stretch/>
        </p:blipFill>
        <p:spPr>
          <a:xfrm rot="258763">
            <a:off x="2815785" y="806349"/>
            <a:ext cx="6415303" cy="3595976"/>
          </a:xfrm>
          <a:prstGeom prst="rect">
            <a:avLst/>
          </a:prstGeom>
          <a:noFill/>
          <a:ln>
            <a:noFill/>
          </a:ln>
        </p:spPr>
      </p:pic>
      <p:pic>
        <p:nvPicPr>
          <p:cNvPr id="128" name="Google Shape;128;p8" title="Screenshot 2026-06-03 at 3.13.19 PM.png"/>
          <p:cNvPicPr preferRelativeResize="0"/>
          <p:nvPr/>
        </p:nvPicPr>
        <p:blipFill rotWithShape="1">
          <a:blip r:embed="rId4">
            <a:alphaModFix/>
          </a:blip>
          <a:srcRect b="0" l="11017" r="11017" t="0"/>
          <a:stretch/>
        </p:blipFill>
        <p:spPr>
          <a:xfrm>
            <a:off x="0" y="4289900"/>
            <a:ext cx="9144003" cy="853600"/>
          </a:xfrm>
          <a:prstGeom prst="rect">
            <a:avLst/>
          </a:prstGeom>
          <a:noFill/>
          <a:ln>
            <a:noFill/>
          </a:ln>
        </p:spPr>
      </p:pic>
      <p:sp>
        <p:nvSpPr>
          <p:cNvPr id="129" name="Google Shape;129;p8"/>
          <p:cNvSpPr/>
          <p:nvPr/>
        </p:nvSpPr>
        <p:spPr>
          <a:xfrm>
            <a:off x="384050" y="964775"/>
            <a:ext cx="6297600" cy="631800"/>
          </a:xfrm>
          <a:prstGeom prst="roundRect">
            <a:avLst>
              <a:gd fmla="val 16667" name="adj"/>
            </a:avLst>
          </a:prstGeom>
          <a:solidFill>
            <a:srgbClr val="E0F4F1"/>
          </a:solidFill>
          <a:ln>
            <a:noFill/>
          </a:ln>
          <a:effectLst>
            <a:outerShdw blurRad="40000" rotWithShape="0" dir="5400000" dist="23000">
              <a:srgbClr val="000000">
                <a:alpha val="34902"/>
              </a:srgbClr>
            </a:outerShdw>
          </a:effectLst>
        </p:spPr>
        <p:txBody>
          <a:bodyPr anchorCtr="0" anchor="t" bIns="73150" lIns="73150" spcFirstLastPara="1" rIns="73150" wrap="square" tIns="73150">
            <a:noAutofit/>
          </a:bodyPr>
          <a:lstStyle/>
          <a:p>
            <a:pPr indent="0" lvl="0" marL="0" marR="0" rtl="0" algn="l">
              <a:lnSpc>
                <a:spcPct val="100000"/>
              </a:lnSpc>
              <a:spcBef>
                <a:spcPts val="0"/>
              </a:spcBef>
              <a:spcAft>
                <a:spcPts val="0"/>
              </a:spcAft>
              <a:buNone/>
            </a:pPr>
            <a:r>
              <a:rPr b="1" i="0" lang="en" sz="1600" u="none" cap="none" strike="noStrike">
                <a:solidFill>
                  <a:srgbClr val="373737"/>
                </a:solidFill>
              </a:rPr>
              <a:t>Behavior-</a:t>
            </a:r>
            <a:r>
              <a:rPr b="1" lang="en" sz="1600">
                <a:solidFill>
                  <a:srgbClr val="373737"/>
                </a:solidFill>
              </a:rPr>
              <a:t>S</a:t>
            </a:r>
            <a:r>
              <a:rPr b="1" i="0" lang="en" sz="1600" u="none" cap="none" strike="noStrike">
                <a:solidFill>
                  <a:srgbClr val="373737"/>
                </a:solidFill>
              </a:rPr>
              <a:t>pecific </a:t>
            </a:r>
            <a:r>
              <a:rPr b="1" lang="en" sz="1600">
                <a:solidFill>
                  <a:srgbClr val="373737"/>
                </a:solidFill>
              </a:rPr>
              <a:t>P</a:t>
            </a:r>
            <a:r>
              <a:rPr b="1" i="0" lang="en" sz="1600" u="none" cap="none" strike="noStrike">
                <a:solidFill>
                  <a:srgbClr val="373737"/>
                </a:solidFill>
              </a:rPr>
              <a:t>raise:</a:t>
            </a:r>
            <a:r>
              <a:rPr b="0" i="0" lang="en" sz="1600" u="none" cap="none" strike="noStrike">
                <a:solidFill>
                  <a:srgbClr val="373737"/>
                </a:solidFill>
                <a:latin typeface="Arial"/>
                <a:ea typeface="Arial"/>
                <a:cs typeface="Arial"/>
                <a:sym typeface="Arial"/>
              </a:rPr>
              <a:t> Name the student and describe the observable behavior or performance.</a:t>
            </a:r>
            <a:endParaRPr sz="1600"/>
          </a:p>
        </p:txBody>
      </p:sp>
      <p:sp>
        <p:nvSpPr>
          <p:cNvPr id="130" name="Google Shape;130;p8"/>
          <p:cNvSpPr/>
          <p:nvPr/>
        </p:nvSpPr>
        <p:spPr>
          <a:xfrm>
            <a:off x="384050" y="1786117"/>
            <a:ext cx="6297600" cy="631800"/>
          </a:xfrm>
          <a:prstGeom prst="roundRect">
            <a:avLst>
              <a:gd fmla="val 16667" name="adj"/>
            </a:avLst>
          </a:prstGeom>
          <a:solidFill>
            <a:srgbClr val="E7F3FB"/>
          </a:solidFill>
          <a:ln>
            <a:noFill/>
          </a:ln>
          <a:effectLst>
            <a:outerShdw blurRad="40000" rotWithShape="0" dir="5400000" dist="23000">
              <a:srgbClr val="000000">
                <a:alpha val="34902"/>
              </a:srgbClr>
            </a:outerShdw>
          </a:effectLst>
        </p:spPr>
        <p:txBody>
          <a:bodyPr anchorCtr="0" anchor="t" bIns="73150" lIns="73150" spcFirstLastPara="1" rIns="73150" wrap="square" tIns="73150">
            <a:noAutofit/>
          </a:bodyPr>
          <a:lstStyle/>
          <a:p>
            <a:pPr indent="0" lvl="0" marL="0" marR="0" rtl="0" algn="l">
              <a:lnSpc>
                <a:spcPct val="100000"/>
              </a:lnSpc>
              <a:spcBef>
                <a:spcPts val="0"/>
              </a:spcBef>
              <a:spcAft>
                <a:spcPts val="0"/>
              </a:spcAft>
              <a:buNone/>
            </a:pPr>
            <a:r>
              <a:rPr b="1" i="0" lang="en" sz="1600" u="none" cap="none" strike="noStrike">
                <a:solidFill>
                  <a:srgbClr val="373737"/>
                </a:solidFill>
              </a:rPr>
              <a:t>Corrective </a:t>
            </a:r>
            <a:r>
              <a:rPr b="1" lang="en" sz="1600">
                <a:solidFill>
                  <a:srgbClr val="373737"/>
                </a:solidFill>
              </a:rPr>
              <a:t>F</a:t>
            </a:r>
            <a:r>
              <a:rPr b="1" i="0" lang="en" sz="1600" u="none" cap="none" strike="noStrike">
                <a:solidFill>
                  <a:srgbClr val="373737"/>
                </a:solidFill>
              </a:rPr>
              <a:t>eedback:</a:t>
            </a:r>
            <a:r>
              <a:rPr b="0" i="0" lang="en" sz="1600" u="none" cap="none" strike="noStrike">
                <a:solidFill>
                  <a:srgbClr val="373737"/>
                </a:solidFill>
                <a:latin typeface="Arial"/>
                <a:ea typeface="Arial"/>
                <a:cs typeface="Arial"/>
                <a:sym typeface="Arial"/>
              </a:rPr>
              <a:t> Identify the mismatch, explain what to do differently, and provide another chance to respond.</a:t>
            </a:r>
            <a:endParaRPr sz="1600"/>
          </a:p>
        </p:txBody>
      </p:sp>
      <p:sp>
        <p:nvSpPr>
          <p:cNvPr id="131" name="Google Shape;131;p8"/>
          <p:cNvSpPr/>
          <p:nvPr/>
        </p:nvSpPr>
        <p:spPr>
          <a:xfrm>
            <a:off x="384050" y="2607458"/>
            <a:ext cx="6297600" cy="631800"/>
          </a:xfrm>
          <a:prstGeom prst="roundRect">
            <a:avLst>
              <a:gd fmla="val 16667" name="adj"/>
            </a:avLst>
          </a:prstGeom>
          <a:solidFill>
            <a:srgbClr val="E0F4F1"/>
          </a:solidFill>
          <a:ln>
            <a:noFill/>
          </a:ln>
          <a:effectLst>
            <a:outerShdw blurRad="40000" rotWithShape="0" dir="5400000" dist="23000">
              <a:srgbClr val="000000">
                <a:alpha val="34902"/>
              </a:srgbClr>
            </a:outerShdw>
          </a:effectLst>
        </p:spPr>
        <p:txBody>
          <a:bodyPr anchorCtr="0" anchor="t" bIns="73150" lIns="73150" spcFirstLastPara="1" rIns="73150" wrap="square" tIns="73150">
            <a:noAutofit/>
          </a:bodyPr>
          <a:lstStyle/>
          <a:p>
            <a:pPr indent="0" lvl="0" marL="0" marR="0" rtl="0" algn="l">
              <a:lnSpc>
                <a:spcPct val="100000"/>
              </a:lnSpc>
              <a:spcBef>
                <a:spcPts val="0"/>
              </a:spcBef>
              <a:spcAft>
                <a:spcPts val="0"/>
              </a:spcAft>
              <a:buNone/>
            </a:pPr>
            <a:r>
              <a:rPr b="1" i="0" lang="en" sz="1600" u="none" cap="none" strike="noStrike">
                <a:solidFill>
                  <a:srgbClr val="373737"/>
                </a:solidFill>
              </a:rPr>
              <a:t>Opportunities to </a:t>
            </a:r>
            <a:r>
              <a:rPr b="1" lang="en" sz="1600">
                <a:solidFill>
                  <a:srgbClr val="373737"/>
                </a:solidFill>
              </a:rPr>
              <a:t>R</a:t>
            </a:r>
            <a:r>
              <a:rPr b="1" i="0" lang="en" sz="1600" u="none" cap="none" strike="noStrike">
                <a:solidFill>
                  <a:srgbClr val="373737"/>
                </a:solidFill>
              </a:rPr>
              <a:t>espond: </a:t>
            </a:r>
            <a:r>
              <a:rPr b="0" i="0" lang="en" sz="1600" u="none" cap="none" strike="noStrike">
                <a:solidFill>
                  <a:srgbClr val="373737"/>
                </a:solidFill>
                <a:latin typeface="Arial"/>
                <a:ea typeface="Arial"/>
                <a:cs typeface="Arial"/>
                <a:sym typeface="Arial"/>
              </a:rPr>
              <a:t>Build frequent chances to practice, respond, revise, and use feedback.</a:t>
            </a:r>
            <a:endParaRPr sz="1800"/>
          </a:p>
        </p:txBody>
      </p:sp>
      <p:sp>
        <p:nvSpPr>
          <p:cNvPr id="132" name="Google Shape;132;p8"/>
          <p:cNvSpPr/>
          <p:nvPr/>
        </p:nvSpPr>
        <p:spPr>
          <a:xfrm>
            <a:off x="384050" y="3428800"/>
            <a:ext cx="6297600" cy="631800"/>
          </a:xfrm>
          <a:prstGeom prst="roundRect">
            <a:avLst>
              <a:gd fmla="val 16667" name="adj"/>
            </a:avLst>
          </a:prstGeom>
          <a:solidFill>
            <a:srgbClr val="E7F3FB"/>
          </a:solidFill>
          <a:ln>
            <a:noFill/>
          </a:ln>
          <a:effectLst>
            <a:outerShdw blurRad="40000" rotWithShape="0" dir="5400000" dist="23000">
              <a:srgbClr val="000000">
                <a:alpha val="34902"/>
              </a:srgbClr>
            </a:outerShdw>
          </a:effectLst>
        </p:spPr>
        <p:txBody>
          <a:bodyPr anchorCtr="0" anchor="t" bIns="73150" lIns="73150" spcFirstLastPara="1" rIns="73150" wrap="square" tIns="73150">
            <a:noAutofit/>
          </a:bodyPr>
          <a:lstStyle/>
          <a:p>
            <a:pPr indent="0" lvl="0" marL="0" marR="0" rtl="0" algn="l">
              <a:lnSpc>
                <a:spcPct val="100000"/>
              </a:lnSpc>
              <a:spcBef>
                <a:spcPts val="0"/>
              </a:spcBef>
              <a:spcAft>
                <a:spcPts val="0"/>
              </a:spcAft>
              <a:buNone/>
            </a:pPr>
            <a:r>
              <a:rPr b="1" i="0" lang="en" sz="1600" u="none" cap="none" strike="noStrike">
                <a:solidFill>
                  <a:srgbClr val="373737"/>
                </a:solidFill>
              </a:rPr>
              <a:t>Explicit instruction: </a:t>
            </a:r>
            <a:r>
              <a:rPr b="0" i="0" lang="en" sz="1600" u="none" cap="none" strike="noStrike">
                <a:solidFill>
                  <a:srgbClr val="373737"/>
                </a:solidFill>
                <a:latin typeface="Arial"/>
                <a:ea typeface="Arial"/>
                <a:cs typeface="Arial"/>
                <a:sym typeface="Arial"/>
              </a:rPr>
              <a:t>Model, guide, check, and provide</a:t>
            </a:r>
            <a:r>
              <a:rPr lang="en" sz="1600">
                <a:solidFill>
                  <a:srgbClr val="373737"/>
                </a:solidFill>
              </a:rPr>
              <a:t> </a:t>
            </a:r>
            <a:r>
              <a:rPr b="0" i="0" lang="en" sz="1600" u="none" cap="none" strike="noStrike">
                <a:solidFill>
                  <a:srgbClr val="373737"/>
                </a:solidFill>
                <a:latin typeface="Arial"/>
                <a:ea typeface="Arial"/>
                <a:cs typeface="Arial"/>
                <a:sym typeface="Arial"/>
              </a:rPr>
              <a:t>feedback as students acquire and practice new skills.</a:t>
            </a:r>
            <a:endParaRPr sz="1600"/>
          </a:p>
        </p:txBody>
      </p:sp>
      <p:sp>
        <p:nvSpPr>
          <p:cNvPr id="133" name="Google Shape;133;p8"/>
          <p:cNvSpPr txBox="1"/>
          <p:nvPr>
            <p:ph type="title"/>
          </p:nvPr>
        </p:nvSpPr>
        <p:spPr>
          <a:xfrm>
            <a:off x="92400" y="162800"/>
            <a:ext cx="8959200" cy="572700"/>
          </a:xfrm>
          <a:prstGeom prst="rect">
            <a:avLst/>
          </a:prstGeom>
          <a:noFill/>
          <a:ln>
            <a:noFill/>
          </a:ln>
        </p:spPr>
        <p:txBody>
          <a:bodyPr anchorCtr="0" anchor="t" bIns="73150" lIns="73150" spcFirstLastPara="1" rIns="73150" wrap="square" tIns="73150">
            <a:noAutofit/>
          </a:bodyPr>
          <a:lstStyle/>
          <a:p>
            <a:pPr indent="0" lvl="0" marL="114300" rtl="0" algn="l">
              <a:lnSpc>
                <a:spcPct val="100000"/>
              </a:lnSpc>
              <a:spcBef>
                <a:spcPts val="2000"/>
              </a:spcBef>
              <a:spcAft>
                <a:spcPts val="0"/>
              </a:spcAft>
              <a:buSzPts val="3111"/>
              <a:buNone/>
            </a:pPr>
            <a:r>
              <a:rPr b="1" lang="en">
                <a:solidFill>
                  <a:srgbClr val="2A3D4C"/>
                </a:solidFill>
                <a:latin typeface="Arial"/>
                <a:ea typeface="Arial"/>
                <a:cs typeface="Arial"/>
                <a:sym typeface="Arial"/>
              </a:rPr>
              <a:t>Evidence-Based Practices that Support HLP 8/22</a:t>
            </a:r>
            <a:endParaRPr b="1">
              <a:solidFill>
                <a:schemeClr val="accent1"/>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 name="Shape 137"/>
        <p:cNvGrpSpPr/>
        <p:nvPr/>
      </p:nvGrpSpPr>
      <p:grpSpPr>
        <a:xfrm>
          <a:off x="0" y="0"/>
          <a:ext cx="0" cy="0"/>
          <a:chOff x="0" y="0"/>
          <a:chExt cx="0" cy="0"/>
        </a:xfrm>
      </p:grpSpPr>
      <p:sp>
        <p:nvSpPr>
          <p:cNvPr id="138" name="Google Shape;138;p9"/>
          <p:cNvSpPr txBox="1"/>
          <p:nvPr>
            <p:ph type="title"/>
          </p:nvPr>
        </p:nvSpPr>
        <p:spPr>
          <a:xfrm>
            <a:off x="205150" y="240400"/>
            <a:ext cx="8973600" cy="572700"/>
          </a:xfrm>
          <a:prstGeom prst="rect">
            <a:avLst/>
          </a:prstGeom>
          <a:noFill/>
          <a:ln>
            <a:noFill/>
          </a:ln>
        </p:spPr>
        <p:txBody>
          <a:bodyPr anchorCtr="0" anchor="t" bIns="73150" lIns="73150" spcFirstLastPara="1" rIns="73150" wrap="square" tIns="73150">
            <a:noAutofit/>
          </a:bodyPr>
          <a:lstStyle/>
          <a:p>
            <a:pPr indent="-457200" lvl="0" marL="457200" rtl="0" algn="l">
              <a:lnSpc>
                <a:spcPct val="100000"/>
              </a:lnSpc>
              <a:spcBef>
                <a:spcPts val="2000"/>
              </a:spcBef>
              <a:spcAft>
                <a:spcPts val="0"/>
              </a:spcAft>
              <a:buClr>
                <a:schemeClr val="dk1"/>
              </a:buClr>
              <a:buSzPts val="920"/>
              <a:buFont typeface="Arial"/>
              <a:buNone/>
            </a:pPr>
            <a:r>
              <a:rPr b="1" lang="en">
                <a:solidFill>
                  <a:srgbClr val="2A3D4C"/>
                </a:solidFill>
                <a:latin typeface="Arial"/>
                <a:ea typeface="Arial"/>
                <a:cs typeface="Arial"/>
                <a:sym typeface="Arial"/>
              </a:rPr>
              <a:t>Evidence-Based Practices: What They Look Like</a:t>
            </a:r>
            <a:endParaRPr b="1">
              <a:solidFill>
                <a:schemeClr val="accent1"/>
              </a:solidFill>
            </a:endParaRPr>
          </a:p>
        </p:txBody>
      </p:sp>
      <p:graphicFrame>
        <p:nvGraphicFramePr>
          <p:cNvPr id="139" name="Google Shape;139;p9"/>
          <p:cNvGraphicFramePr/>
          <p:nvPr/>
        </p:nvGraphicFramePr>
        <p:xfrm>
          <a:off x="5463650" y="2005550"/>
          <a:ext cx="3000000" cy="3000000"/>
        </p:xfrm>
        <a:graphic>
          <a:graphicData uri="http://schemas.openxmlformats.org/drawingml/2006/table">
            <a:tbl>
              <a:tblPr>
                <a:noFill/>
                <a:tableStyleId>{6CD891CA-F92E-42AB-9E33-DF8CC96513A6}</a:tableStyleId>
              </a:tblPr>
              <a:tblGrid>
                <a:gridCol w="857250"/>
                <a:gridCol w="1238250"/>
                <a:gridCol w="946150"/>
              </a:tblGrid>
              <a:tr h="327025">
                <a:tc>
                  <a:txBody>
                    <a:bodyPr/>
                    <a:lstStyle/>
                    <a:p>
                      <a:pPr indent="-457200" lvl="0" marL="457200" marR="0" rtl="0" algn="ctr">
                        <a:lnSpc>
                          <a:spcPct val="100000"/>
                        </a:lnSpc>
                        <a:spcBef>
                          <a:spcPts val="0"/>
                        </a:spcBef>
                        <a:spcAft>
                          <a:spcPts val="0"/>
                        </a:spcAft>
                        <a:buClr>
                          <a:srgbClr val="000000"/>
                        </a:buClr>
                        <a:buSzPts val="1200"/>
                        <a:buFont typeface="Arial"/>
                        <a:buNone/>
                      </a:pPr>
                      <a:r>
                        <a:rPr b="1" lang="en" sz="1200" u="none" cap="none" strike="noStrike"/>
                        <a:t>Practice</a:t>
                      </a:r>
                      <a:endParaRPr sz="1200" u="none" cap="none" strike="noStrike"/>
                    </a:p>
                  </a:txBody>
                  <a:tcPr marT="63500" marB="63500" marR="63500" marL="635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C9DAF8"/>
                    </a:solidFill>
                  </a:tcPr>
                </a:tc>
                <a:tc>
                  <a:txBody>
                    <a:bodyPr/>
                    <a:lstStyle/>
                    <a:p>
                      <a:pPr indent="-457200" lvl="0" marL="457200" marR="0" rtl="0" algn="ctr">
                        <a:lnSpc>
                          <a:spcPct val="100000"/>
                        </a:lnSpc>
                        <a:spcBef>
                          <a:spcPts val="0"/>
                        </a:spcBef>
                        <a:spcAft>
                          <a:spcPts val="0"/>
                        </a:spcAft>
                        <a:buClr>
                          <a:srgbClr val="000000"/>
                        </a:buClr>
                        <a:buSzPts val="1200"/>
                        <a:buFont typeface="Arial"/>
                        <a:buNone/>
                      </a:pPr>
                      <a:r>
                        <a:rPr b="1" lang="en" sz="1200" u="none" cap="none" strike="noStrike"/>
                        <a:t>Description</a:t>
                      </a:r>
                      <a:endParaRPr sz="1200" u="none" cap="none" strike="noStrike"/>
                    </a:p>
                  </a:txBody>
                  <a:tcPr marT="63500" marB="63500" marR="63500" marL="635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C9DAF8"/>
                    </a:solidFill>
                  </a:tcPr>
                </a:tc>
                <a:tc>
                  <a:txBody>
                    <a:bodyPr/>
                    <a:lstStyle/>
                    <a:p>
                      <a:pPr indent="-457200" lvl="0" marL="457200" marR="0" rtl="0" algn="ctr">
                        <a:lnSpc>
                          <a:spcPct val="100000"/>
                        </a:lnSpc>
                        <a:spcBef>
                          <a:spcPts val="0"/>
                        </a:spcBef>
                        <a:spcAft>
                          <a:spcPts val="0"/>
                        </a:spcAft>
                        <a:buClr>
                          <a:srgbClr val="000000"/>
                        </a:buClr>
                        <a:buSzPts val="1200"/>
                        <a:buFont typeface="Arial"/>
                        <a:buNone/>
                      </a:pPr>
                      <a:r>
                        <a:rPr b="1" lang="en" sz="1200" u="none" cap="none" strike="noStrike"/>
                        <a:t>Example</a:t>
                      </a:r>
                      <a:endParaRPr sz="1200" u="none" cap="none" strike="noStrike"/>
                    </a:p>
                  </a:txBody>
                  <a:tcPr marT="63500" marB="63500" marR="63500" marL="635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C9DAF8"/>
                    </a:solidFill>
                  </a:tcPr>
                </a:tc>
              </a:tr>
              <a:tr h="327025">
                <a:tc>
                  <a:txBody>
                    <a:bodyPr/>
                    <a:lstStyle/>
                    <a:p>
                      <a:pPr indent="-457200" lvl="0" marL="457200" marR="0" rtl="0" algn="ctr">
                        <a:lnSpc>
                          <a:spcPct val="100000"/>
                        </a:lnSpc>
                        <a:spcBef>
                          <a:spcPts val="0"/>
                        </a:spcBef>
                        <a:spcAft>
                          <a:spcPts val="0"/>
                        </a:spcAft>
                        <a:buClr>
                          <a:srgbClr val="000000"/>
                        </a:buClr>
                        <a:buSzPts val="1200"/>
                        <a:buFont typeface="Arial"/>
                        <a:buNone/>
                      </a:pPr>
                      <a:r>
                        <a:rPr lang="en" sz="1200" u="none" cap="none" strike="noStrike"/>
                        <a:t>X</a:t>
                      </a:r>
                      <a:endParaRPr sz="1200" u="none" cap="none" strike="noStrike"/>
                    </a:p>
                  </a:txBody>
                  <a:tcPr marT="63500" marB="63500" marR="63500" marL="635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457200" lvl="0" marL="457200" marR="0" rtl="0" algn="ctr">
                        <a:lnSpc>
                          <a:spcPct val="100000"/>
                        </a:lnSpc>
                        <a:spcBef>
                          <a:spcPts val="0"/>
                        </a:spcBef>
                        <a:spcAft>
                          <a:spcPts val="0"/>
                        </a:spcAft>
                        <a:buClr>
                          <a:srgbClr val="000000"/>
                        </a:buClr>
                        <a:buSzPts val="1200"/>
                        <a:buFont typeface="Arial"/>
                        <a:buNone/>
                      </a:pPr>
                      <a:r>
                        <a:rPr lang="en" sz="1200" u="none" cap="none" strike="noStrike"/>
                        <a:t>X</a:t>
                      </a:r>
                      <a:endParaRPr sz="1200" u="none" cap="none" strike="noStrike"/>
                    </a:p>
                  </a:txBody>
                  <a:tcPr marT="63500" marB="63500" marR="63500" marL="635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457200" lvl="0" marL="457200" marR="0" rtl="0" algn="ctr">
                        <a:lnSpc>
                          <a:spcPct val="100000"/>
                        </a:lnSpc>
                        <a:spcBef>
                          <a:spcPts val="0"/>
                        </a:spcBef>
                        <a:spcAft>
                          <a:spcPts val="0"/>
                        </a:spcAft>
                        <a:buClr>
                          <a:srgbClr val="000000"/>
                        </a:buClr>
                        <a:buSzPts val="1200"/>
                        <a:buFont typeface="Arial"/>
                        <a:buNone/>
                      </a:pPr>
                      <a:r>
                        <a:rPr lang="en" sz="1200" u="none" cap="none" strike="noStrike"/>
                        <a:t>X</a:t>
                      </a:r>
                      <a:endParaRPr sz="1200" u="none" cap="none" strike="noStrike"/>
                    </a:p>
                  </a:txBody>
                  <a:tcPr marT="63500" marB="63500" marR="63500" marL="635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bl>
          </a:graphicData>
        </a:graphic>
      </p:graphicFrame>
      <p:sp>
        <p:nvSpPr>
          <p:cNvPr id="140" name="Google Shape;140;p9"/>
          <p:cNvSpPr txBox="1"/>
          <p:nvPr/>
        </p:nvSpPr>
        <p:spPr>
          <a:xfrm>
            <a:off x="205150" y="897750"/>
            <a:ext cx="4331700" cy="3307500"/>
          </a:xfrm>
          <a:prstGeom prst="rect">
            <a:avLst/>
          </a:prstGeom>
          <a:noFill/>
          <a:ln cap="flat" cmpd="sng" w="28575">
            <a:solidFill>
              <a:srgbClr val="4285F4"/>
            </a:solidFill>
            <a:prstDash val="solid"/>
            <a:round/>
            <a:headEnd len="sm" w="sm" type="none"/>
            <a:tailEnd len="sm" w="sm" type="none"/>
          </a:ln>
        </p:spPr>
        <p:txBody>
          <a:bodyPr anchorCtr="0" anchor="t" bIns="73150" lIns="73150" spcFirstLastPara="1" rIns="73150" wrap="square" tIns="73150">
            <a:noAutofit/>
          </a:bodyPr>
          <a:lstStyle/>
          <a:p>
            <a:pPr indent="0" lvl="0" marL="0" marR="0" rtl="0" algn="l">
              <a:lnSpc>
                <a:spcPct val="100000"/>
              </a:lnSpc>
              <a:spcBef>
                <a:spcPts val="1200"/>
              </a:spcBef>
              <a:spcAft>
                <a:spcPts val="0"/>
              </a:spcAft>
              <a:buClr>
                <a:schemeClr val="dk1"/>
              </a:buClr>
              <a:buSzPts val="1100"/>
              <a:buFont typeface="Arial"/>
              <a:buNone/>
            </a:pPr>
            <a:r>
              <a:rPr b="1" i="0" lang="en" sz="1600" u="none" cap="none" strike="noStrike">
                <a:solidFill>
                  <a:srgbClr val="373737"/>
                </a:solidFill>
              </a:rPr>
              <a:t>Behavior-</a:t>
            </a:r>
            <a:r>
              <a:rPr b="1" lang="en" sz="1600">
                <a:solidFill>
                  <a:srgbClr val="373737"/>
                </a:solidFill>
              </a:rPr>
              <a:t>S</a:t>
            </a:r>
            <a:r>
              <a:rPr b="1" i="0" lang="en" sz="1600" u="none" cap="none" strike="noStrike">
                <a:solidFill>
                  <a:srgbClr val="373737"/>
                </a:solidFill>
              </a:rPr>
              <a:t>pecific </a:t>
            </a:r>
            <a:r>
              <a:rPr b="1" lang="en" sz="1600">
                <a:solidFill>
                  <a:srgbClr val="373737"/>
                </a:solidFill>
              </a:rPr>
              <a:t>P</a:t>
            </a:r>
            <a:r>
              <a:rPr b="1" i="0" lang="en" sz="1600" u="none" cap="none" strike="noStrike">
                <a:solidFill>
                  <a:srgbClr val="373737"/>
                </a:solidFill>
              </a:rPr>
              <a:t>raise</a:t>
            </a:r>
            <a:br>
              <a:rPr b="0" i="0" lang="en" sz="1600" u="none" cap="none" strike="noStrike">
                <a:solidFill>
                  <a:srgbClr val="373737"/>
                </a:solidFill>
                <a:latin typeface="Arial"/>
                <a:ea typeface="Arial"/>
                <a:cs typeface="Arial"/>
                <a:sym typeface="Arial"/>
              </a:rPr>
            </a:br>
            <a:r>
              <a:rPr b="0" i="0" lang="en" sz="1600" u="none" cap="none" strike="noStrike">
                <a:solidFill>
                  <a:srgbClr val="373737"/>
                </a:solidFill>
                <a:latin typeface="Arial"/>
                <a:ea typeface="Arial"/>
                <a:cs typeface="Arial"/>
                <a:sym typeface="Arial"/>
              </a:rPr>
              <a:t>Your topic sentence clearly states the main idea.</a:t>
            </a:r>
            <a:br>
              <a:rPr b="0" i="0" lang="en" sz="1600" u="none" cap="none" strike="noStrike">
                <a:solidFill>
                  <a:srgbClr val="373737"/>
                </a:solidFill>
                <a:latin typeface="Arial"/>
                <a:ea typeface="Arial"/>
                <a:cs typeface="Arial"/>
                <a:sym typeface="Arial"/>
              </a:rPr>
            </a:br>
            <a:br>
              <a:rPr b="0" i="0" lang="en" sz="1600" u="none" cap="none" strike="noStrike">
                <a:solidFill>
                  <a:srgbClr val="373737"/>
                </a:solidFill>
                <a:latin typeface="Arial"/>
                <a:ea typeface="Arial"/>
                <a:cs typeface="Arial"/>
                <a:sym typeface="Arial"/>
              </a:rPr>
            </a:br>
            <a:r>
              <a:rPr b="1" i="0" lang="en" sz="1600" u="none" cap="none" strike="noStrike">
                <a:solidFill>
                  <a:srgbClr val="373737"/>
                </a:solidFill>
              </a:rPr>
              <a:t>Corrective </a:t>
            </a:r>
            <a:r>
              <a:rPr b="1" lang="en" sz="1600">
                <a:solidFill>
                  <a:srgbClr val="373737"/>
                </a:solidFill>
              </a:rPr>
              <a:t>F</a:t>
            </a:r>
            <a:r>
              <a:rPr b="1" i="0" lang="en" sz="1600" u="none" cap="none" strike="noStrike">
                <a:solidFill>
                  <a:srgbClr val="373737"/>
                </a:solidFill>
              </a:rPr>
              <a:t>eedback</a:t>
            </a:r>
            <a:br>
              <a:rPr b="0" i="0" lang="en" sz="1600" u="none" cap="none" strike="noStrike">
                <a:solidFill>
                  <a:srgbClr val="373737"/>
                </a:solidFill>
                <a:latin typeface="Arial"/>
                <a:ea typeface="Arial"/>
                <a:cs typeface="Arial"/>
                <a:sym typeface="Arial"/>
              </a:rPr>
            </a:br>
            <a:r>
              <a:rPr b="0" i="0" lang="en" sz="1600" u="none" cap="none" strike="noStrike">
                <a:solidFill>
                  <a:srgbClr val="373737"/>
                </a:solidFill>
                <a:latin typeface="Arial"/>
                <a:ea typeface="Arial"/>
                <a:cs typeface="Arial"/>
                <a:sym typeface="Arial"/>
              </a:rPr>
              <a:t>Check the denominator. Try that step again.</a:t>
            </a:r>
            <a:br>
              <a:rPr b="0" i="0" lang="en" sz="1600" u="none" cap="none" strike="noStrike">
                <a:solidFill>
                  <a:srgbClr val="373737"/>
                </a:solidFill>
                <a:latin typeface="Arial"/>
                <a:ea typeface="Arial"/>
                <a:cs typeface="Arial"/>
                <a:sym typeface="Arial"/>
              </a:rPr>
            </a:br>
            <a:br>
              <a:rPr b="0" i="0" lang="en" sz="1600" u="none" cap="none" strike="noStrike">
                <a:solidFill>
                  <a:srgbClr val="373737"/>
                </a:solidFill>
                <a:latin typeface="Arial"/>
                <a:ea typeface="Arial"/>
                <a:cs typeface="Arial"/>
                <a:sym typeface="Arial"/>
              </a:rPr>
            </a:br>
            <a:r>
              <a:rPr b="1" i="0" lang="en" sz="1600" u="none" cap="none" strike="noStrike">
                <a:solidFill>
                  <a:srgbClr val="373737"/>
                </a:solidFill>
              </a:rPr>
              <a:t>Opportunities to </a:t>
            </a:r>
            <a:r>
              <a:rPr b="1" lang="en" sz="1600">
                <a:solidFill>
                  <a:srgbClr val="373737"/>
                </a:solidFill>
              </a:rPr>
              <a:t>R</a:t>
            </a:r>
            <a:r>
              <a:rPr b="1" i="0" lang="en" sz="1600" u="none" cap="none" strike="noStrike">
                <a:solidFill>
                  <a:srgbClr val="373737"/>
                </a:solidFill>
              </a:rPr>
              <a:t>espond</a:t>
            </a:r>
            <a:br>
              <a:rPr b="0" i="0" lang="en" sz="1600" u="none" cap="none" strike="noStrike">
                <a:solidFill>
                  <a:srgbClr val="373737"/>
                </a:solidFill>
                <a:latin typeface="Arial"/>
                <a:ea typeface="Arial"/>
                <a:cs typeface="Arial"/>
                <a:sym typeface="Arial"/>
              </a:rPr>
            </a:br>
            <a:r>
              <a:rPr b="0" i="0" lang="en" sz="1600" u="none" cap="none" strike="noStrike">
                <a:solidFill>
                  <a:srgbClr val="373737"/>
                </a:solidFill>
                <a:latin typeface="Arial"/>
                <a:ea typeface="Arial"/>
                <a:cs typeface="Arial"/>
                <a:sym typeface="Arial"/>
              </a:rPr>
              <a:t>Show me your next step, then I’ll respond.</a:t>
            </a:r>
            <a:br>
              <a:rPr b="0" i="0" lang="en" sz="1600" u="none" cap="none" strike="noStrike">
                <a:solidFill>
                  <a:srgbClr val="373737"/>
                </a:solidFill>
                <a:latin typeface="Arial"/>
                <a:ea typeface="Arial"/>
                <a:cs typeface="Arial"/>
                <a:sym typeface="Arial"/>
              </a:rPr>
            </a:br>
            <a:br>
              <a:rPr b="0" i="0" lang="en" sz="1600" u="none" cap="none" strike="noStrike">
                <a:solidFill>
                  <a:srgbClr val="373737"/>
                </a:solidFill>
                <a:latin typeface="Arial"/>
                <a:ea typeface="Arial"/>
                <a:cs typeface="Arial"/>
                <a:sym typeface="Arial"/>
              </a:rPr>
            </a:br>
            <a:r>
              <a:rPr b="1" i="0" lang="en" sz="1600" u="none" cap="none" strike="noStrike">
                <a:solidFill>
                  <a:srgbClr val="373737"/>
                </a:solidFill>
              </a:rPr>
              <a:t>Explicit </a:t>
            </a:r>
            <a:r>
              <a:rPr b="1" lang="en" sz="1600">
                <a:solidFill>
                  <a:srgbClr val="373737"/>
                </a:solidFill>
              </a:rPr>
              <a:t>I</a:t>
            </a:r>
            <a:r>
              <a:rPr b="1" i="0" lang="en" sz="1600" u="none" cap="none" strike="noStrike">
                <a:solidFill>
                  <a:srgbClr val="373737"/>
                </a:solidFill>
              </a:rPr>
              <a:t>nstruction</a:t>
            </a:r>
            <a:br>
              <a:rPr b="0" i="0" lang="en" sz="1600" u="none" cap="none" strike="noStrike">
                <a:solidFill>
                  <a:srgbClr val="373737"/>
                </a:solidFill>
                <a:latin typeface="Arial"/>
                <a:ea typeface="Arial"/>
                <a:cs typeface="Arial"/>
                <a:sym typeface="Arial"/>
              </a:rPr>
            </a:br>
            <a:r>
              <a:rPr b="0" i="0" lang="en" sz="1600" u="none" cap="none" strike="noStrike">
                <a:solidFill>
                  <a:srgbClr val="373737"/>
                </a:solidFill>
                <a:latin typeface="Arial"/>
                <a:ea typeface="Arial"/>
                <a:cs typeface="Arial"/>
                <a:sym typeface="Arial"/>
              </a:rPr>
              <a:t>I’ll model it first. Now we’ll do one together. Time to do one by yourself.</a:t>
            </a:r>
            <a:endParaRPr b="0" i="0" sz="1600" u="none" cap="none" strike="noStrike">
              <a:solidFill>
                <a:schemeClr val="dk1"/>
              </a:solidFill>
              <a:latin typeface="Arial"/>
              <a:ea typeface="Arial"/>
              <a:cs typeface="Arial"/>
              <a:sym typeface="Arial"/>
            </a:endParaRPr>
          </a:p>
        </p:txBody>
      </p:sp>
      <p:sp>
        <p:nvSpPr>
          <p:cNvPr id="141" name="Google Shape;141;p9"/>
          <p:cNvSpPr txBox="1"/>
          <p:nvPr/>
        </p:nvSpPr>
        <p:spPr>
          <a:xfrm>
            <a:off x="5463650" y="1393475"/>
            <a:ext cx="3000000" cy="5541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1200"/>
              </a:spcBef>
              <a:spcAft>
                <a:spcPts val="1200"/>
              </a:spcAft>
              <a:buClr>
                <a:srgbClr val="000000"/>
              </a:buClr>
              <a:buSzPts val="1200"/>
              <a:buFont typeface="Arial"/>
              <a:buNone/>
            </a:pPr>
            <a:r>
              <a:rPr b="0" i="0" lang="en" sz="1200" u="none" cap="none" strike="noStrike">
                <a:solidFill>
                  <a:schemeClr val="dk1"/>
                </a:solidFill>
                <a:latin typeface="Arial"/>
                <a:ea typeface="Arial"/>
                <a:cs typeface="Arial"/>
                <a:sym typeface="Arial"/>
              </a:rPr>
              <a:t>For each practice include, then delete this text box</a:t>
            </a:r>
            <a:endParaRPr b="0" i="0" sz="1400" u="none" cap="none" strike="noStrike">
              <a:solidFill>
                <a:srgbClr val="000000"/>
              </a:solidFill>
              <a:latin typeface="Arial"/>
              <a:ea typeface="Arial"/>
              <a:cs typeface="Arial"/>
              <a:sym typeface="Arial"/>
            </a:endParaRPr>
          </a:p>
        </p:txBody>
      </p:sp>
      <p:pic>
        <p:nvPicPr>
          <p:cNvPr id="142" name="Google Shape;142;p9" title="Screenshot 2026-06-03 at 3.13.19 PM.png"/>
          <p:cNvPicPr preferRelativeResize="0"/>
          <p:nvPr/>
        </p:nvPicPr>
        <p:blipFill rotWithShape="1">
          <a:blip r:embed="rId3">
            <a:alphaModFix/>
          </a:blip>
          <a:srcRect b="0" l="11017" r="11017" t="0"/>
          <a:stretch/>
        </p:blipFill>
        <p:spPr>
          <a:xfrm>
            <a:off x="0" y="4289900"/>
            <a:ext cx="9144003" cy="853600"/>
          </a:xfrm>
          <a:prstGeom prst="rect">
            <a:avLst/>
          </a:prstGeom>
          <a:noFill/>
          <a:ln>
            <a:noFill/>
          </a:ln>
        </p:spPr>
      </p:pic>
      <p:sp>
        <p:nvSpPr>
          <p:cNvPr id="143" name="Google Shape;143;p9"/>
          <p:cNvSpPr/>
          <p:nvPr/>
        </p:nvSpPr>
        <p:spPr>
          <a:xfrm>
            <a:off x="4741325" y="813100"/>
            <a:ext cx="4219200" cy="3357000"/>
          </a:xfrm>
          <a:prstGeom prst="roundRect">
            <a:avLst>
              <a:gd fmla="val 16667" name="adj"/>
            </a:avLst>
          </a:prstGeom>
          <a:solidFill>
            <a:srgbClr val="FFF7DE"/>
          </a:solidFill>
          <a:ln>
            <a:noFill/>
          </a:ln>
          <a:effectLst>
            <a:outerShdw blurRad="40000" rotWithShape="0" dir="5400000" dist="23000">
              <a:srgbClr val="000000">
                <a:alpha val="34902"/>
              </a:srgbClr>
            </a:outerShdw>
          </a:effectLst>
        </p:spPr>
        <p:txBody>
          <a:bodyPr anchorCtr="0" anchor="t" bIns="91425" lIns="91425" spcFirstLastPara="1" rIns="91425" wrap="square" tIns="91425">
            <a:noAutofit/>
          </a:bodyPr>
          <a:lstStyle/>
          <a:p>
            <a:pPr indent="0" lvl="0" marL="0" marR="0" rtl="0" algn="ctr">
              <a:lnSpc>
                <a:spcPct val="100000"/>
              </a:lnSpc>
              <a:spcBef>
                <a:spcPts val="0"/>
              </a:spcBef>
              <a:spcAft>
                <a:spcPts val="0"/>
              </a:spcAft>
              <a:buNone/>
            </a:pPr>
            <a:r>
              <a:rPr b="1" i="0" lang="en" u="none" cap="none" strike="noStrike">
                <a:solidFill>
                  <a:schemeClr val="accent1"/>
                </a:solidFill>
              </a:rPr>
              <a:t>PRACTICE → PURPOSE → EXAMPLE</a:t>
            </a:r>
            <a:br>
              <a:rPr b="0" i="0" lang="en" u="none" cap="none" strike="noStrike">
                <a:solidFill>
                  <a:srgbClr val="373737"/>
                </a:solidFill>
                <a:latin typeface="Arial"/>
                <a:ea typeface="Arial"/>
                <a:cs typeface="Arial"/>
                <a:sym typeface="Arial"/>
              </a:rPr>
            </a:br>
            <a:br>
              <a:rPr b="0" i="0" lang="en" sz="950" u="none" cap="none" strike="noStrike">
                <a:solidFill>
                  <a:srgbClr val="373737"/>
                </a:solidFill>
                <a:latin typeface="Arial"/>
                <a:ea typeface="Arial"/>
                <a:cs typeface="Arial"/>
                <a:sym typeface="Arial"/>
              </a:rPr>
            </a:br>
            <a:endParaRPr b="0" i="0" sz="950" u="none" cap="none" strike="noStrike">
              <a:solidFill>
                <a:srgbClr val="373737"/>
              </a:solidFill>
              <a:latin typeface="Arial"/>
              <a:ea typeface="Arial"/>
              <a:cs typeface="Arial"/>
              <a:sym typeface="Arial"/>
            </a:endParaRPr>
          </a:p>
          <a:p>
            <a:pPr indent="0" lvl="0" marL="0" marR="0" rtl="0" algn="ctr">
              <a:lnSpc>
                <a:spcPct val="100000"/>
              </a:lnSpc>
              <a:spcBef>
                <a:spcPts val="0"/>
              </a:spcBef>
              <a:spcAft>
                <a:spcPts val="0"/>
              </a:spcAft>
              <a:buNone/>
            </a:pPr>
            <a:r>
              <a:rPr b="1" i="0" lang="en" sz="1200" u="none" cap="none" strike="noStrike">
                <a:solidFill>
                  <a:srgbClr val="373737"/>
                </a:solidFill>
              </a:rPr>
              <a:t>Behavior-</a:t>
            </a:r>
            <a:r>
              <a:rPr b="1" lang="en" sz="1200">
                <a:solidFill>
                  <a:srgbClr val="373737"/>
                </a:solidFill>
              </a:rPr>
              <a:t>S</a:t>
            </a:r>
            <a:r>
              <a:rPr b="1" i="0" lang="en" sz="1200" u="none" cap="none" strike="noStrike">
                <a:solidFill>
                  <a:srgbClr val="373737"/>
                </a:solidFill>
              </a:rPr>
              <a:t>pecific </a:t>
            </a:r>
            <a:r>
              <a:rPr b="1" lang="en" sz="1200">
                <a:solidFill>
                  <a:srgbClr val="373737"/>
                </a:solidFill>
              </a:rPr>
              <a:t>P</a:t>
            </a:r>
            <a:r>
              <a:rPr b="1" i="0" lang="en" sz="1200" u="none" cap="none" strike="noStrike">
                <a:solidFill>
                  <a:srgbClr val="373737"/>
                </a:solidFill>
              </a:rPr>
              <a:t>raise </a:t>
            </a:r>
            <a:r>
              <a:rPr b="0" i="0" lang="en" sz="1200" u="none" cap="none" strike="noStrike">
                <a:solidFill>
                  <a:srgbClr val="373737"/>
                </a:solidFill>
                <a:latin typeface="Arial"/>
                <a:ea typeface="Arial"/>
                <a:cs typeface="Arial"/>
                <a:sym typeface="Arial"/>
              </a:rPr>
              <a:t>→ </a:t>
            </a:r>
            <a:r>
              <a:rPr lang="en" sz="1200">
                <a:solidFill>
                  <a:srgbClr val="373737"/>
                </a:solidFill>
              </a:rPr>
              <a:t>M</a:t>
            </a:r>
            <a:r>
              <a:rPr b="0" i="0" lang="en" sz="1200" u="none" cap="none" strike="noStrike">
                <a:solidFill>
                  <a:srgbClr val="373737"/>
                </a:solidFill>
                <a:latin typeface="Arial"/>
                <a:ea typeface="Arial"/>
                <a:cs typeface="Arial"/>
                <a:sym typeface="Arial"/>
              </a:rPr>
              <a:t>akes </a:t>
            </a:r>
            <a:r>
              <a:rPr lang="en" sz="1200">
                <a:solidFill>
                  <a:srgbClr val="373737"/>
                </a:solidFill>
              </a:rPr>
              <a:t>S</a:t>
            </a:r>
            <a:r>
              <a:rPr b="0" i="0" lang="en" sz="1200" u="none" cap="none" strike="noStrike">
                <a:solidFill>
                  <a:srgbClr val="373737"/>
                </a:solidFill>
                <a:latin typeface="Arial"/>
                <a:ea typeface="Arial"/>
                <a:cs typeface="Arial"/>
                <a:sym typeface="Arial"/>
              </a:rPr>
              <a:t>uccess </a:t>
            </a:r>
            <a:r>
              <a:rPr lang="en" sz="1200">
                <a:solidFill>
                  <a:srgbClr val="373737"/>
                </a:solidFill>
              </a:rPr>
              <a:t>O</a:t>
            </a:r>
            <a:r>
              <a:rPr b="0" i="0" lang="en" sz="1200" u="none" cap="none" strike="noStrike">
                <a:solidFill>
                  <a:srgbClr val="373737"/>
                </a:solidFill>
                <a:latin typeface="Arial"/>
                <a:ea typeface="Arial"/>
                <a:cs typeface="Arial"/>
                <a:sym typeface="Arial"/>
              </a:rPr>
              <a:t>bservable → </a:t>
            </a:r>
            <a:r>
              <a:rPr b="0" i="1" lang="en" sz="1200" u="none" cap="none" strike="noStrike">
                <a:solidFill>
                  <a:srgbClr val="373737"/>
                </a:solidFill>
                <a:latin typeface="Arial"/>
                <a:ea typeface="Arial"/>
                <a:cs typeface="Arial"/>
                <a:sym typeface="Arial"/>
              </a:rPr>
              <a:t>You began within 30 seconds.</a:t>
            </a:r>
            <a:br>
              <a:rPr b="0" i="0" lang="en" sz="1200" u="none" cap="none" strike="noStrike">
                <a:solidFill>
                  <a:srgbClr val="373737"/>
                </a:solidFill>
                <a:latin typeface="Arial"/>
                <a:ea typeface="Arial"/>
                <a:cs typeface="Arial"/>
                <a:sym typeface="Arial"/>
              </a:rPr>
            </a:br>
            <a:br>
              <a:rPr b="0" i="0" lang="en" sz="1200" u="none" cap="none" strike="noStrike">
                <a:solidFill>
                  <a:srgbClr val="373737"/>
                </a:solidFill>
                <a:latin typeface="Arial"/>
                <a:ea typeface="Arial"/>
                <a:cs typeface="Arial"/>
                <a:sym typeface="Arial"/>
              </a:rPr>
            </a:br>
            <a:r>
              <a:rPr b="1" i="0" lang="en" sz="1200" u="none" cap="none" strike="noStrike">
                <a:solidFill>
                  <a:srgbClr val="373737"/>
                </a:solidFill>
              </a:rPr>
              <a:t>Corrective </a:t>
            </a:r>
            <a:r>
              <a:rPr b="1" lang="en" sz="1200">
                <a:solidFill>
                  <a:srgbClr val="373737"/>
                </a:solidFill>
              </a:rPr>
              <a:t>F</a:t>
            </a:r>
            <a:r>
              <a:rPr b="1" i="0" lang="en" sz="1200" u="none" cap="none" strike="noStrike">
                <a:solidFill>
                  <a:srgbClr val="373737"/>
                </a:solidFill>
              </a:rPr>
              <a:t>eedback</a:t>
            </a:r>
            <a:r>
              <a:rPr b="0" i="0" lang="en" sz="1200" u="none" cap="none" strike="noStrike">
                <a:solidFill>
                  <a:srgbClr val="373737"/>
                </a:solidFill>
                <a:latin typeface="Arial"/>
                <a:ea typeface="Arial"/>
                <a:cs typeface="Arial"/>
                <a:sym typeface="Arial"/>
              </a:rPr>
              <a:t> → </a:t>
            </a:r>
            <a:r>
              <a:rPr lang="en" sz="1200">
                <a:solidFill>
                  <a:srgbClr val="373737"/>
                </a:solidFill>
              </a:rPr>
              <a:t>G</a:t>
            </a:r>
            <a:r>
              <a:rPr b="0" i="0" lang="en" sz="1200" u="none" cap="none" strike="noStrike">
                <a:solidFill>
                  <a:srgbClr val="373737"/>
                </a:solidFill>
                <a:latin typeface="Arial"/>
                <a:ea typeface="Arial"/>
                <a:cs typeface="Arial"/>
                <a:sym typeface="Arial"/>
              </a:rPr>
              <a:t>uides </a:t>
            </a:r>
            <a:r>
              <a:rPr lang="en" sz="1200">
                <a:solidFill>
                  <a:srgbClr val="373737"/>
                </a:solidFill>
              </a:rPr>
              <a:t>R</a:t>
            </a:r>
            <a:r>
              <a:rPr b="0" i="0" lang="en" sz="1200" u="none" cap="none" strike="noStrike">
                <a:solidFill>
                  <a:srgbClr val="373737"/>
                </a:solidFill>
                <a:latin typeface="Arial"/>
                <a:ea typeface="Arial"/>
                <a:cs typeface="Arial"/>
                <a:sym typeface="Arial"/>
              </a:rPr>
              <a:t>evision → Your evidence is relevant; now explain the connection.</a:t>
            </a:r>
            <a:br>
              <a:rPr b="0" i="0" lang="en" sz="1200" u="none" cap="none" strike="noStrike">
                <a:solidFill>
                  <a:srgbClr val="373737"/>
                </a:solidFill>
                <a:latin typeface="Arial"/>
                <a:ea typeface="Arial"/>
                <a:cs typeface="Arial"/>
                <a:sym typeface="Arial"/>
              </a:rPr>
            </a:br>
            <a:br>
              <a:rPr b="0" i="0" lang="en" sz="1200" u="none" cap="none" strike="noStrike">
                <a:solidFill>
                  <a:srgbClr val="373737"/>
                </a:solidFill>
                <a:latin typeface="Arial"/>
                <a:ea typeface="Arial"/>
                <a:cs typeface="Arial"/>
                <a:sym typeface="Arial"/>
              </a:rPr>
            </a:br>
            <a:r>
              <a:rPr b="1" i="0" lang="en" sz="1200" u="none" cap="none" strike="noStrike">
                <a:solidFill>
                  <a:srgbClr val="373737"/>
                </a:solidFill>
              </a:rPr>
              <a:t>Opportunities to </a:t>
            </a:r>
            <a:r>
              <a:rPr b="1" lang="en" sz="1200">
                <a:solidFill>
                  <a:srgbClr val="373737"/>
                </a:solidFill>
              </a:rPr>
              <a:t>R</a:t>
            </a:r>
            <a:r>
              <a:rPr b="1" i="0" lang="en" sz="1200" u="none" cap="none" strike="noStrike">
                <a:solidFill>
                  <a:srgbClr val="373737"/>
                </a:solidFill>
              </a:rPr>
              <a:t>espond </a:t>
            </a:r>
            <a:r>
              <a:rPr b="0" i="0" lang="en" sz="1200" u="none" cap="none" strike="noStrike">
                <a:solidFill>
                  <a:srgbClr val="373737"/>
                </a:solidFill>
                <a:latin typeface="Arial"/>
                <a:ea typeface="Arial"/>
                <a:cs typeface="Arial"/>
                <a:sym typeface="Arial"/>
              </a:rPr>
              <a:t>→ </a:t>
            </a:r>
            <a:r>
              <a:rPr lang="en" sz="1200">
                <a:solidFill>
                  <a:srgbClr val="373737"/>
                </a:solidFill>
              </a:rPr>
              <a:t>L</a:t>
            </a:r>
            <a:r>
              <a:rPr b="0" i="0" lang="en" sz="1200" u="none" cap="none" strike="noStrike">
                <a:solidFill>
                  <a:srgbClr val="373737"/>
                </a:solidFill>
                <a:latin typeface="Arial"/>
                <a:ea typeface="Arial"/>
                <a:cs typeface="Arial"/>
                <a:sym typeface="Arial"/>
              </a:rPr>
              <a:t>ets </a:t>
            </a:r>
            <a:r>
              <a:rPr lang="en" sz="1200">
                <a:solidFill>
                  <a:srgbClr val="373737"/>
                </a:solidFill>
              </a:rPr>
              <a:t>S</a:t>
            </a:r>
            <a:r>
              <a:rPr b="0" i="0" lang="en" sz="1200" u="none" cap="none" strike="noStrike">
                <a:solidFill>
                  <a:srgbClr val="373737"/>
                </a:solidFill>
                <a:latin typeface="Arial"/>
                <a:ea typeface="Arial"/>
                <a:cs typeface="Arial"/>
                <a:sym typeface="Arial"/>
              </a:rPr>
              <a:t>tudents </a:t>
            </a:r>
            <a:r>
              <a:rPr lang="en" sz="1200">
                <a:solidFill>
                  <a:srgbClr val="373737"/>
                </a:solidFill>
              </a:rPr>
              <a:t>U</a:t>
            </a:r>
            <a:r>
              <a:rPr b="0" i="0" lang="en" sz="1200" u="none" cap="none" strike="noStrike">
                <a:solidFill>
                  <a:srgbClr val="373737"/>
                </a:solidFill>
                <a:latin typeface="Arial"/>
                <a:ea typeface="Arial"/>
                <a:cs typeface="Arial"/>
                <a:sym typeface="Arial"/>
              </a:rPr>
              <a:t>se </a:t>
            </a:r>
            <a:r>
              <a:rPr lang="en" sz="1200">
                <a:solidFill>
                  <a:srgbClr val="373737"/>
                </a:solidFill>
              </a:rPr>
              <a:t>F</a:t>
            </a:r>
            <a:r>
              <a:rPr b="0" i="0" lang="en" sz="1200" u="none" cap="none" strike="noStrike">
                <a:solidFill>
                  <a:srgbClr val="373737"/>
                </a:solidFill>
                <a:latin typeface="Arial"/>
                <a:ea typeface="Arial"/>
                <a:cs typeface="Arial"/>
                <a:sym typeface="Arial"/>
              </a:rPr>
              <a:t>eedback → revise, retry, or explain.</a:t>
            </a:r>
            <a:br>
              <a:rPr b="0" i="0" lang="en" sz="1200" u="none" cap="none" strike="noStrike">
                <a:solidFill>
                  <a:srgbClr val="373737"/>
                </a:solidFill>
                <a:latin typeface="Arial"/>
                <a:ea typeface="Arial"/>
                <a:cs typeface="Arial"/>
                <a:sym typeface="Arial"/>
              </a:rPr>
            </a:br>
            <a:br>
              <a:rPr b="0" i="0" lang="en" sz="1200" u="none" cap="none" strike="noStrike">
                <a:solidFill>
                  <a:srgbClr val="373737"/>
                </a:solidFill>
                <a:latin typeface="Arial"/>
                <a:ea typeface="Arial"/>
                <a:cs typeface="Arial"/>
                <a:sym typeface="Arial"/>
              </a:rPr>
            </a:br>
            <a:r>
              <a:rPr b="1" i="0" lang="en" sz="1200" u="none" cap="none" strike="noStrike">
                <a:solidFill>
                  <a:srgbClr val="373737"/>
                </a:solidFill>
              </a:rPr>
              <a:t>Explicit </a:t>
            </a:r>
            <a:r>
              <a:rPr b="1" lang="en" sz="1200">
                <a:solidFill>
                  <a:srgbClr val="373737"/>
                </a:solidFill>
              </a:rPr>
              <a:t>I</a:t>
            </a:r>
            <a:r>
              <a:rPr b="1" i="0" lang="en" sz="1200" u="none" cap="none" strike="noStrike">
                <a:solidFill>
                  <a:srgbClr val="373737"/>
                </a:solidFill>
              </a:rPr>
              <a:t>nstruction </a:t>
            </a:r>
            <a:r>
              <a:rPr b="0" i="0" lang="en" sz="1200" u="none" cap="none" strike="noStrike">
                <a:solidFill>
                  <a:srgbClr val="373737"/>
                </a:solidFill>
                <a:latin typeface="Arial"/>
                <a:ea typeface="Arial"/>
                <a:cs typeface="Arial"/>
                <a:sym typeface="Arial"/>
              </a:rPr>
              <a:t>→ </a:t>
            </a:r>
            <a:r>
              <a:rPr lang="en" sz="1200">
                <a:solidFill>
                  <a:srgbClr val="373737"/>
                </a:solidFill>
              </a:rPr>
              <a:t>E</a:t>
            </a:r>
            <a:r>
              <a:rPr b="0" i="0" lang="en" sz="1200" u="none" cap="none" strike="noStrike">
                <a:solidFill>
                  <a:srgbClr val="373737"/>
                </a:solidFill>
                <a:latin typeface="Arial"/>
                <a:ea typeface="Arial"/>
                <a:cs typeface="Arial"/>
                <a:sym typeface="Arial"/>
              </a:rPr>
              <a:t>mbeds </a:t>
            </a:r>
            <a:r>
              <a:rPr lang="en" sz="1200">
                <a:solidFill>
                  <a:srgbClr val="373737"/>
                </a:solidFill>
              </a:rPr>
              <a:t>F</a:t>
            </a:r>
            <a:r>
              <a:rPr b="0" i="0" lang="en" sz="1200" u="none" cap="none" strike="noStrike">
                <a:solidFill>
                  <a:srgbClr val="373737"/>
                </a:solidFill>
                <a:latin typeface="Arial"/>
                <a:ea typeface="Arial"/>
                <a:cs typeface="Arial"/>
                <a:sym typeface="Arial"/>
              </a:rPr>
              <a:t>eedback in </a:t>
            </a:r>
            <a:r>
              <a:rPr lang="en" sz="1200">
                <a:solidFill>
                  <a:srgbClr val="373737"/>
                </a:solidFill>
              </a:rPr>
              <a:t>T</a:t>
            </a:r>
            <a:r>
              <a:rPr b="0" i="0" lang="en" sz="1200" u="none" cap="none" strike="noStrike">
                <a:solidFill>
                  <a:srgbClr val="373737"/>
                </a:solidFill>
                <a:latin typeface="Arial"/>
                <a:ea typeface="Arial"/>
                <a:cs typeface="Arial"/>
                <a:sym typeface="Arial"/>
              </a:rPr>
              <a:t>eaching → </a:t>
            </a:r>
            <a:r>
              <a:rPr lang="en" sz="1200">
                <a:solidFill>
                  <a:srgbClr val="373737"/>
                </a:solidFill>
              </a:rPr>
              <a:t>M</a:t>
            </a:r>
            <a:r>
              <a:rPr b="0" i="0" lang="en" sz="1200" u="none" cap="none" strike="noStrike">
                <a:solidFill>
                  <a:srgbClr val="373737"/>
                </a:solidFill>
                <a:latin typeface="Arial"/>
                <a:ea typeface="Arial"/>
                <a:cs typeface="Arial"/>
                <a:sym typeface="Arial"/>
              </a:rPr>
              <a:t>odel</a:t>
            </a:r>
            <a:r>
              <a:rPr lang="en" sz="1200">
                <a:solidFill>
                  <a:srgbClr val="373737"/>
                </a:solidFill>
              </a:rPr>
              <a:t>, G</a:t>
            </a:r>
            <a:r>
              <a:rPr b="0" i="0" lang="en" sz="1200" u="none" cap="none" strike="noStrike">
                <a:solidFill>
                  <a:srgbClr val="373737"/>
                </a:solidFill>
                <a:latin typeface="Arial"/>
                <a:ea typeface="Arial"/>
                <a:cs typeface="Arial"/>
                <a:sym typeface="Arial"/>
              </a:rPr>
              <a:t>uide</a:t>
            </a:r>
            <a:r>
              <a:rPr lang="en" sz="1200">
                <a:solidFill>
                  <a:srgbClr val="373737"/>
                </a:solidFill>
              </a:rPr>
              <a:t>, F</a:t>
            </a:r>
            <a:r>
              <a:rPr b="0" i="0" lang="en" sz="1200" u="none" cap="none" strike="noStrike">
                <a:solidFill>
                  <a:srgbClr val="373737"/>
                </a:solidFill>
                <a:latin typeface="Arial"/>
                <a:ea typeface="Arial"/>
                <a:cs typeface="Arial"/>
                <a:sym typeface="Arial"/>
              </a:rPr>
              <a:t>eedback</a:t>
            </a:r>
            <a:r>
              <a:rPr lang="en" sz="1200">
                <a:solidFill>
                  <a:srgbClr val="373737"/>
                </a:solidFill>
              </a:rPr>
              <a:t>,</a:t>
            </a:r>
            <a:r>
              <a:rPr b="0" i="0" lang="en" sz="1200" u="none" cap="none" strike="noStrike">
                <a:solidFill>
                  <a:srgbClr val="373737"/>
                </a:solidFill>
                <a:latin typeface="Arial"/>
                <a:ea typeface="Arial"/>
                <a:cs typeface="Arial"/>
                <a:sym typeface="Arial"/>
              </a:rPr>
              <a:t> </a:t>
            </a:r>
            <a:r>
              <a:rPr lang="en" sz="1200">
                <a:solidFill>
                  <a:srgbClr val="373737"/>
                </a:solidFill>
              </a:rPr>
              <a:t>I</a:t>
            </a:r>
            <a:r>
              <a:rPr b="0" i="0" lang="en" sz="1200" u="none" cap="none" strike="noStrike">
                <a:solidFill>
                  <a:srgbClr val="373737"/>
                </a:solidFill>
                <a:latin typeface="Arial"/>
                <a:ea typeface="Arial"/>
                <a:cs typeface="Arial"/>
                <a:sym typeface="Arial"/>
              </a:rPr>
              <a:t>ndependent </a:t>
            </a:r>
            <a:r>
              <a:rPr lang="en" sz="1200">
                <a:solidFill>
                  <a:srgbClr val="373737"/>
                </a:solidFill>
              </a:rPr>
              <a:t>P</a:t>
            </a:r>
            <a:r>
              <a:rPr b="0" i="0" lang="en" sz="1200" u="none" cap="none" strike="noStrike">
                <a:solidFill>
                  <a:srgbClr val="373737"/>
                </a:solidFill>
                <a:latin typeface="Arial"/>
                <a:ea typeface="Arial"/>
                <a:cs typeface="Arial"/>
                <a:sym typeface="Arial"/>
              </a:rPr>
              <a:t>ractice.</a:t>
            </a:r>
            <a:endParaRPr sz="1200"/>
          </a:p>
        </p:txBody>
      </p:sp>
      <p:sp>
        <p:nvSpPr>
          <p:cNvPr id="144" name="Google Shape;144;p9"/>
          <p:cNvSpPr/>
          <p:nvPr/>
        </p:nvSpPr>
        <p:spPr>
          <a:xfrm>
            <a:off x="5411112" y="3717953"/>
            <a:ext cx="2999100" cy="365700"/>
          </a:xfrm>
          <a:prstGeom prst="roundRect">
            <a:avLst>
              <a:gd fmla="val 16667" name="adj"/>
            </a:avLst>
          </a:prstGeom>
          <a:solidFill>
            <a:srgbClr val="E0F4F1"/>
          </a:solidFill>
          <a:ln>
            <a:noFill/>
          </a:ln>
          <a:effectLst>
            <a:outerShdw blurRad="40000" rotWithShape="0" dir="5400000" dist="23000">
              <a:srgbClr val="000000">
                <a:alpha val="34902"/>
              </a:srgbClr>
            </a:outerShdw>
          </a:effectLst>
        </p:spPr>
        <p:txBody>
          <a:bodyPr anchorCtr="0" anchor="ctr" bIns="27425" lIns="27425" spcFirstLastPara="1" rIns="27425" wrap="square" tIns="27425">
            <a:noAutofit/>
          </a:bodyPr>
          <a:lstStyle/>
          <a:p>
            <a:pPr indent="0" lvl="0" marL="0" marR="0" rtl="0" algn="ctr">
              <a:lnSpc>
                <a:spcPct val="100000"/>
              </a:lnSpc>
              <a:spcBef>
                <a:spcPts val="0"/>
              </a:spcBef>
              <a:spcAft>
                <a:spcPts val="0"/>
              </a:spcAft>
              <a:buNone/>
            </a:pPr>
            <a:r>
              <a:rPr b="1" i="0" lang="en" sz="1050" u="none" cap="none" strike="noStrike">
                <a:solidFill>
                  <a:srgbClr val="2A3D4C"/>
                </a:solidFill>
                <a:latin typeface="Arial"/>
                <a:ea typeface="Arial"/>
                <a:cs typeface="Arial"/>
                <a:sym typeface="Arial"/>
              </a:rPr>
              <a:t>Related HLPs: 11 • 12 • 16 • 18 • 20 • 21</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8" name="Shape 148"/>
        <p:cNvGrpSpPr/>
        <p:nvPr/>
      </p:nvGrpSpPr>
      <p:grpSpPr>
        <a:xfrm>
          <a:off x="0" y="0"/>
          <a:ext cx="0" cy="0"/>
          <a:chOff x="0" y="0"/>
          <a:chExt cx="0" cy="0"/>
        </a:xfrm>
      </p:grpSpPr>
      <p:sp>
        <p:nvSpPr>
          <p:cNvPr id="149" name="Google Shape;149;p10"/>
          <p:cNvSpPr txBox="1"/>
          <p:nvPr>
            <p:ph type="title"/>
          </p:nvPr>
        </p:nvSpPr>
        <p:spPr>
          <a:xfrm>
            <a:off x="311700" y="219250"/>
            <a:ext cx="8520600" cy="572700"/>
          </a:xfrm>
          <a:prstGeom prst="rect">
            <a:avLst/>
          </a:prstGeom>
          <a:noFill/>
          <a:ln>
            <a:noFill/>
          </a:ln>
        </p:spPr>
        <p:txBody>
          <a:bodyPr anchorCtr="0" anchor="t" bIns="73150" lIns="73150" spcFirstLastPara="1" rIns="73150" wrap="square" tIns="73150">
            <a:noAutofit/>
          </a:bodyPr>
          <a:lstStyle/>
          <a:p>
            <a:pPr indent="-457200" lvl="0" marL="457200" rtl="0" algn="l">
              <a:lnSpc>
                <a:spcPct val="100000"/>
              </a:lnSpc>
              <a:spcBef>
                <a:spcPts val="2000"/>
              </a:spcBef>
              <a:spcAft>
                <a:spcPts val="600"/>
              </a:spcAft>
              <a:buClr>
                <a:schemeClr val="dk1"/>
              </a:buClr>
              <a:buSzPts val="1100"/>
              <a:buFont typeface="Arial"/>
              <a:buNone/>
            </a:pPr>
            <a:r>
              <a:rPr b="1" lang="en" sz="3000">
                <a:solidFill>
                  <a:srgbClr val="2A3D4C"/>
                </a:solidFill>
                <a:latin typeface="Arial"/>
                <a:ea typeface="Arial"/>
                <a:cs typeface="Arial"/>
                <a:sym typeface="Arial"/>
              </a:rPr>
              <a:t>Common Challenges and Solutions</a:t>
            </a:r>
            <a:endParaRPr b="1" sz="3000">
              <a:solidFill>
                <a:schemeClr val="accent1"/>
              </a:solidFill>
            </a:endParaRPr>
          </a:p>
        </p:txBody>
      </p:sp>
      <p:pic>
        <p:nvPicPr>
          <p:cNvPr id="150" name="Google Shape;150;p10" title="Screenshot 2026-06-03 at 3.13.19 PM.png"/>
          <p:cNvPicPr preferRelativeResize="0"/>
          <p:nvPr/>
        </p:nvPicPr>
        <p:blipFill rotWithShape="1">
          <a:blip r:embed="rId3">
            <a:alphaModFix/>
          </a:blip>
          <a:srcRect b="0" l="11017" r="11017" t="0"/>
          <a:stretch/>
        </p:blipFill>
        <p:spPr>
          <a:xfrm>
            <a:off x="0" y="4289900"/>
            <a:ext cx="9144003" cy="853600"/>
          </a:xfrm>
          <a:prstGeom prst="rect">
            <a:avLst/>
          </a:prstGeom>
          <a:noFill/>
          <a:ln>
            <a:noFill/>
          </a:ln>
        </p:spPr>
      </p:pic>
      <p:pic>
        <p:nvPicPr>
          <p:cNvPr id="151" name="Google Shape;151;p10" title="AdobeStock_1951960158.jpeg"/>
          <p:cNvPicPr preferRelativeResize="0"/>
          <p:nvPr/>
        </p:nvPicPr>
        <p:blipFill rotWithShape="1">
          <a:blip r:embed="rId4">
            <a:alphaModFix/>
          </a:blip>
          <a:srcRect b="0" l="0" r="0" t="0"/>
          <a:stretch/>
        </p:blipFill>
        <p:spPr>
          <a:xfrm>
            <a:off x="5722025" y="1601600"/>
            <a:ext cx="4141624" cy="1940300"/>
          </a:xfrm>
          <a:prstGeom prst="rect">
            <a:avLst/>
          </a:prstGeom>
          <a:noFill/>
          <a:ln>
            <a:noFill/>
          </a:ln>
        </p:spPr>
      </p:pic>
      <p:sp>
        <p:nvSpPr>
          <p:cNvPr id="152" name="Google Shape;152;p10"/>
          <p:cNvSpPr/>
          <p:nvPr/>
        </p:nvSpPr>
        <p:spPr>
          <a:xfrm>
            <a:off x="384050" y="791950"/>
            <a:ext cx="6445800" cy="993300"/>
          </a:xfrm>
          <a:prstGeom prst="roundRect">
            <a:avLst>
              <a:gd fmla="val 16667" name="adj"/>
            </a:avLst>
          </a:prstGeom>
          <a:solidFill>
            <a:srgbClr val="FDEBE7"/>
          </a:solidFill>
          <a:ln>
            <a:noFill/>
          </a:ln>
          <a:effectLst>
            <a:outerShdw blurRad="40000" rotWithShape="0" dir="5400000" dist="23000">
              <a:srgbClr val="000000">
                <a:alpha val="34902"/>
              </a:srgbClr>
            </a:outerShdw>
          </a:effectLst>
        </p:spPr>
        <p:txBody>
          <a:bodyPr anchorCtr="0" anchor="t" bIns="73150" lIns="73150" spcFirstLastPara="1" rIns="73150" wrap="square" tIns="73150">
            <a:noAutofit/>
          </a:bodyPr>
          <a:lstStyle/>
          <a:p>
            <a:pPr indent="0" lvl="0" marL="0" marR="0" rtl="0" algn="l">
              <a:lnSpc>
                <a:spcPct val="100000"/>
              </a:lnSpc>
              <a:spcBef>
                <a:spcPts val="0"/>
              </a:spcBef>
              <a:spcAft>
                <a:spcPts val="0"/>
              </a:spcAft>
              <a:buNone/>
            </a:pPr>
            <a:r>
              <a:rPr b="1" i="0" lang="en" u="none" cap="none" strike="noStrike">
                <a:solidFill>
                  <a:srgbClr val="373737"/>
                </a:solidFill>
              </a:rPr>
              <a:t>Generic </a:t>
            </a:r>
            <a:r>
              <a:rPr b="1" lang="en">
                <a:solidFill>
                  <a:srgbClr val="373737"/>
                </a:solidFill>
              </a:rPr>
              <a:t>P</a:t>
            </a:r>
            <a:r>
              <a:rPr b="1" i="0" lang="en" u="none" cap="none" strike="noStrike">
                <a:solidFill>
                  <a:srgbClr val="373737"/>
                </a:solidFill>
              </a:rPr>
              <a:t>raise</a:t>
            </a:r>
            <a:br>
              <a:rPr b="0" i="0" lang="en" u="none" cap="none" strike="noStrike">
                <a:solidFill>
                  <a:srgbClr val="373737"/>
                </a:solidFill>
                <a:latin typeface="Arial"/>
                <a:ea typeface="Arial"/>
                <a:cs typeface="Arial"/>
                <a:sym typeface="Arial"/>
              </a:rPr>
            </a:br>
            <a:r>
              <a:rPr b="0" i="0" lang="en" u="none" cap="none" strike="noStrike">
                <a:solidFill>
                  <a:srgbClr val="373737"/>
                </a:solidFill>
                <a:latin typeface="Arial"/>
                <a:ea typeface="Arial"/>
                <a:cs typeface="Arial"/>
                <a:sym typeface="Arial"/>
              </a:rPr>
              <a:t>Why: “Good job” tells the student little about what was successful.</a:t>
            </a:r>
            <a:br>
              <a:rPr b="0" i="0" lang="en" u="none" cap="none" strike="noStrike">
                <a:solidFill>
                  <a:srgbClr val="373737"/>
                </a:solidFill>
                <a:latin typeface="Arial"/>
                <a:ea typeface="Arial"/>
                <a:cs typeface="Arial"/>
                <a:sym typeface="Arial"/>
              </a:rPr>
            </a:br>
            <a:r>
              <a:rPr b="0" i="0" lang="en" u="none" cap="none" strike="noStrike">
                <a:solidFill>
                  <a:srgbClr val="373737"/>
                </a:solidFill>
                <a:latin typeface="Arial"/>
                <a:ea typeface="Arial"/>
                <a:cs typeface="Arial"/>
                <a:sym typeface="Arial"/>
              </a:rPr>
              <a:t>Try: Name the observable action or performance and connect it to the goal.</a:t>
            </a:r>
            <a:endParaRPr/>
          </a:p>
        </p:txBody>
      </p:sp>
      <p:sp>
        <p:nvSpPr>
          <p:cNvPr id="153" name="Google Shape;153;p10"/>
          <p:cNvSpPr/>
          <p:nvPr/>
        </p:nvSpPr>
        <p:spPr>
          <a:xfrm>
            <a:off x="384050" y="1876775"/>
            <a:ext cx="6445800" cy="1093800"/>
          </a:xfrm>
          <a:prstGeom prst="roundRect">
            <a:avLst>
              <a:gd fmla="val 16667" name="adj"/>
            </a:avLst>
          </a:prstGeom>
          <a:solidFill>
            <a:srgbClr val="FFF7DE"/>
          </a:solidFill>
          <a:ln>
            <a:noFill/>
          </a:ln>
          <a:effectLst>
            <a:outerShdw blurRad="40000" rotWithShape="0" dir="5400000" dist="23000">
              <a:srgbClr val="000000">
                <a:alpha val="34902"/>
              </a:srgbClr>
            </a:outerShdw>
          </a:effectLst>
        </p:spPr>
        <p:txBody>
          <a:bodyPr anchorCtr="0" anchor="t" bIns="73150" lIns="73150" spcFirstLastPara="1" rIns="73150" wrap="square" tIns="73150">
            <a:noAutofit/>
          </a:bodyPr>
          <a:lstStyle/>
          <a:p>
            <a:pPr indent="0" lvl="0" marL="0" marR="0" rtl="0" algn="l">
              <a:lnSpc>
                <a:spcPct val="100000"/>
              </a:lnSpc>
              <a:spcBef>
                <a:spcPts val="0"/>
              </a:spcBef>
              <a:spcAft>
                <a:spcPts val="0"/>
              </a:spcAft>
              <a:buNone/>
            </a:pPr>
            <a:r>
              <a:rPr b="1" i="0" lang="en" u="none" cap="none" strike="noStrike">
                <a:solidFill>
                  <a:srgbClr val="373737"/>
                </a:solidFill>
              </a:rPr>
              <a:t>Feedback </a:t>
            </a:r>
            <a:r>
              <a:rPr b="1" lang="en">
                <a:solidFill>
                  <a:srgbClr val="373737"/>
                </a:solidFill>
              </a:rPr>
              <a:t>B</a:t>
            </a:r>
            <a:r>
              <a:rPr b="1" i="0" lang="en" u="none" cap="none" strike="noStrike">
                <a:solidFill>
                  <a:srgbClr val="373737"/>
                </a:solidFill>
              </a:rPr>
              <a:t>ecomes a </a:t>
            </a:r>
            <a:r>
              <a:rPr b="1" lang="en">
                <a:solidFill>
                  <a:srgbClr val="373737"/>
                </a:solidFill>
              </a:rPr>
              <a:t>R</a:t>
            </a:r>
            <a:r>
              <a:rPr b="1" i="0" lang="en" u="none" cap="none" strike="noStrike">
                <a:solidFill>
                  <a:srgbClr val="373737"/>
                </a:solidFill>
              </a:rPr>
              <a:t>eprimand</a:t>
            </a:r>
            <a:br>
              <a:rPr b="0" i="0" lang="en" u="none" cap="none" strike="noStrike">
                <a:solidFill>
                  <a:srgbClr val="373737"/>
                </a:solidFill>
                <a:latin typeface="Arial"/>
                <a:ea typeface="Arial"/>
                <a:cs typeface="Arial"/>
                <a:sym typeface="Arial"/>
              </a:rPr>
            </a:br>
            <a:r>
              <a:rPr b="0" i="0" lang="en" u="none" cap="none" strike="noStrike">
                <a:solidFill>
                  <a:srgbClr val="373737"/>
                </a:solidFill>
                <a:latin typeface="Arial"/>
                <a:ea typeface="Arial"/>
                <a:cs typeface="Arial"/>
                <a:sym typeface="Arial"/>
              </a:rPr>
              <a:t>Why: The teacher responds to an error without giving usable information.</a:t>
            </a:r>
            <a:br>
              <a:rPr b="0" i="0" lang="en" u="none" cap="none" strike="noStrike">
                <a:solidFill>
                  <a:srgbClr val="373737"/>
                </a:solidFill>
                <a:latin typeface="Arial"/>
                <a:ea typeface="Arial"/>
                <a:cs typeface="Arial"/>
                <a:sym typeface="Arial"/>
              </a:rPr>
            </a:br>
            <a:r>
              <a:rPr b="0" i="0" lang="en" u="none" cap="none" strike="noStrike">
                <a:solidFill>
                  <a:srgbClr val="373737"/>
                </a:solidFill>
                <a:latin typeface="Arial"/>
                <a:ea typeface="Arial"/>
                <a:cs typeface="Arial"/>
                <a:sym typeface="Arial"/>
              </a:rPr>
              <a:t>Try: State the mismatch, explain the next step, and provide another chance to respond.</a:t>
            </a:r>
            <a:endParaRPr/>
          </a:p>
        </p:txBody>
      </p:sp>
      <p:sp>
        <p:nvSpPr>
          <p:cNvPr id="154" name="Google Shape;154;p10"/>
          <p:cNvSpPr/>
          <p:nvPr/>
        </p:nvSpPr>
        <p:spPr>
          <a:xfrm>
            <a:off x="384050" y="3061875"/>
            <a:ext cx="6445800" cy="1093800"/>
          </a:xfrm>
          <a:prstGeom prst="roundRect">
            <a:avLst>
              <a:gd fmla="val 16667" name="adj"/>
            </a:avLst>
          </a:prstGeom>
          <a:solidFill>
            <a:srgbClr val="E0F4F1"/>
          </a:solidFill>
          <a:ln>
            <a:noFill/>
          </a:ln>
          <a:effectLst>
            <a:outerShdw blurRad="40000" rotWithShape="0" dir="5400000" dist="23000">
              <a:srgbClr val="000000">
                <a:alpha val="34902"/>
              </a:srgbClr>
            </a:outerShdw>
          </a:effectLst>
        </p:spPr>
        <p:txBody>
          <a:bodyPr anchorCtr="0" anchor="t" bIns="73150" lIns="73150" spcFirstLastPara="1" rIns="73150" wrap="square" tIns="73150">
            <a:noAutofit/>
          </a:bodyPr>
          <a:lstStyle/>
          <a:p>
            <a:pPr indent="0" lvl="0" marL="0" marR="0" rtl="0" algn="l">
              <a:lnSpc>
                <a:spcPct val="100000"/>
              </a:lnSpc>
              <a:spcBef>
                <a:spcPts val="0"/>
              </a:spcBef>
              <a:spcAft>
                <a:spcPts val="0"/>
              </a:spcAft>
              <a:buNone/>
            </a:pPr>
            <a:r>
              <a:rPr b="1" i="0" lang="en" u="none" cap="none" strike="noStrike">
                <a:solidFill>
                  <a:srgbClr val="373737"/>
                </a:solidFill>
              </a:rPr>
              <a:t>Feedback is </a:t>
            </a:r>
            <a:r>
              <a:rPr b="1" lang="en">
                <a:solidFill>
                  <a:srgbClr val="373737"/>
                </a:solidFill>
              </a:rPr>
              <a:t>N</a:t>
            </a:r>
            <a:r>
              <a:rPr b="1" i="0" lang="en" u="none" cap="none" strike="noStrike">
                <a:solidFill>
                  <a:srgbClr val="373737"/>
                </a:solidFill>
              </a:rPr>
              <a:t>ot </a:t>
            </a:r>
            <a:r>
              <a:rPr b="1" lang="en">
                <a:solidFill>
                  <a:srgbClr val="373737"/>
                </a:solidFill>
              </a:rPr>
              <a:t>I</a:t>
            </a:r>
            <a:r>
              <a:rPr b="1" i="0" lang="en" u="none" cap="none" strike="noStrike">
                <a:solidFill>
                  <a:srgbClr val="373737"/>
                </a:solidFill>
              </a:rPr>
              <a:t>ndividualized</a:t>
            </a:r>
            <a:br>
              <a:rPr b="0" i="0" lang="en" u="none" cap="none" strike="noStrike">
                <a:solidFill>
                  <a:srgbClr val="373737"/>
                </a:solidFill>
                <a:latin typeface="Arial"/>
                <a:ea typeface="Arial"/>
                <a:cs typeface="Arial"/>
                <a:sym typeface="Arial"/>
              </a:rPr>
            </a:br>
            <a:r>
              <a:rPr b="0" i="0" lang="en" u="none" cap="none" strike="noStrike">
                <a:solidFill>
                  <a:srgbClr val="373737"/>
                </a:solidFill>
                <a:latin typeface="Arial"/>
                <a:ea typeface="Arial"/>
                <a:cs typeface="Arial"/>
                <a:sym typeface="Arial"/>
              </a:rPr>
              <a:t>Why: The same delivery is used for every student and context.</a:t>
            </a:r>
            <a:br>
              <a:rPr b="0" i="0" lang="en" u="none" cap="none" strike="noStrike">
                <a:solidFill>
                  <a:srgbClr val="373737"/>
                </a:solidFill>
                <a:latin typeface="Arial"/>
                <a:ea typeface="Arial"/>
                <a:cs typeface="Arial"/>
                <a:sym typeface="Arial"/>
              </a:rPr>
            </a:br>
            <a:r>
              <a:rPr b="0" i="0" lang="en" u="none" cap="none" strike="noStrike">
                <a:solidFill>
                  <a:srgbClr val="373737"/>
                </a:solidFill>
                <a:latin typeface="Arial"/>
                <a:ea typeface="Arial"/>
                <a:cs typeface="Arial"/>
                <a:sym typeface="Arial"/>
              </a:rPr>
              <a:t>Try: Consider age, culture, preferences, privacy, task demands, and phase of learning.</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8" name="Shape 158"/>
        <p:cNvGrpSpPr/>
        <p:nvPr/>
      </p:nvGrpSpPr>
      <p:grpSpPr>
        <a:xfrm>
          <a:off x="0" y="0"/>
          <a:ext cx="0" cy="0"/>
          <a:chOff x="0" y="0"/>
          <a:chExt cx="0" cy="0"/>
        </a:xfrm>
      </p:grpSpPr>
      <p:sp>
        <p:nvSpPr>
          <p:cNvPr id="159" name="Google Shape;159;p11"/>
          <p:cNvSpPr txBox="1"/>
          <p:nvPr>
            <p:ph type="title"/>
          </p:nvPr>
        </p:nvSpPr>
        <p:spPr>
          <a:xfrm>
            <a:off x="311700" y="6550"/>
            <a:ext cx="8520600" cy="572700"/>
          </a:xfrm>
          <a:prstGeom prst="rect">
            <a:avLst/>
          </a:prstGeom>
          <a:noFill/>
          <a:ln>
            <a:noFill/>
          </a:ln>
        </p:spPr>
        <p:txBody>
          <a:bodyPr anchorCtr="0" anchor="t" bIns="73150" lIns="73150" spcFirstLastPara="1" rIns="73150" wrap="square" tIns="73150">
            <a:noAutofit/>
          </a:bodyPr>
          <a:lstStyle/>
          <a:p>
            <a:pPr indent="-457200" lvl="0" marL="457200" rtl="0" algn="ctr">
              <a:lnSpc>
                <a:spcPct val="100000"/>
              </a:lnSpc>
              <a:spcBef>
                <a:spcPts val="2000"/>
              </a:spcBef>
              <a:spcAft>
                <a:spcPts val="600"/>
              </a:spcAft>
              <a:buSzPts val="2800"/>
              <a:buNone/>
            </a:pPr>
            <a:r>
              <a:rPr b="1" lang="en" sz="3000">
                <a:solidFill>
                  <a:srgbClr val="2A3D4C"/>
                </a:solidFill>
                <a:latin typeface="Arial"/>
                <a:ea typeface="Arial"/>
                <a:cs typeface="Arial"/>
                <a:sym typeface="Arial"/>
              </a:rPr>
              <a:t>Feedback ≠ Praise ≠ Reprimand</a:t>
            </a:r>
            <a:endParaRPr b="1" sz="3000">
              <a:solidFill>
                <a:schemeClr val="accent1"/>
              </a:solidFill>
            </a:endParaRPr>
          </a:p>
        </p:txBody>
      </p:sp>
      <p:sp>
        <p:nvSpPr>
          <p:cNvPr id="160" name="Google Shape;160;p11"/>
          <p:cNvSpPr txBox="1"/>
          <p:nvPr>
            <p:ph idx="1" type="body"/>
          </p:nvPr>
        </p:nvSpPr>
        <p:spPr>
          <a:xfrm>
            <a:off x="311700" y="839625"/>
            <a:ext cx="4861200" cy="3372600"/>
          </a:xfrm>
          <a:prstGeom prst="rect">
            <a:avLst/>
          </a:prstGeom>
          <a:noFill/>
          <a:ln cap="flat" cmpd="sng" w="28575">
            <a:solidFill>
              <a:srgbClr val="C45C79"/>
            </a:solidFill>
            <a:prstDash val="solid"/>
            <a:round/>
            <a:headEnd len="sm" w="sm" type="none"/>
            <a:tailEnd len="sm" w="sm" type="none"/>
          </a:ln>
        </p:spPr>
        <p:txBody>
          <a:bodyPr anchorCtr="0" anchor="t" bIns="73150" lIns="73150" spcFirstLastPara="1" rIns="73150" wrap="square" tIns="73150">
            <a:noAutofit/>
          </a:bodyPr>
          <a:lstStyle/>
          <a:p>
            <a:pPr indent="0" lvl="0" marL="0" rtl="0" algn="l">
              <a:lnSpc>
                <a:spcPct val="100000"/>
              </a:lnSpc>
              <a:spcBef>
                <a:spcPts val="0"/>
              </a:spcBef>
              <a:spcAft>
                <a:spcPts val="0"/>
              </a:spcAft>
              <a:buSzPts val="1800"/>
              <a:buNone/>
            </a:pPr>
            <a:r>
              <a:rPr b="1" lang="en" sz="1600">
                <a:solidFill>
                  <a:srgbClr val="373737"/>
                </a:solidFill>
              </a:rPr>
              <a:t>Scenario: </a:t>
            </a:r>
            <a:r>
              <a:rPr b="0" lang="en" sz="1600">
                <a:solidFill>
                  <a:srgbClr val="373737"/>
                </a:solidFill>
                <a:latin typeface="Arial"/>
                <a:ea typeface="Arial"/>
                <a:cs typeface="Arial"/>
                <a:sym typeface="Arial"/>
              </a:rPr>
              <a:t>A student begins a writing task independently.</a:t>
            </a:r>
            <a:br>
              <a:rPr b="0" lang="en" sz="1600">
                <a:solidFill>
                  <a:srgbClr val="373737"/>
                </a:solidFill>
                <a:latin typeface="Arial"/>
                <a:ea typeface="Arial"/>
                <a:cs typeface="Arial"/>
                <a:sym typeface="Arial"/>
              </a:rPr>
            </a:br>
            <a:br>
              <a:rPr b="0" lang="en" sz="1200">
                <a:solidFill>
                  <a:srgbClr val="373737"/>
                </a:solidFill>
                <a:latin typeface="Arial"/>
                <a:ea typeface="Arial"/>
                <a:cs typeface="Arial"/>
                <a:sym typeface="Arial"/>
              </a:rPr>
            </a:br>
            <a:r>
              <a:rPr b="1" lang="en" sz="1600">
                <a:solidFill>
                  <a:srgbClr val="373737"/>
                </a:solidFill>
              </a:rPr>
              <a:t>PRAISE</a:t>
            </a:r>
            <a:r>
              <a:rPr lang="en" sz="1600">
                <a:solidFill>
                  <a:srgbClr val="373737"/>
                </a:solidFill>
              </a:rPr>
              <a:t>: </a:t>
            </a:r>
            <a:r>
              <a:rPr b="0" lang="en" sz="1600">
                <a:solidFill>
                  <a:srgbClr val="373737"/>
                </a:solidFill>
                <a:latin typeface="Arial"/>
                <a:ea typeface="Arial"/>
                <a:cs typeface="Arial"/>
                <a:sym typeface="Arial"/>
              </a:rPr>
              <a:t>Good job!</a:t>
            </a:r>
            <a:br>
              <a:rPr b="0" lang="en" sz="1600">
                <a:solidFill>
                  <a:srgbClr val="373737"/>
                </a:solidFill>
                <a:latin typeface="Arial"/>
                <a:ea typeface="Arial"/>
                <a:cs typeface="Arial"/>
                <a:sym typeface="Arial"/>
              </a:rPr>
            </a:br>
            <a:br>
              <a:rPr b="0" lang="en" sz="1200">
                <a:solidFill>
                  <a:srgbClr val="373737"/>
                </a:solidFill>
                <a:latin typeface="Arial"/>
                <a:ea typeface="Arial"/>
                <a:cs typeface="Arial"/>
                <a:sym typeface="Arial"/>
              </a:rPr>
            </a:br>
            <a:r>
              <a:rPr b="1" lang="en" sz="1600">
                <a:solidFill>
                  <a:srgbClr val="373737"/>
                </a:solidFill>
              </a:rPr>
              <a:t>REPRIMAND</a:t>
            </a:r>
            <a:r>
              <a:rPr lang="en" sz="1600">
                <a:solidFill>
                  <a:srgbClr val="373737"/>
                </a:solidFill>
              </a:rPr>
              <a:t>: </a:t>
            </a:r>
            <a:r>
              <a:rPr b="0" lang="en" sz="1600">
                <a:solidFill>
                  <a:srgbClr val="373737"/>
                </a:solidFill>
                <a:latin typeface="Arial"/>
                <a:ea typeface="Arial"/>
                <a:cs typeface="Arial"/>
                <a:sym typeface="Arial"/>
              </a:rPr>
              <a:t>You need to get to work.</a:t>
            </a:r>
            <a:br>
              <a:rPr b="0" lang="en" sz="1600">
                <a:solidFill>
                  <a:srgbClr val="373737"/>
                </a:solidFill>
                <a:latin typeface="Arial"/>
                <a:ea typeface="Arial"/>
                <a:cs typeface="Arial"/>
                <a:sym typeface="Arial"/>
              </a:rPr>
            </a:br>
            <a:br>
              <a:rPr b="0" lang="en" sz="1200">
                <a:solidFill>
                  <a:srgbClr val="373737"/>
                </a:solidFill>
                <a:latin typeface="Arial"/>
                <a:ea typeface="Arial"/>
                <a:cs typeface="Arial"/>
                <a:sym typeface="Arial"/>
              </a:rPr>
            </a:br>
            <a:r>
              <a:rPr b="1" lang="en" sz="1600">
                <a:solidFill>
                  <a:srgbClr val="373737"/>
                </a:solidFill>
              </a:rPr>
              <a:t>FEEDBACK</a:t>
            </a:r>
            <a:r>
              <a:rPr lang="en" sz="1600">
                <a:solidFill>
                  <a:srgbClr val="373737"/>
                </a:solidFill>
              </a:rPr>
              <a:t>: </a:t>
            </a:r>
            <a:r>
              <a:rPr b="0" lang="en" sz="1600">
                <a:solidFill>
                  <a:srgbClr val="373737"/>
                </a:solidFill>
                <a:latin typeface="Arial"/>
                <a:ea typeface="Arial"/>
                <a:cs typeface="Arial"/>
                <a:sym typeface="Arial"/>
              </a:rPr>
              <a:t>You started within 30 seconds and followed the first step independently. That shows you are using the plan. Next, underline the evidence you want to use.</a:t>
            </a:r>
            <a:br>
              <a:rPr b="0" lang="en" sz="1600">
                <a:solidFill>
                  <a:srgbClr val="373737"/>
                </a:solidFill>
                <a:latin typeface="Arial"/>
                <a:ea typeface="Arial"/>
                <a:cs typeface="Arial"/>
                <a:sym typeface="Arial"/>
              </a:rPr>
            </a:br>
            <a:endParaRPr b="1" sz="1200">
              <a:solidFill>
                <a:srgbClr val="8B63BE"/>
              </a:solidFill>
            </a:endParaRPr>
          </a:p>
          <a:p>
            <a:pPr indent="0" lvl="0" marL="0" rtl="0" algn="l">
              <a:lnSpc>
                <a:spcPct val="100000"/>
              </a:lnSpc>
              <a:spcBef>
                <a:spcPts val="0"/>
              </a:spcBef>
              <a:spcAft>
                <a:spcPts val="0"/>
              </a:spcAft>
              <a:buSzPts val="1800"/>
              <a:buNone/>
            </a:pPr>
            <a:r>
              <a:rPr b="1" lang="en" sz="1600">
                <a:solidFill>
                  <a:srgbClr val="4285F4"/>
                </a:solidFill>
              </a:rPr>
              <a:t>Fe</a:t>
            </a:r>
            <a:r>
              <a:rPr b="1" lang="en" sz="1600">
                <a:solidFill>
                  <a:srgbClr val="4285F4"/>
                </a:solidFill>
              </a:rPr>
              <a:t>edback names the performance, connects it to the goal, and points to the next action.</a:t>
            </a:r>
            <a:endParaRPr b="1" sz="1600">
              <a:solidFill>
                <a:srgbClr val="4285F4"/>
              </a:solidFill>
            </a:endParaRPr>
          </a:p>
        </p:txBody>
      </p:sp>
      <p:pic>
        <p:nvPicPr>
          <p:cNvPr id="161" name="Google Shape;161;p11" title="Screenshot 2026-06-03 at 3.13.19 PM.png"/>
          <p:cNvPicPr preferRelativeResize="0"/>
          <p:nvPr/>
        </p:nvPicPr>
        <p:blipFill rotWithShape="1">
          <a:blip r:embed="rId3">
            <a:alphaModFix/>
          </a:blip>
          <a:srcRect b="0" l="11017" r="11017" t="0"/>
          <a:stretch/>
        </p:blipFill>
        <p:spPr>
          <a:xfrm>
            <a:off x="0" y="4289900"/>
            <a:ext cx="9144003" cy="853600"/>
          </a:xfrm>
          <a:prstGeom prst="rect">
            <a:avLst/>
          </a:prstGeom>
          <a:noFill/>
          <a:ln>
            <a:noFill/>
          </a:ln>
        </p:spPr>
      </p:pic>
      <p:sp>
        <p:nvSpPr>
          <p:cNvPr id="162" name="Google Shape;162;p11"/>
          <p:cNvSpPr/>
          <p:nvPr/>
        </p:nvSpPr>
        <p:spPr>
          <a:xfrm>
            <a:off x="5341050" y="1136725"/>
            <a:ext cx="3697200" cy="2890200"/>
          </a:xfrm>
          <a:prstGeom prst="roundRect">
            <a:avLst>
              <a:gd fmla="val 16667" name="adj"/>
            </a:avLst>
          </a:prstGeom>
          <a:solidFill>
            <a:srgbClr val="E7F3FB"/>
          </a:solidFill>
          <a:ln>
            <a:noFill/>
          </a:ln>
          <a:effectLst>
            <a:outerShdw blurRad="40000" rotWithShape="0" dir="5400000" dist="23000">
              <a:srgbClr val="000000">
                <a:alpha val="34902"/>
              </a:srgbClr>
            </a:outerShdw>
          </a:effectLst>
        </p:spPr>
        <p:txBody>
          <a:bodyPr anchorCtr="0" anchor="t" bIns="109725" lIns="109725" spcFirstLastPara="1" rIns="109725" wrap="square" tIns="109725">
            <a:noAutofit/>
          </a:bodyPr>
          <a:lstStyle/>
          <a:p>
            <a:pPr indent="0" lvl="0" marL="0" marR="0" rtl="0" algn="l">
              <a:lnSpc>
                <a:spcPct val="100000"/>
              </a:lnSpc>
              <a:spcBef>
                <a:spcPts val="0"/>
              </a:spcBef>
              <a:spcAft>
                <a:spcPts val="0"/>
              </a:spcAft>
              <a:buNone/>
            </a:pPr>
            <a:r>
              <a:t/>
            </a:r>
            <a:endParaRPr b="1" sz="1600">
              <a:solidFill>
                <a:srgbClr val="373737"/>
              </a:solidFill>
            </a:endParaRPr>
          </a:p>
          <a:p>
            <a:pPr indent="0" lvl="0" marL="0" marR="0" rtl="0" algn="l">
              <a:lnSpc>
                <a:spcPct val="100000"/>
              </a:lnSpc>
              <a:spcBef>
                <a:spcPts val="0"/>
              </a:spcBef>
              <a:spcAft>
                <a:spcPts val="0"/>
              </a:spcAft>
              <a:buNone/>
            </a:pPr>
            <a:r>
              <a:rPr b="1" i="0" lang="en" sz="1600" u="none" cap="none" strike="noStrike">
                <a:solidFill>
                  <a:srgbClr val="373737"/>
                </a:solidFill>
              </a:rPr>
              <a:t>PRAISE</a:t>
            </a:r>
            <a:r>
              <a:rPr lang="en" sz="1600">
                <a:solidFill>
                  <a:srgbClr val="373737"/>
                </a:solidFill>
              </a:rPr>
              <a:t>: </a:t>
            </a:r>
            <a:r>
              <a:rPr b="0" i="0" lang="en" sz="1600" u="none" cap="none" strike="noStrike">
                <a:solidFill>
                  <a:srgbClr val="373737"/>
                </a:solidFill>
                <a:latin typeface="Arial"/>
                <a:ea typeface="Arial"/>
                <a:cs typeface="Arial"/>
                <a:sym typeface="Arial"/>
              </a:rPr>
              <a:t>Acknowledges something positive.</a:t>
            </a:r>
            <a:br>
              <a:rPr b="0" i="0" lang="en" sz="1600" u="none" cap="none" strike="noStrike">
                <a:solidFill>
                  <a:srgbClr val="373737"/>
                </a:solidFill>
                <a:latin typeface="Arial"/>
                <a:ea typeface="Arial"/>
                <a:cs typeface="Arial"/>
                <a:sym typeface="Arial"/>
              </a:rPr>
            </a:br>
            <a:br>
              <a:rPr b="0" i="0" lang="en" sz="1600" u="none" cap="none" strike="noStrike">
                <a:solidFill>
                  <a:srgbClr val="373737"/>
                </a:solidFill>
                <a:latin typeface="Arial"/>
                <a:ea typeface="Arial"/>
                <a:cs typeface="Arial"/>
                <a:sym typeface="Arial"/>
              </a:rPr>
            </a:br>
            <a:r>
              <a:rPr b="1" i="0" lang="en" sz="1600" u="none" cap="none" strike="noStrike">
                <a:solidFill>
                  <a:srgbClr val="373737"/>
                </a:solidFill>
              </a:rPr>
              <a:t>REPRIMAND</a:t>
            </a:r>
            <a:r>
              <a:rPr lang="en" sz="1600">
                <a:solidFill>
                  <a:srgbClr val="373737"/>
                </a:solidFill>
              </a:rPr>
              <a:t>: </a:t>
            </a:r>
            <a:r>
              <a:rPr b="0" i="0" lang="en" sz="1600" u="none" cap="none" strike="noStrike">
                <a:solidFill>
                  <a:srgbClr val="373737"/>
                </a:solidFill>
                <a:latin typeface="Arial"/>
                <a:ea typeface="Arial"/>
                <a:cs typeface="Arial"/>
                <a:sym typeface="Arial"/>
              </a:rPr>
              <a:t>Signals disapproval.</a:t>
            </a:r>
            <a:br>
              <a:rPr b="0" i="0" lang="en" sz="1600" u="none" cap="none" strike="noStrike">
                <a:solidFill>
                  <a:srgbClr val="373737"/>
                </a:solidFill>
                <a:latin typeface="Arial"/>
                <a:ea typeface="Arial"/>
                <a:cs typeface="Arial"/>
                <a:sym typeface="Arial"/>
              </a:rPr>
            </a:br>
            <a:br>
              <a:rPr b="0" i="0" lang="en" sz="1600" u="none" cap="none" strike="noStrike">
                <a:solidFill>
                  <a:srgbClr val="373737"/>
                </a:solidFill>
                <a:latin typeface="Arial"/>
                <a:ea typeface="Arial"/>
                <a:cs typeface="Arial"/>
                <a:sym typeface="Arial"/>
              </a:rPr>
            </a:br>
            <a:r>
              <a:rPr b="1" i="0" lang="en" sz="1600" u="none" cap="none" strike="noStrike">
                <a:solidFill>
                  <a:srgbClr val="C45C79"/>
                </a:solidFill>
              </a:rPr>
              <a:t>FEEDBACK:</a:t>
            </a:r>
            <a:r>
              <a:rPr lang="en" sz="1600">
                <a:solidFill>
                  <a:srgbClr val="C45C79"/>
                </a:solidFill>
              </a:rPr>
              <a:t> </a:t>
            </a:r>
            <a:r>
              <a:rPr b="0" i="0" lang="en" sz="1600" u="none" cap="none" strike="noStrike">
                <a:solidFill>
                  <a:srgbClr val="C45C79"/>
                </a:solidFill>
                <a:latin typeface="Arial"/>
                <a:ea typeface="Arial"/>
                <a:cs typeface="Arial"/>
                <a:sym typeface="Arial"/>
              </a:rPr>
              <a:t>Provides information the learner can use to maintain, revise, or improve performance.</a:t>
            </a:r>
            <a:endParaRPr sz="1600">
              <a:solidFill>
                <a:srgbClr val="C45C79"/>
              </a:solidFil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6" name="Shape 166"/>
        <p:cNvGrpSpPr/>
        <p:nvPr/>
      </p:nvGrpSpPr>
      <p:grpSpPr>
        <a:xfrm>
          <a:off x="0" y="0"/>
          <a:ext cx="0" cy="0"/>
          <a:chOff x="0" y="0"/>
          <a:chExt cx="0" cy="0"/>
        </a:xfrm>
      </p:grpSpPr>
      <p:sp>
        <p:nvSpPr>
          <p:cNvPr id="167" name="Google Shape;167;p12"/>
          <p:cNvSpPr txBox="1"/>
          <p:nvPr>
            <p:ph type="title"/>
          </p:nvPr>
        </p:nvSpPr>
        <p:spPr>
          <a:xfrm>
            <a:off x="311700" y="125800"/>
            <a:ext cx="8520600" cy="572700"/>
          </a:xfrm>
          <a:prstGeom prst="rect">
            <a:avLst/>
          </a:prstGeom>
          <a:noFill/>
          <a:ln>
            <a:noFill/>
          </a:ln>
        </p:spPr>
        <p:txBody>
          <a:bodyPr anchorCtr="0" anchor="t" bIns="73150" lIns="73150" spcFirstLastPara="1" rIns="73150" wrap="square" tIns="73150">
            <a:normAutofit/>
          </a:bodyPr>
          <a:lstStyle/>
          <a:p>
            <a:pPr indent="-457200" lvl="0" marL="457200" rtl="0" algn="l">
              <a:lnSpc>
                <a:spcPct val="100000"/>
              </a:lnSpc>
              <a:spcBef>
                <a:spcPts val="2000"/>
              </a:spcBef>
              <a:spcAft>
                <a:spcPts val="600"/>
              </a:spcAft>
              <a:buClr>
                <a:schemeClr val="dk1"/>
              </a:buClr>
              <a:buSzPts val="1100"/>
              <a:buFont typeface="Arial"/>
              <a:buNone/>
            </a:pPr>
            <a:r>
              <a:rPr b="1" lang="en" sz="2500">
                <a:solidFill>
                  <a:srgbClr val="2A3D4C"/>
                </a:solidFill>
                <a:latin typeface="Arial"/>
                <a:ea typeface="Arial"/>
                <a:cs typeface="Arial"/>
                <a:sym typeface="Arial"/>
              </a:rPr>
              <a:t>Implementation Tips: Before, During, After</a:t>
            </a:r>
            <a:endParaRPr b="1" sz="2600">
              <a:solidFill>
                <a:schemeClr val="accent1"/>
              </a:solidFill>
            </a:endParaRPr>
          </a:p>
        </p:txBody>
      </p:sp>
      <p:pic>
        <p:nvPicPr>
          <p:cNvPr id="168" name="Google Shape;168;p12" title="Screenshot 2026-06-03 at 3.13.19 PM.png"/>
          <p:cNvPicPr preferRelativeResize="0"/>
          <p:nvPr/>
        </p:nvPicPr>
        <p:blipFill rotWithShape="1">
          <a:blip r:embed="rId3">
            <a:alphaModFix/>
          </a:blip>
          <a:srcRect b="0" l="11017" r="11017" t="0"/>
          <a:stretch/>
        </p:blipFill>
        <p:spPr>
          <a:xfrm>
            <a:off x="0" y="4289900"/>
            <a:ext cx="9144003" cy="853600"/>
          </a:xfrm>
          <a:prstGeom prst="rect">
            <a:avLst/>
          </a:prstGeom>
          <a:noFill/>
          <a:ln>
            <a:noFill/>
          </a:ln>
        </p:spPr>
      </p:pic>
      <p:sp>
        <p:nvSpPr>
          <p:cNvPr id="169" name="Google Shape;169;p12"/>
          <p:cNvSpPr/>
          <p:nvPr/>
        </p:nvSpPr>
        <p:spPr>
          <a:xfrm>
            <a:off x="610307" y="744725"/>
            <a:ext cx="2046600" cy="444900"/>
          </a:xfrm>
          <a:prstGeom prst="roundRect">
            <a:avLst>
              <a:gd fmla="val 16667" name="adj"/>
            </a:avLst>
          </a:prstGeom>
          <a:solidFill>
            <a:srgbClr val="E7F3FB"/>
          </a:solidFill>
          <a:ln>
            <a:noFill/>
          </a:ln>
          <a:effectLst>
            <a:outerShdw blurRad="46329" rotWithShape="0" dir="5400000" dist="26639">
              <a:srgbClr val="000000">
                <a:alpha val="34902"/>
              </a:srgbClr>
            </a:outerShdw>
          </a:effectLst>
        </p:spPr>
        <p:txBody>
          <a:bodyPr anchorCtr="0" anchor="ctr" bIns="31750" lIns="31750" spcFirstLastPara="1" rIns="31750" wrap="square" tIns="31750">
            <a:noAutofit/>
          </a:bodyPr>
          <a:lstStyle/>
          <a:p>
            <a:pPr indent="0" lvl="0" marL="0" marR="0" rtl="0" algn="ctr">
              <a:lnSpc>
                <a:spcPct val="100000"/>
              </a:lnSpc>
              <a:spcBef>
                <a:spcPts val="0"/>
              </a:spcBef>
              <a:spcAft>
                <a:spcPts val="0"/>
              </a:spcAft>
              <a:buNone/>
            </a:pPr>
            <a:r>
              <a:rPr b="1" i="0" lang="en" sz="2085" u="none" cap="none" strike="noStrike">
                <a:solidFill>
                  <a:srgbClr val="2A3D4C"/>
                </a:solidFill>
                <a:latin typeface="Arial"/>
                <a:ea typeface="Arial"/>
                <a:cs typeface="Arial"/>
                <a:sym typeface="Arial"/>
              </a:rPr>
              <a:t>BEFORE</a:t>
            </a:r>
            <a:endParaRPr sz="2085"/>
          </a:p>
        </p:txBody>
      </p:sp>
      <p:sp>
        <p:nvSpPr>
          <p:cNvPr id="170" name="Google Shape;170;p12"/>
          <p:cNvSpPr/>
          <p:nvPr/>
        </p:nvSpPr>
        <p:spPr>
          <a:xfrm>
            <a:off x="610225" y="1274267"/>
            <a:ext cx="2046600" cy="2969400"/>
          </a:xfrm>
          <a:prstGeom prst="roundRect">
            <a:avLst>
              <a:gd fmla="val 16667" name="adj"/>
            </a:avLst>
          </a:prstGeom>
          <a:solidFill>
            <a:srgbClr val="E7F3FB"/>
          </a:solidFill>
          <a:ln>
            <a:noFill/>
          </a:ln>
          <a:effectLst>
            <a:outerShdw blurRad="46329" rotWithShape="0" dir="5400000" dist="26639">
              <a:srgbClr val="000000">
                <a:alpha val="34902"/>
              </a:srgbClr>
            </a:outerShdw>
          </a:effectLst>
        </p:spPr>
        <p:txBody>
          <a:bodyPr anchorCtr="0" anchor="t" bIns="95275" lIns="95275" spcFirstLastPara="1" rIns="95275" wrap="square" tIns="95275">
            <a:noAutofit/>
          </a:bodyPr>
          <a:lstStyle/>
          <a:p>
            <a:pPr indent="0" lvl="0" marL="0" marR="0" rtl="0" algn="l">
              <a:lnSpc>
                <a:spcPct val="100000"/>
              </a:lnSpc>
              <a:spcBef>
                <a:spcPts val="0"/>
              </a:spcBef>
              <a:spcAft>
                <a:spcPts val="0"/>
              </a:spcAft>
              <a:buNone/>
            </a:pPr>
            <a:r>
              <a:rPr b="0" i="0" lang="en" sz="1737" u="none" cap="none" strike="noStrike">
                <a:solidFill>
                  <a:srgbClr val="373737"/>
                </a:solidFill>
                <a:latin typeface="Arial"/>
                <a:ea typeface="Arial"/>
                <a:cs typeface="Arial"/>
                <a:sym typeface="Arial"/>
              </a:rPr>
              <a:t>Set a clear goal or expectation.</a:t>
            </a:r>
            <a:br>
              <a:rPr b="0" i="0" lang="en" sz="1737" u="none" cap="none" strike="noStrike">
                <a:solidFill>
                  <a:srgbClr val="373737"/>
                </a:solidFill>
                <a:latin typeface="Arial"/>
                <a:ea typeface="Arial"/>
                <a:cs typeface="Arial"/>
                <a:sym typeface="Arial"/>
              </a:rPr>
            </a:br>
            <a:r>
              <a:rPr b="0" i="0" lang="en" sz="1737" u="none" cap="none" strike="noStrike">
                <a:solidFill>
                  <a:srgbClr val="373737"/>
                </a:solidFill>
                <a:latin typeface="Arial"/>
                <a:ea typeface="Arial"/>
                <a:cs typeface="Arial"/>
                <a:sym typeface="Arial"/>
              </a:rPr>
              <a:t>Identify successful performance.</a:t>
            </a:r>
            <a:br>
              <a:rPr b="0" i="0" lang="en" sz="1737" u="none" cap="none" strike="noStrike">
                <a:solidFill>
                  <a:srgbClr val="373737"/>
                </a:solidFill>
                <a:latin typeface="Arial"/>
                <a:ea typeface="Arial"/>
                <a:cs typeface="Arial"/>
                <a:sym typeface="Arial"/>
              </a:rPr>
            </a:br>
            <a:r>
              <a:rPr b="0" i="0" lang="en" sz="1737" u="none" cap="none" strike="noStrike">
                <a:solidFill>
                  <a:srgbClr val="373737"/>
                </a:solidFill>
                <a:latin typeface="Arial"/>
                <a:ea typeface="Arial"/>
                <a:cs typeface="Arial"/>
                <a:sym typeface="Arial"/>
              </a:rPr>
              <a:t>Plan feedback prompts or sentence stems.</a:t>
            </a:r>
            <a:endParaRPr sz="1737"/>
          </a:p>
        </p:txBody>
      </p:sp>
      <p:sp>
        <p:nvSpPr>
          <p:cNvPr id="171" name="Google Shape;171;p12"/>
          <p:cNvSpPr/>
          <p:nvPr/>
        </p:nvSpPr>
        <p:spPr>
          <a:xfrm>
            <a:off x="3130488" y="698500"/>
            <a:ext cx="1956900" cy="444900"/>
          </a:xfrm>
          <a:prstGeom prst="roundRect">
            <a:avLst>
              <a:gd fmla="val 16667" name="adj"/>
            </a:avLst>
          </a:prstGeom>
          <a:solidFill>
            <a:srgbClr val="E0F4F1"/>
          </a:solidFill>
          <a:ln>
            <a:noFill/>
          </a:ln>
          <a:effectLst>
            <a:outerShdw blurRad="46329" rotWithShape="0" dir="5400000" dist="26639">
              <a:srgbClr val="000000">
                <a:alpha val="34902"/>
              </a:srgbClr>
            </a:outerShdw>
          </a:effectLst>
        </p:spPr>
        <p:txBody>
          <a:bodyPr anchorCtr="0" anchor="ctr" bIns="31750" lIns="31750" spcFirstLastPara="1" rIns="31750" wrap="square" tIns="31750">
            <a:noAutofit/>
          </a:bodyPr>
          <a:lstStyle/>
          <a:p>
            <a:pPr indent="0" lvl="0" marL="0" marR="0" rtl="0" algn="ctr">
              <a:lnSpc>
                <a:spcPct val="100000"/>
              </a:lnSpc>
              <a:spcBef>
                <a:spcPts val="0"/>
              </a:spcBef>
              <a:spcAft>
                <a:spcPts val="0"/>
              </a:spcAft>
              <a:buNone/>
            </a:pPr>
            <a:r>
              <a:rPr b="1" i="0" lang="en" sz="2085" u="none" cap="none" strike="noStrike">
                <a:solidFill>
                  <a:srgbClr val="2A3D4C"/>
                </a:solidFill>
                <a:latin typeface="Arial"/>
                <a:ea typeface="Arial"/>
                <a:cs typeface="Arial"/>
                <a:sym typeface="Arial"/>
              </a:rPr>
              <a:t>DURING</a:t>
            </a:r>
            <a:endParaRPr sz="2085"/>
          </a:p>
        </p:txBody>
      </p:sp>
      <p:sp>
        <p:nvSpPr>
          <p:cNvPr id="172" name="Google Shape;172;p12"/>
          <p:cNvSpPr/>
          <p:nvPr/>
        </p:nvSpPr>
        <p:spPr>
          <a:xfrm>
            <a:off x="3145196" y="1235840"/>
            <a:ext cx="1942200" cy="2969400"/>
          </a:xfrm>
          <a:prstGeom prst="roundRect">
            <a:avLst>
              <a:gd fmla="val 16667" name="adj"/>
            </a:avLst>
          </a:prstGeom>
          <a:solidFill>
            <a:srgbClr val="E0F4F1"/>
          </a:solidFill>
          <a:ln>
            <a:noFill/>
          </a:ln>
          <a:effectLst>
            <a:outerShdw blurRad="46329" rotWithShape="0" dir="5400000" dist="26639">
              <a:srgbClr val="000000">
                <a:alpha val="34902"/>
              </a:srgbClr>
            </a:outerShdw>
          </a:effectLst>
        </p:spPr>
        <p:txBody>
          <a:bodyPr anchorCtr="0" anchor="t" bIns="95275" lIns="95275" spcFirstLastPara="1" rIns="95275" wrap="square" tIns="95275">
            <a:noAutofit/>
          </a:bodyPr>
          <a:lstStyle/>
          <a:p>
            <a:pPr indent="0" lvl="0" marL="0" marR="0" rtl="0" algn="l">
              <a:lnSpc>
                <a:spcPct val="100000"/>
              </a:lnSpc>
              <a:spcBef>
                <a:spcPts val="0"/>
              </a:spcBef>
              <a:spcAft>
                <a:spcPts val="0"/>
              </a:spcAft>
              <a:buNone/>
            </a:pPr>
            <a:r>
              <a:rPr b="0" i="0" lang="en" sz="1737" u="none" cap="none" strike="noStrike">
                <a:solidFill>
                  <a:srgbClr val="373737"/>
                </a:solidFill>
                <a:latin typeface="Arial"/>
                <a:ea typeface="Arial"/>
                <a:cs typeface="Arial"/>
                <a:sym typeface="Arial"/>
              </a:rPr>
              <a:t>Observe the response.</a:t>
            </a:r>
            <a:br>
              <a:rPr b="0" i="0" lang="en" sz="1737" u="none" cap="none" strike="noStrike">
                <a:solidFill>
                  <a:srgbClr val="373737"/>
                </a:solidFill>
                <a:latin typeface="Arial"/>
                <a:ea typeface="Arial"/>
                <a:cs typeface="Arial"/>
                <a:sym typeface="Arial"/>
              </a:rPr>
            </a:br>
            <a:r>
              <a:rPr b="0" i="0" lang="en" sz="1737" u="none" cap="none" strike="noStrike">
                <a:solidFill>
                  <a:srgbClr val="373737"/>
                </a:solidFill>
                <a:latin typeface="Arial"/>
                <a:ea typeface="Arial"/>
                <a:cs typeface="Arial"/>
                <a:sym typeface="Arial"/>
              </a:rPr>
              <a:t>Give specific, timely feedback.</a:t>
            </a:r>
            <a:br>
              <a:rPr b="0" i="0" lang="en" sz="1737" u="none" cap="none" strike="noStrike">
                <a:solidFill>
                  <a:srgbClr val="373737"/>
                </a:solidFill>
                <a:latin typeface="Arial"/>
                <a:ea typeface="Arial"/>
                <a:cs typeface="Arial"/>
                <a:sym typeface="Arial"/>
              </a:rPr>
            </a:br>
            <a:r>
              <a:rPr b="0" i="0" lang="en" sz="1737" u="none" cap="none" strike="noStrike">
                <a:solidFill>
                  <a:srgbClr val="373737"/>
                </a:solidFill>
                <a:latin typeface="Arial"/>
                <a:ea typeface="Arial"/>
                <a:cs typeface="Arial"/>
                <a:sym typeface="Arial"/>
              </a:rPr>
              <a:t>Prompt the student to use it.</a:t>
            </a:r>
            <a:endParaRPr sz="1737"/>
          </a:p>
        </p:txBody>
      </p:sp>
      <p:sp>
        <p:nvSpPr>
          <p:cNvPr id="173" name="Google Shape;173;p12"/>
          <p:cNvSpPr/>
          <p:nvPr/>
        </p:nvSpPr>
        <p:spPr>
          <a:xfrm>
            <a:off x="5561177" y="698500"/>
            <a:ext cx="2326800" cy="444900"/>
          </a:xfrm>
          <a:prstGeom prst="roundRect">
            <a:avLst>
              <a:gd fmla="val 16667" name="adj"/>
            </a:avLst>
          </a:prstGeom>
          <a:solidFill>
            <a:srgbClr val="FFF7DE"/>
          </a:solidFill>
          <a:ln>
            <a:noFill/>
          </a:ln>
          <a:effectLst>
            <a:outerShdw blurRad="46329" rotWithShape="0" dir="5400000" dist="26639">
              <a:srgbClr val="000000">
                <a:alpha val="34902"/>
              </a:srgbClr>
            </a:outerShdw>
          </a:effectLst>
        </p:spPr>
        <p:txBody>
          <a:bodyPr anchorCtr="0" anchor="ctr" bIns="31750" lIns="31750" spcFirstLastPara="1" rIns="31750" wrap="square" tIns="31750">
            <a:noAutofit/>
          </a:bodyPr>
          <a:lstStyle/>
          <a:p>
            <a:pPr indent="0" lvl="0" marL="0" marR="0" rtl="0" algn="ctr">
              <a:lnSpc>
                <a:spcPct val="100000"/>
              </a:lnSpc>
              <a:spcBef>
                <a:spcPts val="0"/>
              </a:spcBef>
              <a:spcAft>
                <a:spcPts val="0"/>
              </a:spcAft>
              <a:buNone/>
            </a:pPr>
            <a:r>
              <a:rPr b="1" i="0" lang="en" sz="2085" u="none" cap="none" strike="noStrike">
                <a:solidFill>
                  <a:srgbClr val="2A3D4C"/>
                </a:solidFill>
                <a:latin typeface="Arial"/>
                <a:ea typeface="Arial"/>
                <a:cs typeface="Arial"/>
                <a:sym typeface="Arial"/>
              </a:rPr>
              <a:t>AFTER</a:t>
            </a:r>
            <a:endParaRPr sz="2085"/>
          </a:p>
        </p:txBody>
      </p:sp>
      <p:sp>
        <p:nvSpPr>
          <p:cNvPr id="174" name="Google Shape;174;p12"/>
          <p:cNvSpPr/>
          <p:nvPr/>
        </p:nvSpPr>
        <p:spPr>
          <a:xfrm>
            <a:off x="5559424" y="1228042"/>
            <a:ext cx="2326800" cy="2969400"/>
          </a:xfrm>
          <a:prstGeom prst="roundRect">
            <a:avLst>
              <a:gd fmla="val 16667" name="adj"/>
            </a:avLst>
          </a:prstGeom>
          <a:solidFill>
            <a:srgbClr val="FFF7DE"/>
          </a:solidFill>
          <a:ln>
            <a:noFill/>
          </a:ln>
          <a:effectLst>
            <a:outerShdw blurRad="46329" rotWithShape="0" dir="5400000" dist="26639">
              <a:srgbClr val="000000">
                <a:alpha val="34902"/>
              </a:srgbClr>
            </a:outerShdw>
          </a:effectLst>
        </p:spPr>
        <p:txBody>
          <a:bodyPr anchorCtr="0" anchor="t" bIns="95275" lIns="95275" spcFirstLastPara="1" rIns="95275" wrap="square" tIns="95275">
            <a:noAutofit/>
          </a:bodyPr>
          <a:lstStyle/>
          <a:p>
            <a:pPr indent="0" lvl="0" marL="0" marR="0" rtl="0" algn="l">
              <a:lnSpc>
                <a:spcPct val="100000"/>
              </a:lnSpc>
              <a:spcBef>
                <a:spcPts val="0"/>
              </a:spcBef>
              <a:spcAft>
                <a:spcPts val="0"/>
              </a:spcAft>
              <a:buNone/>
            </a:pPr>
            <a:r>
              <a:rPr b="0" i="0" lang="en" sz="1737" u="none" cap="none" strike="noStrike">
                <a:solidFill>
                  <a:srgbClr val="373737"/>
                </a:solidFill>
                <a:latin typeface="Arial"/>
                <a:ea typeface="Arial"/>
                <a:cs typeface="Arial"/>
                <a:sym typeface="Arial"/>
              </a:rPr>
              <a:t>Check whether performance changed.</a:t>
            </a:r>
            <a:br>
              <a:rPr b="0" i="0" lang="en" sz="1737" u="none" cap="none" strike="noStrike">
                <a:solidFill>
                  <a:srgbClr val="373737"/>
                </a:solidFill>
                <a:latin typeface="Arial"/>
                <a:ea typeface="Arial"/>
                <a:cs typeface="Arial"/>
                <a:sym typeface="Arial"/>
              </a:rPr>
            </a:br>
            <a:r>
              <a:rPr b="0" i="0" lang="en" sz="1737" u="none" cap="none" strike="noStrike">
                <a:solidFill>
                  <a:srgbClr val="373737"/>
                </a:solidFill>
                <a:latin typeface="Arial"/>
                <a:ea typeface="Arial"/>
                <a:cs typeface="Arial"/>
                <a:sym typeface="Arial"/>
              </a:rPr>
              <a:t>Fade or intensify feedback as needed.</a:t>
            </a:r>
            <a:br>
              <a:rPr b="0" i="0" lang="en" sz="1737" u="none" cap="none" strike="noStrike">
                <a:solidFill>
                  <a:srgbClr val="373737"/>
                </a:solidFill>
                <a:latin typeface="Arial"/>
                <a:ea typeface="Arial"/>
                <a:cs typeface="Arial"/>
                <a:sym typeface="Arial"/>
              </a:rPr>
            </a:br>
            <a:r>
              <a:rPr b="0" i="0" lang="en" sz="1737" u="none" cap="none" strike="noStrike">
                <a:solidFill>
                  <a:srgbClr val="373737"/>
                </a:solidFill>
                <a:latin typeface="Arial"/>
                <a:ea typeface="Arial"/>
                <a:cs typeface="Arial"/>
                <a:sym typeface="Arial"/>
              </a:rPr>
              <a:t>Record patterns when progress monitoring matters.</a:t>
            </a:r>
            <a:endParaRPr sz="1737"/>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8" name="Shape 178"/>
        <p:cNvGrpSpPr/>
        <p:nvPr/>
      </p:nvGrpSpPr>
      <p:grpSpPr>
        <a:xfrm>
          <a:off x="0" y="0"/>
          <a:ext cx="0" cy="0"/>
          <a:chOff x="0" y="0"/>
          <a:chExt cx="0" cy="0"/>
        </a:xfrm>
      </p:grpSpPr>
      <p:sp>
        <p:nvSpPr>
          <p:cNvPr id="179" name="Google Shape;179;p13"/>
          <p:cNvSpPr txBox="1"/>
          <p:nvPr>
            <p:ph type="title"/>
          </p:nvPr>
        </p:nvSpPr>
        <p:spPr>
          <a:xfrm>
            <a:off x="105825" y="94800"/>
            <a:ext cx="8520600" cy="572700"/>
          </a:xfrm>
          <a:prstGeom prst="rect">
            <a:avLst/>
          </a:prstGeom>
          <a:noFill/>
          <a:ln>
            <a:noFill/>
          </a:ln>
        </p:spPr>
        <p:txBody>
          <a:bodyPr anchorCtr="0" anchor="t" bIns="73150" lIns="73150" spcFirstLastPara="1" rIns="73150" wrap="square" tIns="73150">
            <a:noAutofit/>
          </a:bodyPr>
          <a:lstStyle/>
          <a:p>
            <a:pPr indent="-457200" lvl="0" marL="457200" rtl="0" algn="l">
              <a:lnSpc>
                <a:spcPct val="100000"/>
              </a:lnSpc>
              <a:spcBef>
                <a:spcPts val="2000"/>
              </a:spcBef>
              <a:spcAft>
                <a:spcPts val="600"/>
              </a:spcAft>
              <a:buSzPts val="2800"/>
              <a:buNone/>
            </a:pPr>
            <a:r>
              <a:rPr b="1" lang="en" sz="3000">
                <a:solidFill>
                  <a:srgbClr val="2A3D4C"/>
                </a:solidFill>
                <a:latin typeface="Arial"/>
                <a:ea typeface="Arial"/>
                <a:cs typeface="Arial"/>
                <a:sym typeface="Arial"/>
              </a:rPr>
              <a:t>Observable Indicators</a:t>
            </a:r>
            <a:endParaRPr sz="3000"/>
          </a:p>
        </p:txBody>
      </p:sp>
      <p:pic>
        <p:nvPicPr>
          <p:cNvPr id="180" name="Google Shape;180;p13" title="Screenshot 2026-06-03 at 3.13.19 PM.png"/>
          <p:cNvPicPr preferRelativeResize="0"/>
          <p:nvPr/>
        </p:nvPicPr>
        <p:blipFill rotWithShape="1">
          <a:blip r:embed="rId3">
            <a:alphaModFix/>
          </a:blip>
          <a:srcRect b="0" l="11017" r="11017" t="0"/>
          <a:stretch/>
        </p:blipFill>
        <p:spPr>
          <a:xfrm>
            <a:off x="0" y="4289900"/>
            <a:ext cx="9144003" cy="853600"/>
          </a:xfrm>
          <a:prstGeom prst="rect">
            <a:avLst/>
          </a:prstGeom>
          <a:noFill/>
          <a:ln>
            <a:noFill/>
          </a:ln>
        </p:spPr>
      </p:pic>
      <p:sp>
        <p:nvSpPr>
          <p:cNvPr id="181" name="Google Shape;181;p13"/>
          <p:cNvSpPr txBox="1"/>
          <p:nvPr/>
        </p:nvSpPr>
        <p:spPr>
          <a:xfrm>
            <a:off x="246925" y="667500"/>
            <a:ext cx="4910700" cy="3469200"/>
          </a:xfrm>
          <a:prstGeom prst="rect">
            <a:avLst/>
          </a:prstGeom>
          <a:noFill/>
          <a:ln>
            <a:noFill/>
          </a:ln>
        </p:spPr>
        <p:txBody>
          <a:bodyPr anchorCtr="0" anchor="t" bIns="73150" lIns="73150" spcFirstLastPara="1" rIns="73150" wrap="square" tIns="73150">
            <a:noAutofit/>
          </a:bodyPr>
          <a:lstStyle/>
          <a:p>
            <a:pPr indent="0" lvl="0" marL="0" marR="0" rtl="0" algn="l">
              <a:lnSpc>
                <a:spcPct val="100000"/>
              </a:lnSpc>
              <a:spcBef>
                <a:spcPts val="0"/>
              </a:spcBef>
              <a:spcAft>
                <a:spcPts val="0"/>
              </a:spcAft>
              <a:buClr>
                <a:srgbClr val="000000"/>
              </a:buClr>
              <a:buSzPts val="1200"/>
              <a:buFont typeface="Arial"/>
              <a:buNone/>
            </a:pPr>
            <a:r>
              <a:rPr b="1" i="0" lang="en" sz="1500" u="none" cap="none" strike="noStrike">
                <a:solidFill>
                  <a:srgbClr val="373737"/>
                </a:solidFill>
              </a:rPr>
              <a:t>WHAT SHOULD YOU SEE?</a:t>
            </a:r>
            <a:br>
              <a:rPr b="0" i="0" lang="en" sz="1500" u="none" cap="none" strike="noStrike">
                <a:solidFill>
                  <a:srgbClr val="373737"/>
                </a:solidFill>
                <a:latin typeface="Arial"/>
                <a:ea typeface="Arial"/>
                <a:cs typeface="Arial"/>
                <a:sym typeface="Arial"/>
              </a:rPr>
            </a:br>
            <a:r>
              <a:rPr b="0" i="0" lang="en" sz="1500" u="none" cap="none" strike="noStrike">
                <a:solidFill>
                  <a:srgbClr val="373737"/>
                </a:solidFill>
                <a:latin typeface="Arial"/>
                <a:ea typeface="Arial"/>
                <a:cs typeface="Arial"/>
                <a:sym typeface="Arial"/>
              </a:rPr>
              <a:t>• A clear goal or expectation is visible.</a:t>
            </a:r>
            <a:br>
              <a:rPr b="0" i="0" lang="en" sz="1500" u="none" cap="none" strike="noStrike">
                <a:solidFill>
                  <a:srgbClr val="373737"/>
                </a:solidFill>
                <a:latin typeface="Arial"/>
                <a:ea typeface="Arial"/>
                <a:cs typeface="Arial"/>
                <a:sym typeface="Arial"/>
              </a:rPr>
            </a:br>
            <a:r>
              <a:rPr b="0" i="0" lang="en" sz="1500" u="none" cap="none" strike="noStrike">
                <a:solidFill>
                  <a:srgbClr val="373737"/>
                </a:solidFill>
                <a:latin typeface="Arial"/>
                <a:ea typeface="Arial"/>
                <a:cs typeface="Arial"/>
                <a:sym typeface="Arial"/>
              </a:rPr>
              <a:t>• Feedback follows student performance.</a:t>
            </a:r>
            <a:br>
              <a:rPr b="0" i="0" lang="en" sz="1500" u="none" cap="none" strike="noStrike">
                <a:solidFill>
                  <a:srgbClr val="373737"/>
                </a:solidFill>
                <a:latin typeface="Arial"/>
                <a:ea typeface="Arial"/>
                <a:cs typeface="Arial"/>
                <a:sym typeface="Arial"/>
              </a:rPr>
            </a:br>
            <a:r>
              <a:rPr b="0" i="0" lang="en" sz="1500" u="none" cap="none" strike="noStrike">
                <a:solidFill>
                  <a:srgbClr val="373737"/>
                </a:solidFill>
                <a:latin typeface="Arial"/>
                <a:ea typeface="Arial"/>
                <a:cs typeface="Arial"/>
                <a:sym typeface="Arial"/>
              </a:rPr>
              <a:t>• Feedback identifies an observable strength, error, strategy, or next step.</a:t>
            </a:r>
            <a:br>
              <a:rPr b="0" i="0" lang="en" sz="1500" u="none" cap="none" strike="noStrike">
                <a:solidFill>
                  <a:srgbClr val="373737"/>
                </a:solidFill>
                <a:latin typeface="Arial"/>
                <a:ea typeface="Arial"/>
                <a:cs typeface="Arial"/>
                <a:sym typeface="Arial"/>
              </a:rPr>
            </a:br>
            <a:r>
              <a:rPr b="0" i="0" lang="en" sz="1500" u="none" cap="none" strike="noStrike">
                <a:solidFill>
                  <a:srgbClr val="373737"/>
                </a:solidFill>
                <a:latin typeface="Arial"/>
                <a:ea typeface="Arial"/>
                <a:cs typeface="Arial"/>
                <a:sym typeface="Arial"/>
              </a:rPr>
              <a:t>• Students have an opportunity to respond, revise, or continue.</a:t>
            </a:r>
            <a:br>
              <a:rPr b="0" i="0" lang="en" sz="1500" u="none" cap="none" strike="noStrike">
                <a:solidFill>
                  <a:srgbClr val="373737"/>
                </a:solidFill>
                <a:latin typeface="Arial"/>
                <a:ea typeface="Arial"/>
                <a:cs typeface="Arial"/>
                <a:sym typeface="Arial"/>
              </a:rPr>
            </a:br>
            <a:r>
              <a:rPr b="0" i="0" lang="en" sz="1500" u="none" cap="none" strike="noStrike">
                <a:solidFill>
                  <a:srgbClr val="373737"/>
                </a:solidFill>
                <a:latin typeface="Arial"/>
                <a:ea typeface="Arial"/>
                <a:cs typeface="Arial"/>
                <a:sym typeface="Arial"/>
              </a:rPr>
              <a:t>• Feedback is adjusted for individual learners and contexts.</a:t>
            </a:r>
            <a:br>
              <a:rPr b="0" i="0" lang="en" sz="1500" u="none" cap="none" strike="noStrike">
                <a:solidFill>
                  <a:srgbClr val="373737"/>
                </a:solidFill>
                <a:latin typeface="Arial"/>
                <a:ea typeface="Arial"/>
                <a:cs typeface="Arial"/>
                <a:sym typeface="Arial"/>
              </a:rPr>
            </a:br>
            <a:br>
              <a:rPr b="0" i="0" lang="en" sz="1500" u="none" cap="none" strike="noStrike">
                <a:solidFill>
                  <a:srgbClr val="373737"/>
                </a:solidFill>
                <a:latin typeface="Arial"/>
                <a:ea typeface="Arial"/>
                <a:cs typeface="Arial"/>
                <a:sym typeface="Arial"/>
              </a:rPr>
            </a:br>
            <a:r>
              <a:rPr b="1" i="0" lang="en" sz="1500" u="none" cap="none" strike="noStrike">
                <a:solidFill>
                  <a:srgbClr val="373737"/>
                </a:solidFill>
              </a:rPr>
              <a:t>WHAT SHOULD YOU HEAR?</a:t>
            </a:r>
            <a:br>
              <a:rPr b="0" i="0" lang="en" sz="1500" u="none" cap="none" strike="noStrike">
                <a:solidFill>
                  <a:srgbClr val="373737"/>
                </a:solidFill>
                <a:latin typeface="Arial"/>
                <a:ea typeface="Arial"/>
                <a:cs typeface="Arial"/>
                <a:sym typeface="Arial"/>
              </a:rPr>
            </a:br>
            <a:r>
              <a:rPr b="0" i="0" lang="en" sz="1500" u="none" cap="none" strike="noStrike">
                <a:solidFill>
                  <a:srgbClr val="373737"/>
                </a:solidFill>
                <a:latin typeface="Arial"/>
                <a:ea typeface="Arial"/>
                <a:cs typeface="Arial"/>
                <a:sym typeface="Arial"/>
              </a:rPr>
              <a:t>• Here is what you did…</a:t>
            </a:r>
            <a:br>
              <a:rPr b="0" i="0" lang="en" sz="1500" u="none" cap="none" strike="noStrike">
                <a:solidFill>
                  <a:srgbClr val="373737"/>
                </a:solidFill>
                <a:latin typeface="Arial"/>
                <a:ea typeface="Arial"/>
                <a:cs typeface="Arial"/>
                <a:sym typeface="Arial"/>
              </a:rPr>
            </a:br>
            <a:r>
              <a:rPr b="0" i="0" lang="en" sz="1500" u="none" cap="none" strike="noStrike">
                <a:solidFill>
                  <a:srgbClr val="373737"/>
                </a:solidFill>
                <a:latin typeface="Arial"/>
                <a:ea typeface="Arial"/>
                <a:cs typeface="Arial"/>
                <a:sym typeface="Arial"/>
              </a:rPr>
              <a:t>• This matches our goal because…</a:t>
            </a:r>
            <a:br>
              <a:rPr b="0" i="0" lang="en" sz="1500" u="none" cap="none" strike="noStrike">
                <a:solidFill>
                  <a:srgbClr val="373737"/>
                </a:solidFill>
                <a:latin typeface="Arial"/>
                <a:ea typeface="Arial"/>
                <a:cs typeface="Arial"/>
                <a:sym typeface="Arial"/>
              </a:rPr>
            </a:br>
            <a:r>
              <a:rPr b="0" i="0" lang="en" sz="1500" u="none" cap="none" strike="noStrike">
                <a:solidFill>
                  <a:srgbClr val="373737"/>
                </a:solidFill>
                <a:latin typeface="Arial"/>
                <a:ea typeface="Arial"/>
                <a:cs typeface="Arial"/>
                <a:sym typeface="Arial"/>
              </a:rPr>
              <a:t>• Here is what to try next…</a:t>
            </a:r>
            <a:endParaRPr sz="1500">
              <a:solidFill>
                <a:srgbClr val="373737"/>
              </a:solidFill>
            </a:endParaRPr>
          </a:p>
          <a:p>
            <a:pPr indent="0" lvl="0" marL="0" marR="0" rtl="0" algn="l">
              <a:lnSpc>
                <a:spcPct val="100000"/>
              </a:lnSpc>
              <a:spcBef>
                <a:spcPts val="0"/>
              </a:spcBef>
              <a:spcAft>
                <a:spcPts val="0"/>
              </a:spcAft>
              <a:buClr>
                <a:srgbClr val="000000"/>
              </a:buClr>
              <a:buSzPts val="1200"/>
              <a:buFont typeface="Arial"/>
              <a:buNone/>
            </a:pPr>
            <a:r>
              <a:rPr b="0" i="0" lang="en" sz="1500" u="none" cap="none" strike="noStrike">
                <a:solidFill>
                  <a:srgbClr val="373737"/>
                </a:solidFill>
                <a:latin typeface="Arial"/>
                <a:ea typeface="Arial"/>
                <a:cs typeface="Arial"/>
                <a:sym typeface="Arial"/>
              </a:rPr>
              <a:t>• Show me how you will use that feedback.</a:t>
            </a:r>
            <a:endParaRPr b="1" i="0" sz="1500" u="none" cap="none" strike="noStrike">
              <a:solidFill>
                <a:srgbClr val="000000"/>
              </a:solidFill>
              <a:latin typeface="Arial"/>
              <a:ea typeface="Arial"/>
              <a:cs typeface="Arial"/>
              <a:sym typeface="Arial"/>
            </a:endParaRPr>
          </a:p>
        </p:txBody>
      </p:sp>
      <p:sp>
        <p:nvSpPr>
          <p:cNvPr id="182" name="Google Shape;182;p13"/>
          <p:cNvSpPr/>
          <p:nvPr/>
        </p:nvSpPr>
        <p:spPr>
          <a:xfrm>
            <a:off x="4903600" y="331600"/>
            <a:ext cx="4148700" cy="3873600"/>
          </a:xfrm>
          <a:prstGeom prst="roundRect">
            <a:avLst>
              <a:gd fmla="val 16667" name="adj"/>
            </a:avLst>
          </a:prstGeom>
          <a:solidFill>
            <a:srgbClr val="E0F4F1"/>
          </a:solidFill>
          <a:ln>
            <a:noFill/>
          </a:ln>
          <a:effectLst>
            <a:outerShdw blurRad="40000" rotWithShape="0" dir="5400000" dist="23000">
              <a:srgbClr val="000000">
                <a:alpha val="34902"/>
              </a:srgbClr>
            </a:outerShdw>
          </a:effectLst>
        </p:spPr>
        <p:txBody>
          <a:bodyPr anchorCtr="0" anchor="t" bIns="91425" lIns="91425" spcFirstLastPara="1" rIns="91425" wrap="square" tIns="91425">
            <a:noAutofit/>
          </a:bodyPr>
          <a:lstStyle/>
          <a:p>
            <a:pPr indent="0" lvl="0" marL="0" marR="0" rtl="0" algn="l">
              <a:lnSpc>
                <a:spcPct val="100000"/>
              </a:lnSpc>
              <a:spcBef>
                <a:spcPts val="0"/>
              </a:spcBef>
              <a:spcAft>
                <a:spcPts val="0"/>
              </a:spcAft>
              <a:buNone/>
            </a:pPr>
            <a:r>
              <a:rPr b="1" i="0" lang="en" sz="1600" u="none" cap="none" strike="noStrike">
                <a:solidFill>
                  <a:srgbClr val="373737"/>
                </a:solidFill>
              </a:rPr>
              <a:t>EDUCATOR ACTIONS</a:t>
            </a:r>
            <a:br>
              <a:rPr b="0" i="0" lang="en" sz="1600" u="none" cap="none" strike="noStrike">
                <a:solidFill>
                  <a:srgbClr val="373737"/>
                </a:solidFill>
                <a:latin typeface="Arial"/>
                <a:ea typeface="Arial"/>
                <a:cs typeface="Arial"/>
                <a:sym typeface="Arial"/>
              </a:rPr>
            </a:br>
            <a:r>
              <a:rPr b="0" i="0" lang="en" sz="1500" u="none" cap="none" strike="noStrike">
                <a:solidFill>
                  <a:srgbClr val="373737"/>
                </a:solidFill>
                <a:latin typeface="Arial"/>
                <a:ea typeface="Arial"/>
                <a:cs typeface="Arial"/>
                <a:sym typeface="Arial"/>
              </a:rPr>
              <a:t>• States or references the goal.</a:t>
            </a:r>
            <a:br>
              <a:rPr b="0" i="0" lang="en" sz="1500" u="none" cap="none" strike="noStrike">
                <a:solidFill>
                  <a:srgbClr val="373737"/>
                </a:solidFill>
                <a:latin typeface="Arial"/>
                <a:ea typeface="Arial"/>
                <a:cs typeface="Arial"/>
                <a:sym typeface="Arial"/>
              </a:rPr>
            </a:br>
            <a:r>
              <a:rPr b="0" i="0" lang="en" sz="1500" u="none" cap="none" strike="noStrike">
                <a:solidFill>
                  <a:srgbClr val="373737"/>
                </a:solidFill>
                <a:latin typeface="Arial"/>
                <a:ea typeface="Arial"/>
                <a:cs typeface="Arial"/>
                <a:sym typeface="Arial"/>
              </a:rPr>
              <a:t>• Provides specific positive/corrective information.</a:t>
            </a:r>
            <a:br>
              <a:rPr b="0" i="0" lang="en" sz="1500" u="none" cap="none" strike="noStrike">
                <a:solidFill>
                  <a:srgbClr val="373737"/>
                </a:solidFill>
                <a:latin typeface="Arial"/>
                <a:ea typeface="Arial"/>
                <a:cs typeface="Arial"/>
                <a:sym typeface="Arial"/>
              </a:rPr>
            </a:br>
            <a:r>
              <a:rPr b="0" i="0" lang="en" sz="1500" u="none" cap="none" strike="noStrike">
                <a:solidFill>
                  <a:srgbClr val="373737"/>
                </a:solidFill>
                <a:latin typeface="Arial"/>
                <a:ea typeface="Arial"/>
                <a:cs typeface="Arial"/>
                <a:sym typeface="Arial"/>
              </a:rPr>
              <a:t>• Connects feedback to a next step.</a:t>
            </a:r>
            <a:br>
              <a:rPr b="0" i="0" lang="en" sz="1500" u="none" cap="none" strike="noStrike">
                <a:solidFill>
                  <a:srgbClr val="373737"/>
                </a:solidFill>
                <a:latin typeface="Arial"/>
                <a:ea typeface="Arial"/>
                <a:cs typeface="Arial"/>
                <a:sym typeface="Arial"/>
              </a:rPr>
            </a:br>
            <a:r>
              <a:rPr b="0" i="0" lang="en" sz="1500" u="none" cap="none" strike="noStrike">
                <a:solidFill>
                  <a:srgbClr val="373737"/>
                </a:solidFill>
                <a:latin typeface="Arial"/>
                <a:ea typeface="Arial"/>
                <a:cs typeface="Arial"/>
                <a:sym typeface="Arial"/>
              </a:rPr>
              <a:t>• Individualizes delivery and monitors response.</a:t>
            </a:r>
            <a:br>
              <a:rPr b="0" i="0" lang="en" sz="1500" u="none" cap="none" strike="noStrike">
                <a:solidFill>
                  <a:srgbClr val="373737"/>
                </a:solidFill>
                <a:latin typeface="Arial"/>
                <a:ea typeface="Arial"/>
                <a:cs typeface="Arial"/>
                <a:sym typeface="Arial"/>
              </a:rPr>
            </a:br>
            <a:br>
              <a:rPr b="0" i="0" lang="en" sz="1000" u="none" cap="none" strike="noStrike">
                <a:solidFill>
                  <a:srgbClr val="373737"/>
                </a:solidFill>
                <a:latin typeface="Arial"/>
                <a:ea typeface="Arial"/>
                <a:cs typeface="Arial"/>
                <a:sym typeface="Arial"/>
              </a:rPr>
            </a:br>
            <a:r>
              <a:rPr b="1" i="0" lang="en" sz="1600" u="none" cap="none" strike="noStrike">
                <a:solidFill>
                  <a:srgbClr val="373737"/>
                </a:solidFill>
              </a:rPr>
              <a:t>STUDENT ACTIONS</a:t>
            </a:r>
            <a:br>
              <a:rPr b="0" i="0" lang="en" sz="1600" u="none" cap="none" strike="noStrike">
                <a:solidFill>
                  <a:srgbClr val="373737"/>
                </a:solidFill>
                <a:latin typeface="Arial"/>
                <a:ea typeface="Arial"/>
                <a:cs typeface="Arial"/>
                <a:sym typeface="Arial"/>
              </a:rPr>
            </a:br>
            <a:r>
              <a:rPr b="0" i="0" lang="en" sz="1500" u="none" cap="none" strike="noStrike">
                <a:solidFill>
                  <a:srgbClr val="373737"/>
                </a:solidFill>
                <a:latin typeface="Arial"/>
                <a:ea typeface="Arial"/>
                <a:cs typeface="Arial"/>
                <a:sym typeface="Arial"/>
              </a:rPr>
              <a:t>• Identifies the target.</a:t>
            </a:r>
            <a:br>
              <a:rPr b="0" i="0" lang="en" sz="1500" u="none" cap="none" strike="noStrike">
                <a:solidFill>
                  <a:srgbClr val="373737"/>
                </a:solidFill>
                <a:latin typeface="Arial"/>
                <a:ea typeface="Arial"/>
                <a:cs typeface="Arial"/>
                <a:sym typeface="Arial"/>
              </a:rPr>
            </a:br>
            <a:r>
              <a:rPr b="0" i="0" lang="en" sz="1500" u="none" cap="none" strike="noStrike">
                <a:solidFill>
                  <a:srgbClr val="373737"/>
                </a:solidFill>
                <a:latin typeface="Arial"/>
                <a:ea typeface="Arial"/>
                <a:cs typeface="Arial"/>
                <a:sym typeface="Arial"/>
              </a:rPr>
              <a:t>• Understands what was successful or needs adjustment.</a:t>
            </a:r>
            <a:br>
              <a:rPr b="0" i="0" lang="en" sz="1500" u="none" cap="none" strike="noStrike">
                <a:solidFill>
                  <a:srgbClr val="373737"/>
                </a:solidFill>
                <a:latin typeface="Arial"/>
                <a:ea typeface="Arial"/>
                <a:cs typeface="Arial"/>
                <a:sym typeface="Arial"/>
              </a:rPr>
            </a:br>
            <a:r>
              <a:rPr b="0" i="0" lang="en" sz="1500" u="none" cap="none" strike="noStrike">
                <a:solidFill>
                  <a:srgbClr val="373737"/>
                </a:solidFill>
                <a:latin typeface="Arial"/>
                <a:ea typeface="Arial"/>
                <a:cs typeface="Arial"/>
                <a:sym typeface="Arial"/>
              </a:rPr>
              <a:t>• Uses feedback to revise, retry, or continue.</a:t>
            </a:r>
            <a:br>
              <a:rPr b="0" i="0" lang="en" sz="1500" u="none" cap="none" strike="noStrike">
                <a:solidFill>
                  <a:srgbClr val="373737"/>
                </a:solidFill>
                <a:latin typeface="Arial"/>
                <a:ea typeface="Arial"/>
                <a:cs typeface="Arial"/>
                <a:sym typeface="Arial"/>
              </a:rPr>
            </a:br>
            <a:r>
              <a:rPr b="0" i="0" lang="en" sz="1500" u="none" cap="none" strike="noStrike">
                <a:solidFill>
                  <a:srgbClr val="373737"/>
                </a:solidFill>
                <a:latin typeface="Arial"/>
                <a:ea typeface="Arial"/>
                <a:cs typeface="Arial"/>
                <a:sym typeface="Arial"/>
              </a:rPr>
              <a:t>• Demonstrates increasing independence.</a:t>
            </a:r>
            <a:endParaRPr sz="1500"/>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6" name="Shape 186"/>
        <p:cNvGrpSpPr/>
        <p:nvPr/>
      </p:nvGrpSpPr>
      <p:grpSpPr>
        <a:xfrm>
          <a:off x="0" y="0"/>
          <a:ext cx="0" cy="0"/>
          <a:chOff x="0" y="0"/>
          <a:chExt cx="0" cy="0"/>
        </a:xfrm>
      </p:grpSpPr>
      <p:pic>
        <p:nvPicPr>
          <p:cNvPr id="187" name="Google Shape;187;p14" title="Screenshot 2026-06-03 at 3.13.19 PM.png"/>
          <p:cNvPicPr preferRelativeResize="0"/>
          <p:nvPr/>
        </p:nvPicPr>
        <p:blipFill rotWithShape="1">
          <a:blip r:embed="rId3">
            <a:alphaModFix/>
          </a:blip>
          <a:srcRect b="0" l="11017" r="11017" t="0"/>
          <a:stretch/>
        </p:blipFill>
        <p:spPr>
          <a:xfrm>
            <a:off x="0" y="4289900"/>
            <a:ext cx="9144003" cy="853600"/>
          </a:xfrm>
          <a:prstGeom prst="rect">
            <a:avLst/>
          </a:prstGeom>
          <a:noFill/>
          <a:ln>
            <a:noFill/>
          </a:ln>
        </p:spPr>
      </p:pic>
      <p:sp>
        <p:nvSpPr>
          <p:cNvPr id="188" name="Google Shape;188;p14"/>
          <p:cNvSpPr txBox="1"/>
          <p:nvPr/>
        </p:nvSpPr>
        <p:spPr>
          <a:xfrm>
            <a:off x="176400" y="1894925"/>
            <a:ext cx="8791200" cy="2168700"/>
          </a:xfrm>
          <a:prstGeom prst="rect">
            <a:avLst/>
          </a:prstGeom>
          <a:noFill/>
          <a:ln>
            <a:noFill/>
          </a:ln>
        </p:spPr>
        <p:txBody>
          <a:bodyPr anchorCtr="0" anchor="t" bIns="73150" lIns="73150" spcFirstLastPara="1" rIns="73150" wrap="square" tIns="73150">
            <a:noAutofit/>
          </a:bodyPr>
          <a:lstStyle/>
          <a:p>
            <a:pPr indent="0" lvl="0" marL="114300" marR="0" rtl="0" algn="l">
              <a:lnSpc>
                <a:spcPct val="115000"/>
              </a:lnSpc>
              <a:spcBef>
                <a:spcPts val="1200"/>
              </a:spcBef>
              <a:spcAft>
                <a:spcPts val="0"/>
              </a:spcAft>
              <a:buNone/>
            </a:pPr>
            <a:r>
              <a:rPr b="0" i="0" lang="en" sz="1600" u="none" cap="none" strike="noStrike">
                <a:solidFill>
                  <a:srgbClr val="373737"/>
                </a:solidFill>
                <a:latin typeface="Arial"/>
                <a:ea typeface="Arial"/>
                <a:cs typeface="Arial"/>
                <a:sym typeface="Arial"/>
              </a:rPr>
              <a:t>1. Which component of HLP 8/22 is currently a strength in your practice?</a:t>
            </a:r>
            <a:br>
              <a:rPr b="0" i="0" lang="en" sz="1600" u="none" cap="none" strike="noStrike">
                <a:solidFill>
                  <a:srgbClr val="373737"/>
                </a:solidFill>
                <a:latin typeface="Arial"/>
                <a:ea typeface="Arial"/>
                <a:cs typeface="Arial"/>
                <a:sym typeface="Arial"/>
              </a:rPr>
            </a:br>
            <a:r>
              <a:rPr b="0" i="0" lang="en" sz="1600" u="none" cap="none" strike="noStrike">
                <a:solidFill>
                  <a:srgbClr val="373737"/>
                </a:solidFill>
                <a:latin typeface="Arial"/>
                <a:ea typeface="Arial"/>
                <a:cs typeface="Arial"/>
                <a:sym typeface="Arial"/>
              </a:rPr>
              <a:t>2. Which component would most improve student outcomes if strengthened?</a:t>
            </a:r>
            <a:br>
              <a:rPr b="0" i="0" lang="en" sz="1600" u="none" cap="none" strike="noStrike">
                <a:solidFill>
                  <a:srgbClr val="373737"/>
                </a:solidFill>
                <a:latin typeface="Arial"/>
                <a:ea typeface="Arial"/>
                <a:cs typeface="Arial"/>
                <a:sym typeface="Arial"/>
              </a:rPr>
            </a:br>
            <a:r>
              <a:rPr b="0" i="0" lang="en" sz="1600" u="none" cap="none" strike="noStrike">
                <a:solidFill>
                  <a:srgbClr val="373737"/>
                </a:solidFill>
                <a:latin typeface="Arial"/>
                <a:ea typeface="Arial"/>
                <a:cs typeface="Arial"/>
                <a:sym typeface="Arial"/>
              </a:rPr>
              <a:t>3. Where do you tend to use praise, reprimands, or generic feedback instead of constructive feedback?</a:t>
            </a:r>
            <a:br>
              <a:rPr b="0" i="0" lang="en" sz="1600" u="none" cap="none" strike="noStrike">
                <a:solidFill>
                  <a:srgbClr val="373737"/>
                </a:solidFill>
                <a:latin typeface="Arial"/>
                <a:ea typeface="Arial"/>
                <a:cs typeface="Arial"/>
                <a:sym typeface="Arial"/>
              </a:rPr>
            </a:br>
            <a:r>
              <a:rPr b="0" i="0" lang="en" sz="1600" u="none" cap="none" strike="noStrike">
                <a:solidFill>
                  <a:srgbClr val="373737"/>
                </a:solidFill>
                <a:latin typeface="Arial"/>
                <a:ea typeface="Arial"/>
                <a:cs typeface="Arial"/>
                <a:sym typeface="Arial"/>
              </a:rPr>
              <a:t>4. What barrier might make implementation difficult—and what is one strategy you could try?</a:t>
            </a:r>
            <a:br>
              <a:rPr b="0" i="0" lang="en" sz="1600" u="none" cap="none" strike="noStrike">
                <a:solidFill>
                  <a:srgbClr val="373737"/>
                </a:solidFill>
                <a:latin typeface="Arial"/>
                <a:ea typeface="Arial"/>
                <a:cs typeface="Arial"/>
                <a:sym typeface="Arial"/>
              </a:rPr>
            </a:br>
            <a:r>
              <a:rPr b="0" i="0" lang="en" sz="1600" u="none" cap="none" strike="noStrike">
                <a:solidFill>
                  <a:srgbClr val="373737"/>
                </a:solidFill>
                <a:latin typeface="Arial"/>
                <a:ea typeface="Arial"/>
                <a:cs typeface="Arial"/>
                <a:sym typeface="Arial"/>
              </a:rPr>
              <a:t>5. How will you know whether students are using your feedback?</a:t>
            </a:r>
            <a:endParaRPr b="0" i="0" sz="1800" u="none" cap="none" strike="noStrike">
              <a:solidFill>
                <a:schemeClr val="dk1"/>
              </a:solidFill>
              <a:latin typeface="Arial"/>
              <a:ea typeface="Arial"/>
              <a:cs typeface="Arial"/>
              <a:sym typeface="Arial"/>
            </a:endParaRPr>
          </a:p>
        </p:txBody>
      </p:sp>
      <p:pic>
        <p:nvPicPr>
          <p:cNvPr id="189" name="Google Shape;189;p14" title="AdobeStock_396413197.jpeg"/>
          <p:cNvPicPr preferRelativeResize="0"/>
          <p:nvPr/>
        </p:nvPicPr>
        <p:blipFill rotWithShape="1">
          <a:blip r:embed="rId4">
            <a:alphaModFix/>
          </a:blip>
          <a:srcRect b="0" l="0" r="0" t="0"/>
          <a:stretch/>
        </p:blipFill>
        <p:spPr>
          <a:xfrm>
            <a:off x="532600" y="167800"/>
            <a:ext cx="8190602" cy="1778200"/>
          </a:xfrm>
          <a:prstGeom prst="rect">
            <a:avLst/>
          </a:prstGeom>
          <a:noFill/>
          <a:ln>
            <a:noFill/>
          </a:ln>
        </p:spPr>
      </p:pic>
      <p:sp>
        <p:nvSpPr>
          <p:cNvPr id="190" name="Google Shape;190;p14"/>
          <p:cNvSpPr txBox="1"/>
          <p:nvPr>
            <p:ph type="title"/>
          </p:nvPr>
        </p:nvSpPr>
        <p:spPr>
          <a:xfrm>
            <a:off x="476700" y="0"/>
            <a:ext cx="8520600" cy="627300"/>
          </a:xfrm>
          <a:prstGeom prst="rect">
            <a:avLst/>
          </a:prstGeom>
          <a:noFill/>
          <a:ln>
            <a:noFill/>
          </a:ln>
        </p:spPr>
        <p:txBody>
          <a:bodyPr anchorCtr="0" anchor="t" bIns="73150" lIns="73150" spcFirstLastPara="1" rIns="73150" wrap="square" tIns="73150">
            <a:normAutofit/>
          </a:bodyPr>
          <a:lstStyle/>
          <a:p>
            <a:pPr indent="-457200" lvl="0" marL="457200" rtl="0" algn="l">
              <a:lnSpc>
                <a:spcPct val="100000"/>
              </a:lnSpc>
              <a:spcBef>
                <a:spcPts val="2000"/>
              </a:spcBef>
              <a:spcAft>
                <a:spcPts val="600"/>
              </a:spcAft>
              <a:buSzPts val="2800"/>
              <a:buNone/>
            </a:pPr>
            <a:r>
              <a:rPr b="1" lang="en" sz="2500">
                <a:solidFill>
                  <a:srgbClr val="2A3D4C"/>
                </a:solidFill>
                <a:latin typeface="Arial"/>
                <a:ea typeface="Arial"/>
                <a:cs typeface="Arial"/>
                <a:sym typeface="Arial"/>
              </a:rPr>
              <a:t>Reflect &amp; Apply</a:t>
            </a:r>
            <a:endParaRPr b="1" sz="2500">
              <a:solidFill>
                <a:schemeClr val="accent1"/>
              </a:solidFill>
            </a:endParaRPr>
          </a:p>
        </p:txBody>
      </p:sp>
      <p:sp>
        <p:nvSpPr>
          <p:cNvPr id="191" name="Google Shape;191;p14"/>
          <p:cNvSpPr/>
          <p:nvPr/>
        </p:nvSpPr>
        <p:spPr>
          <a:xfrm>
            <a:off x="317500" y="3794750"/>
            <a:ext cx="8445600" cy="411600"/>
          </a:xfrm>
          <a:prstGeom prst="roundRect">
            <a:avLst>
              <a:gd fmla="val 16667" name="adj"/>
            </a:avLst>
          </a:prstGeom>
          <a:solidFill>
            <a:srgbClr val="FFF7DE"/>
          </a:solidFill>
          <a:ln>
            <a:noFill/>
          </a:ln>
          <a:effectLst>
            <a:outerShdw blurRad="40000" rotWithShape="0" dir="5400000" dist="23000">
              <a:srgbClr val="000000">
                <a:alpha val="34902"/>
              </a:srgbClr>
            </a:outerShdw>
          </a:effectLst>
        </p:spPr>
        <p:txBody>
          <a:bodyPr anchorCtr="0" anchor="ctr" bIns="73150" lIns="73150" spcFirstLastPara="1" rIns="73150" wrap="square" tIns="73150">
            <a:noAutofit/>
          </a:bodyPr>
          <a:lstStyle/>
          <a:p>
            <a:pPr indent="0" lvl="0" marL="0" marR="0" rtl="0" algn="l">
              <a:lnSpc>
                <a:spcPct val="100000"/>
              </a:lnSpc>
              <a:spcBef>
                <a:spcPts val="0"/>
              </a:spcBef>
              <a:spcAft>
                <a:spcPts val="0"/>
              </a:spcAft>
              <a:buNone/>
            </a:pPr>
            <a:r>
              <a:rPr b="1" i="0" lang="en" sz="1400" u="none" cap="none" strike="noStrike">
                <a:solidFill>
                  <a:srgbClr val="2A3D4C"/>
                </a:solidFill>
                <a:latin typeface="Arial"/>
                <a:ea typeface="Arial"/>
                <a:cs typeface="Arial"/>
                <a:sym typeface="Arial"/>
              </a:rPr>
              <a:t>My next implementation move: __________________________________________</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5" name="Shape 195"/>
        <p:cNvGrpSpPr/>
        <p:nvPr/>
      </p:nvGrpSpPr>
      <p:grpSpPr>
        <a:xfrm>
          <a:off x="0" y="0"/>
          <a:ext cx="0" cy="0"/>
          <a:chOff x="0" y="0"/>
          <a:chExt cx="0" cy="0"/>
        </a:xfrm>
      </p:grpSpPr>
      <p:sp>
        <p:nvSpPr>
          <p:cNvPr id="196" name="Google Shape;196;p15"/>
          <p:cNvSpPr txBox="1"/>
          <p:nvPr>
            <p:ph type="title"/>
          </p:nvPr>
        </p:nvSpPr>
        <p:spPr>
          <a:xfrm>
            <a:off x="346975" y="183975"/>
            <a:ext cx="8520600" cy="572700"/>
          </a:xfrm>
          <a:prstGeom prst="rect">
            <a:avLst/>
          </a:prstGeom>
          <a:noFill/>
          <a:ln>
            <a:noFill/>
          </a:ln>
        </p:spPr>
        <p:txBody>
          <a:bodyPr anchorCtr="0" anchor="t" bIns="73150" lIns="73150" spcFirstLastPara="1" rIns="73150" wrap="square" tIns="73150">
            <a:noAutofit/>
          </a:bodyPr>
          <a:lstStyle/>
          <a:p>
            <a:pPr indent="0" lvl="0" marL="0" rtl="0" algn="l">
              <a:lnSpc>
                <a:spcPct val="100000"/>
              </a:lnSpc>
              <a:spcBef>
                <a:spcPts val="0"/>
              </a:spcBef>
              <a:spcAft>
                <a:spcPts val="0"/>
              </a:spcAft>
              <a:buSzPts val="3111"/>
              <a:buNone/>
            </a:pPr>
            <a:r>
              <a:rPr b="1" lang="en" sz="3000">
                <a:solidFill>
                  <a:srgbClr val="2A3D4C"/>
                </a:solidFill>
                <a:latin typeface="Arial"/>
                <a:ea typeface="Arial"/>
                <a:cs typeface="Arial"/>
                <a:sym typeface="Arial"/>
              </a:rPr>
              <a:t>References</a:t>
            </a:r>
            <a:endParaRPr b="1" sz="3000">
              <a:solidFill>
                <a:schemeClr val="accent1"/>
              </a:solidFill>
            </a:endParaRPr>
          </a:p>
        </p:txBody>
      </p:sp>
      <p:sp>
        <p:nvSpPr>
          <p:cNvPr id="197" name="Google Shape;197;p15"/>
          <p:cNvSpPr txBox="1"/>
          <p:nvPr/>
        </p:nvSpPr>
        <p:spPr>
          <a:xfrm>
            <a:off x="438900" y="726724"/>
            <a:ext cx="8184000" cy="4149900"/>
          </a:xfrm>
          <a:prstGeom prst="rect">
            <a:avLst/>
          </a:prstGeom>
          <a:noFill/>
          <a:ln>
            <a:noFill/>
          </a:ln>
        </p:spPr>
        <p:txBody>
          <a:bodyPr anchorCtr="0" anchor="t" bIns="27425" lIns="27425" spcFirstLastPara="1" rIns="27425" wrap="square" tIns="27425">
            <a:spAutoFit/>
          </a:bodyPr>
          <a:lstStyle/>
          <a:p>
            <a:pPr indent="0" lvl="0" marL="0" marR="0" rtl="0" algn="l">
              <a:lnSpc>
                <a:spcPct val="100000"/>
              </a:lnSpc>
              <a:spcBef>
                <a:spcPts val="0"/>
              </a:spcBef>
              <a:spcAft>
                <a:spcPts val="0"/>
              </a:spcAft>
              <a:buNone/>
            </a:pPr>
            <a:r>
              <a:rPr lang="en">
                <a:solidFill>
                  <a:srgbClr val="373737"/>
                </a:solidFill>
              </a:rPr>
              <a:t>Aceves, T. C., &amp; Kennedy, M. J. </a:t>
            </a:r>
            <a:r>
              <a:rPr b="0" i="0" lang="en" u="none" cap="none" strike="noStrike">
                <a:solidFill>
                  <a:srgbClr val="373737"/>
                </a:solidFill>
                <a:latin typeface="Arial"/>
                <a:ea typeface="Arial"/>
                <a:cs typeface="Arial"/>
                <a:sym typeface="Arial"/>
              </a:rPr>
              <a:t>(2024). </a:t>
            </a:r>
            <a:r>
              <a:rPr b="0" i="1" lang="en" u="none" cap="none" strike="noStrike">
                <a:solidFill>
                  <a:srgbClr val="373737"/>
                </a:solidFill>
                <a:latin typeface="Arial"/>
                <a:ea typeface="Arial"/>
                <a:cs typeface="Arial"/>
                <a:sym typeface="Arial"/>
              </a:rPr>
              <a:t>High-leverage practices for students with disabilities</a:t>
            </a:r>
            <a:r>
              <a:rPr b="0" i="0" lang="en" u="none" cap="none" strike="noStrike">
                <a:solidFill>
                  <a:srgbClr val="373737"/>
                </a:solidFill>
                <a:latin typeface="Arial"/>
                <a:ea typeface="Arial"/>
                <a:cs typeface="Arial"/>
                <a:sym typeface="Arial"/>
              </a:rPr>
              <a:t> </a:t>
            </a:r>
            <a:r>
              <a:rPr b="0" i="0" lang="en" u="none" cap="none" strike="noStrike">
                <a:solidFill>
                  <a:srgbClr val="373737"/>
                </a:solidFill>
                <a:latin typeface="Arial"/>
                <a:ea typeface="Arial"/>
                <a:cs typeface="Arial"/>
                <a:sym typeface="Arial"/>
              </a:rPr>
              <a:t>(2nd ed.). </a:t>
            </a:r>
            <a:r>
              <a:rPr lang="en">
                <a:solidFill>
                  <a:srgbClr val="373737"/>
                </a:solidFill>
              </a:rPr>
              <a:t>Council for Exceptional Children &amp; CEEDAR Center. </a:t>
            </a:r>
            <a:br>
              <a:rPr b="0" i="0" lang="en" u="none" cap="none" strike="noStrike">
                <a:solidFill>
                  <a:srgbClr val="373737"/>
                </a:solidFill>
                <a:latin typeface="Arial"/>
                <a:ea typeface="Arial"/>
                <a:cs typeface="Arial"/>
                <a:sym typeface="Arial"/>
              </a:rPr>
            </a:br>
            <a:br>
              <a:rPr b="0" i="0" lang="en" u="none" cap="none" strike="noStrike">
                <a:solidFill>
                  <a:srgbClr val="373737"/>
                </a:solidFill>
                <a:latin typeface="Arial"/>
                <a:ea typeface="Arial"/>
                <a:cs typeface="Arial"/>
                <a:sym typeface="Arial"/>
              </a:rPr>
            </a:br>
            <a:r>
              <a:rPr b="0" i="0" lang="en" u="none" cap="none" strike="noStrike">
                <a:solidFill>
                  <a:srgbClr val="373737"/>
                </a:solidFill>
                <a:latin typeface="Arial"/>
                <a:ea typeface="Arial"/>
                <a:cs typeface="Arial"/>
                <a:sym typeface="Arial"/>
              </a:rPr>
              <a:t>Hattie, J., &amp; Timperley, H. (2007). The power of feedback. </a:t>
            </a:r>
            <a:r>
              <a:rPr b="0" i="1" lang="en" u="none" cap="none" strike="noStrike">
                <a:solidFill>
                  <a:srgbClr val="373737"/>
                </a:solidFill>
                <a:latin typeface="Arial"/>
                <a:ea typeface="Arial"/>
                <a:cs typeface="Arial"/>
                <a:sym typeface="Arial"/>
              </a:rPr>
              <a:t>Review of Educational Research, 77</a:t>
            </a:r>
            <a:r>
              <a:rPr b="0" i="0" lang="en" u="none" cap="none" strike="noStrike">
                <a:solidFill>
                  <a:srgbClr val="373737"/>
                </a:solidFill>
                <a:latin typeface="Arial"/>
                <a:ea typeface="Arial"/>
                <a:cs typeface="Arial"/>
                <a:sym typeface="Arial"/>
              </a:rPr>
              <a:t>(1), 81–112. https://doi.org/10.3102/003465430298487</a:t>
            </a:r>
            <a:br>
              <a:rPr b="0" i="0" lang="en" u="none" cap="none" strike="noStrike">
                <a:solidFill>
                  <a:srgbClr val="373737"/>
                </a:solidFill>
                <a:latin typeface="Arial"/>
                <a:ea typeface="Arial"/>
                <a:cs typeface="Arial"/>
                <a:sym typeface="Arial"/>
              </a:rPr>
            </a:br>
            <a:br>
              <a:rPr lang="en">
                <a:solidFill>
                  <a:srgbClr val="373737"/>
                </a:solidFill>
              </a:rPr>
            </a:br>
            <a:r>
              <a:rPr lang="en">
                <a:solidFill>
                  <a:srgbClr val="373737"/>
                </a:solidFill>
              </a:rPr>
              <a:t>IRIS Center. (n.d.). </a:t>
            </a:r>
            <a:r>
              <a:rPr i="1" lang="en">
                <a:solidFill>
                  <a:srgbClr val="373737"/>
                </a:solidFill>
              </a:rPr>
              <a:t>Behavior-specific praise.</a:t>
            </a:r>
            <a:r>
              <a:rPr lang="en">
                <a:solidFill>
                  <a:srgbClr val="373737"/>
                </a:solidFill>
              </a:rPr>
              <a:t> Vanderbilt University. </a:t>
            </a:r>
            <a:r>
              <a:rPr lang="en" u="sng">
                <a:solidFill>
                  <a:schemeClr val="hlink"/>
                </a:solidFill>
                <a:hlinkClick r:id="rId3"/>
              </a:rPr>
              <a:t>https://iris.peabody.vanderbilt.edu/module/bi2-elem/cresource/q1/p02/</a:t>
            </a:r>
            <a:endParaRPr>
              <a:solidFill>
                <a:srgbClr val="373737"/>
              </a:solidFill>
            </a:endParaRPr>
          </a:p>
          <a:p>
            <a:pPr indent="0" lvl="0" marL="0" marR="0" rtl="0" algn="l">
              <a:lnSpc>
                <a:spcPct val="100000"/>
              </a:lnSpc>
              <a:spcBef>
                <a:spcPts val="0"/>
              </a:spcBef>
              <a:spcAft>
                <a:spcPts val="0"/>
              </a:spcAft>
              <a:buNone/>
            </a:pPr>
            <a:r>
              <a:t/>
            </a:r>
            <a:endParaRPr>
              <a:solidFill>
                <a:srgbClr val="373737"/>
              </a:solidFill>
            </a:endParaRPr>
          </a:p>
          <a:p>
            <a:pPr indent="0" lvl="0" marL="0" marR="0" rtl="0" algn="l">
              <a:lnSpc>
                <a:spcPct val="100000"/>
              </a:lnSpc>
              <a:spcBef>
                <a:spcPts val="0"/>
              </a:spcBef>
              <a:spcAft>
                <a:spcPts val="0"/>
              </a:spcAft>
              <a:buNone/>
            </a:pPr>
            <a:r>
              <a:rPr b="0" i="0" lang="en" u="none" cap="none" strike="noStrike">
                <a:solidFill>
                  <a:srgbClr val="373737"/>
                </a:solidFill>
                <a:latin typeface="Arial"/>
                <a:ea typeface="Arial"/>
                <a:cs typeface="Arial"/>
                <a:sym typeface="Arial"/>
              </a:rPr>
              <a:t>Kennedy, M. J., Peeples, K. N., Romig, J. E., Mathews, H. M., &amp; Rodgers, W. J. (2018). </a:t>
            </a:r>
            <a:r>
              <a:rPr b="0" i="1" lang="en" u="none" cap="none" strike="noStrike">
                <a:solidFill>
                  <a:srgbClr val="373737"/>
                </a:solidFill>
                <a:latin typeface="Arial"/>
                <a:ea typeface="Arial"/>
                <a:cs typeface="Arial"/>
                <a:sym typeface="Arial"/>
              </a:rPr>
              <a:t>High-leverage practices #8 &amp; #22: Provide positive and constructive feedback to guide students’ learning and behavior. </a:t>
            </a:r>
            <a:r>
              <a:rPr b="0" i="0" lang="en" u="none" cap="none" strike="noStrike">
                <a:solidFill>
                  <a:srgbClr val="373737"/>
                </a:solidFill>
                <a:latin typeface="Arial"/>
                <a:ea typeface="Arial"/>
                <a:cs typeface="Arial"/>
                <a:sym typeface="Arial"/>
              </a:rPr>
              <a:t>High-Leverage Practices.</a:t>
            </a:r>
            <a:br>
              <a:rPr b="0" i="0" lang="en" u="none" cap="none" strike="noStrike">
                <a:solidFill>
                  <a:srgbClr val="373737"/>
                </a:solidFill>
                <a:latin typeface="Arial"/>
                <a:ea typeface="Arial"/>
                <a:cs typeface="Arial"/>
                <a:sym typeface="Arial"/>
              </a:rPr>
            </a:br>
            <a:br>
              <a:rPr b="0" i="0" lang="en" u="none" cap="none" strike="noStrike">
                <a:solidFill>
                  <a:srgbClr val="373737"/>
                </a:solidFill>
                <a:latin typeface="Arial"/>
                <a:ea typeface="Arial"/>
                <a:cs typeface="Arial"/>
                <a:sym typeface="Arial"/>
              </a:rPr>
            </a:br>
            <a:r>
              <a:rPr b="0" i="0" lang="en" u="none" cap="none" strike="noStrike">
                <a:solidFill>
                  <a:srgbClr val="373737"/>
                </a:solidFill>
                <a:latin typeface="Arial"/>
                <a:ea typeface="Arial"/>
                <a:cs typeface="Arial"/>
                <a:sym typeface="Arial"/>
              </a:rPr>
              <a:t>Owiny, R. L., &amp; Cornelius, K. E. (2024). </a:t>
            </a:r>
            <a:r>
              <a:rPr b="0" i="1" lang="en" u="none" cap="none" strike="noStrike">
                <a:solidFill>
                  <a:srgbClr val="373737"/>
                </a:solidFill>
                <a:latin typeface="Arial"/>
                <a:ea typeface="Arial"/>
                <a:cs typeface="Arial"/>
                <a:sym typeface="Arial"/>
              </a:rPr>
              <a:t>The practical guide to high-leverage practices in special education: The purposeful “how” to enhance classroom rigor. </a:t>
            </a:r>
            <a:r>
              <a:rPr b="0" i="0" lang="en" u="none" cap="none" strike="noStrike">
                <a:solidFill>
                  <a:srgbClr val="373737"/>
                </a:solidFill>
                <a:latin typeface="Arial"/>
                <a:ea typeface="Arial"/>
                <a:cs typeface="Arial"/>
                <a:sym typeface="Arial"/>
              </a:rPr>
              <a:t>Routledge.</a:t>
            </a:r>
            <a:br>
              <a:rPr b="0" i="0" lang="en" u="none" cap="none" strike="noStrike">
                <a:solidFill>
                  <a:srgbClr val="373737"/>
                </a:solidFill>
                <a:latin typeface="Arial"/>
                <a:ea typeface="Arial"/>
                <a:cs typeface="Arial"/>
                <a:sym typeface="Arial"/>
              </a:rPr>
            </a:br>
            <a:br>
              <a:rPr b="0" i="0" lang="en" u="none" cap="none" strike="noStrike">
                <a:solidFill>
                  <a:srgbClr val="373737"/>
                </a:solidFill>
                <a:latin typeface="Arial"/>
                <a:ea typeface="Arial"/>
                <a:cs typeface="Arial"/>
                <a:sym typeface="Arial"/>
              </a:rPr>
            </a:br>
            <a:r>
              <a:rPr b="0" i="0" lang="en" u="none" cap="none" strike="noStrike">
                <a:solidFill>
                  <a:srgbClr val="373737"/>
                </a:solidFill>
                <a:latin typeface="Arial"/>
                <a:ea typeface="Arial"/>
                <a:cs typeface="Arial"/>
                <a:sym typeface="Arial"/>
              </a:rPr>
              <a:t>Wisniewski, B., Zierer, K., &amp; Hattie, J. (2020). The power of feedback revisited: A meta-analysis of educational feedback research. </a:t>
            </a:r>
            <a:r>
              <a:rPr b="0" i="1" lang="en" u="none" cap="none" strike="noStrike">
                <a:solidFill>
                  <a:srgbClr val="373737"/>
                </a:solidFill>
                <a:latin typeface="Arial"/>
                <a:ea typeface="Arial"/>
                <a:cs typeface="Arial"/>
                <a:sym typeface="Arial"/>
              </a:rPr>
              <a:t>Frontiers in Psychology, 10,</a:t>
            </a:r>
            <a:r>
              <a:rPr b="0" i="0" lang="en" u="none" cap="none" strike="noStrike">
                <a:solidFill>
                  <a:srgbClr val="373737"/>
                </a:solidFill>
                <a:latin typeface="Arial"/>
                <a:ea typeface="Arial"/>
                <a:cs typeface="Arial"/>
                <a:sym typeface="Arial"/>
              </a:rPr>
              <a:t> 3087. https://doi.org/10.3389/fpsyg.2019.03087</a:t>
            </a: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