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82556bf9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82556bf9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82556bf9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e82556bf9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82556bf9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82556bf9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82556bf9b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82556bf9b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82556bf9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82556bf9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bba92ebf8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bba92ebf8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82556bf9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82556bf9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82556bf9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82556bf9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2 slides for this, if needed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82556bf9b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82556bf9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82556bf9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82556bf9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82556bf9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82556bf9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82556bf9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82556bf9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200"/>
              </a:spcBef>
              <a:spcAft>
                <a:spcPts val="1200"/>
              </a:spcAft>
              <a:buClr>
                <a:schemeClr val="dk1"/>
              </a:buClr>
              <a:buSzPts val="1100"/>
              <a:buFont typeface="Arial"/>
              <a:buNone/>
            </a:pPr>
            <a:r>
              <a:rPr lang="en">
                <a:solidFill>
                  <a:schemeClr val="dk1"/>
                </a:solidFill>
              </a:rPr>
              <a:t>This section should be highly practical.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82556bf9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82556bf9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200"/>
              </a:spcBef>
              <a:spcAft>
                <a:spcPts val="1200"/>
              </a:spcAft>
              <a:buNone/>
            </a:pPr>
            <a:r>
              <a:rPr lang="en">
                <a:solidFill>
                  <a:schemeClr val="dk1"/>
                </a:solidFill>
              </a:rPr>
              <a:t>This section should be highly practical.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82556bf9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82556bf9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200"/>
              </a:spcBef>
              <a:spcAft>
                <a:spcPts val="1200"/>
              </a:spcAft>
              <a:buNone/>
            </a:pPr>
            <a:r>
              <a:rPr lang="en">
                <a:solidFill>
                  <a:schemeClr val="dk1"/>
                </a:solidFill>
              </a:rPr>
              <a:t>This section should be highly practical.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82556bf9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82556bf9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3.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0.jp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9.jpg"/><Relationship Id="rId9" Type="http://schemas.openxmlformats.org/officeDocument/2006/relationships/image" Target="../media/image11.png"/><Relationship Id="rId5" Type="http://schemas.openxmlformats.org/officeDocument/2006/relationships/image" Target="../media/image17.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6.jpg"/><Relationship Id="rId4" Type="http://schemas.openxmlformats.org/officeDocument/2006/relationships/image" Target="../media/image1.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8.jpg"/><Relationship Id="rId4" Type="http://schemas.openxmlformats.org/officeDocument/2006/relationships/image" Target="../media/image1.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0.jpg"/><Relationship Id="rId5"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highleveragepractices.org/sites/default/files/2025-08/HLP%20Faculty%20Guides%202025%20-%20HLP%207.pdf" TargetMode="External"/><Relationship Id="rId4" Type="http://schemas.openxmlformats.org/officeDocument/2006/relationships/hyperlink" Target="https://highleveragepractices.org/sites/default/files/2025-08/HLP%20Faculty%20Guides%202025%20-%20HLP%207.pdf" TargetMode="External"/><Relationship Id="rId9" Type="http://schemas.openxmlformats.org/officeDocument/2006/relationships/hyperlink" Target="https://doi-org.ezproxy.mnsu.edu/10.1177/0022487103259812" TargetMode="External"/><Relationship Id="rId5" Type="http://schemas.openxmlformats.org/officeDocument/2006/relationships/hyperlink" Target="https://ies.ed.gov/ncee/wwc/practiceguide/31" TargetMode="External"/><Relationship Id="rId6" Type="http://schemas.openxmlformats.org/officeDocument/2006/relationships/hyperlink" Target="https://ies.ed.gov/ncee/wwc/practiceguide/31" TargetMode="External"/><Relationship Id="rId7" Type="http://schemas.openxmlformats.org/officeDocument/2006/relationships/hyperlink" Target="https://doi-org/10.3102/00346543251361903" TargetMode="External"/><Relationship Id="rId8" Type="http://schemas.openxmlformats.org/officeDocument/2006/relationships/hyperlink" Target="https://doi-org/10.3102/0034654325136190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879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accent1"/>
                </a:solidFill>
              </a:rPr>
              <a:t>HLP 7</a:t>
            </a:r>
            <a:r>
              <a:rPr lang="en">
                <a:solidFill>
                  <a:schemeClr val="accent1"/>
                </a:solidFill>
              </a:rPr>
              <a:t> Learning Module</a:t>
            </a:r>
            <a:endParaRPr>
              <a:solidFill>
                <a:schemeClr val="accent1"/>
              </a:solidFill>
            </a:endParaRPr>
          </a:p>
        </p:txBody>
      </p:sp>
      <p:sp>
        <p:nvSpPr>
          <p:cNvPr id="55" name="Google Shape;55;p13"/>
          <p:cNvSpPr txBox="1"/>
          <p:nvPr>
            <p:ph idx="1" type="subTitle"/>
          </p:nvPr>
        </p:nvSpPr>
        <p:spPr>
          <a:xfrm>
            <a:off x="311700" y="21775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b="1" lang="en"/>
              <a:t>Establish a Consistent, Organized, and Respectful Learning Environment</a:t>
            </a:r>
            <a:endParaRPr b="1"/>
          </a:p>
        </p:txBody>
      </p:sp>
      <p:pic>
        <p:nvPicPr>
          <p:cNvPr id="56" name="Google Shape;56;p13"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sp>
        <p:nvSpPr>
          <p:cNvPr id="57" name="Google Shape;57;p13"/>
          <p:cNvSpPr txBox="1"/>
          <p:nvPr/>
        </p:nvSpPr>
        <p:spPr>
          <a:xfrm>
            <a:off x="2181425" y="3007075"/>
            <a:ext cx="48882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Ruby L. Owiny, Ph.D.</a:t>
            </a:r>
            <a:endParaRPr sz="1800">
              <a:solidFill>
                <a:schemeClr val="dk2"/>
              </a:solidFill>
            </a:endParaRPr>
          </a:p>
          <a:p>
            <a:pPr indent="0" lvl="0" marL="0" rtl="0" algn="ctr">
              <a:spcBef>
                <a:spcPts val="0"/>
              </a:spcBef>
              <a:spcAft>
                <a:spcPts val="0"/>
              </a:spcAft>
              <a:buNone/>
            </a:pPr>
            <a:r>
              <a:rPr lang="en" sz="1800">
                <a:solidFill>
                  <a:schemeClr val="dk2"/>
                </a:solidFill>
              </a:rPr>
              <a:t>Minnesota State University, Mankato</a:t>
            </a:r>
            <a:endParaRPr sz="1800">
              <a:solidFill>
                <a:schemeClr val="dk2"/>
              </a:solidFill>
            </a:endParaRPr>
          </a:p>
          <a:p>
            <a:pPr indent="0" lvl="0" marL="0" rtl="0" algn="ctr">
              <a:spcBef>
                <a:spcPts val="0"/>
              </a:spcBef>
              <a:spcAft>
                <a:spcPts val="0"/>
              </a:spcAft>
              <a:buNone/>
            </a:pPr>
            <a:r>
              <a:rPr lang="en" sz="1800">
                <a:solidFill>
                  <a:schemeClr val="dk2"/>
                </a:solidFill>
              </a:rPr>
              <a:t>Associate Professor of Special Education</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accent1"/>
                </a:solidFill>
              </a:rPr>
              <a:t>REMINDER</a:t>
            </a:r>
            <a:endParaRPr b="1">
              <a:solidFill>
                <a:schemeClr val="accent1"/>
              </a:solidFill>
            </a:endParaRPr>
          </a:p>
        </p:txBody>
      </p:sp>
      <p:sp>
        <p:nvSpPr>
          <p:cNvPr id="63" name="Google Shape;63;p14"/>
          <p:cNvSpPr txBox="1"/>
          <p:nvPr>
            <p:ph idx="1" type="body"/>
          </p:nvPr>
        </p:nvSpPr>
        <p:spPr>
          <a:xfrm>
            <a:off x="311700" y="1670725"/>
            <a:ext cx="5707200" cy="146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t>Complete the </a:t>
            </a:r>
            <a:r>
              <a:rPr b="1" lang="en" sz="2400"/>
              <a:t>Pre-Assessment </a:t>
            </a:r>
            <a:r>
              <a:rPr lang="en" sz="2400"/>
              <a:t>on Google Forms before starting this video. </a:t>
            </a:r>
            <a:endParaRPr sz="2400"/>
          </a:p>
        </p:txBody>
      </p:sp>
      <p:pic>
        <p:nvPicPr>
          <p:cNvPr id="64" name="Google Shape;64;p14"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65" name="Google Shape;65;p14" title="AdobeStock_323603916.jpeg"/>
          <p:cNvPicPr preferRelativeResize="0"/>
          <p:nvPr/>
        </p:nvPicPr>
        <p:blipFill>
          <a:blip r:embed="rId4">
            <a:alphaModFix/>
          </a:blip>
          <a:stretch>
            <a:fillRect/>
          </a:stretch>
        </p:blipFill>
        <p:spPr>
          <a:xfrm>
            <a:off x="5899225" y="665700"/>
            <a:ext cx="2967378" cy="296737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167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accent1"/>
                </a:solidFill>
              </a:rPr>
              <a:t>Module Objectives</a:t>
            </a:r>
            <a:endParaRPr b="1">
              <a:solidFill>
                <a:schemeClr val="accent1"/>
              </a:solidFill>
            </a:endParaRPr>
          </a:p>
        </p:txBody>
      </p:sp>
      <p:pic>
        <p:nvPicPr>
          <p:cNvPr id="71" name="Google Shape;71;p15" title="AdobeStock_1909087204.jpeg"/>
          <p:cNvPicPr preferRelativeResize="0"/>
          <p:nvPr/>
        </p:nvPicPr>
        <p:blipFill>
          <a:blip r:embed="rId3">
            <a:alphaModFix/>
          </a:blip>
          <a:stretch>
            <a:fillRect/>
          </a:stretch>
        </p:blipFill>
        <p:spPr>
          <a:xfrm rot="350262">
            <a:off x="5490575" y="939199"/>
            <a:ext cx="4031274" cy="2438599"/>
          </a:xfrm>
          <a:prstGeom prst="rect">
            <a:avLst/>
          </a:prstGeom>
          <a:noFill/>
          <a:ln>
            <a:noFill/>
          </a:ln>
        </p:spPr>
      </p:pic>
      <p:sp>
        <p:nvSpPr>
          <p:cNvPr id="72" name="Google Shape;72;p15"/>
          <p:cNvSpPr txBox="1"/>
          <p:nvPr>
            <p:ph idx="1" type="body"/>
          </p:nvPr>
        </p:nvSpPr>
        <p:spPr>
          <a:xfrm>
            <a:off x="311700" y="649325"/>
            <a:ext cx="6261900" cy="4034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As a result of this module, participants will be able to:</a:t>
            </a:r>
            <a:endParaRPr/>
          </a:p>
          <a:p>
            <a:pPr indent="-336550" lvl="0" marL="457200" rtl="0" algn="l">
              <a:spcBef>
                <a:spcPts val="1200"/>
              </a:spcBef>
              <a:spcAft>
                <a:spcPts val="0"/>
              </a:spcAft>
              <a:buSzPts val="1700"/>
              <a:buAutoNum type="arabicPeriod"/>
            </a:pPr>
            <a:r>
              <a:rPr lang="en" sz="1700"/>
              <a:t>Explain the role of HLP 7 in creating conditions for learning. </a:t>
            </a:r>
            <a:endParaRPr sz="1700"/>
          </a:p>
          <a:p>
            <a:pPr indent="-336550" lvl="0" marL="457200" rtl="0" algn="l">
              <a:spcBef>
                <a:spcPts val="0"/>
              </a:spcBef>
              <a:spcAft>
                <a:spcPts val="0"/>
              </a:spcAft>
              <a:buSzPts val="1700"/>
              <a:buAutoNum type="arabicPeriod"/>
            </a:pPr>
            <a:r>
              <a:rPr lang="en" sz="1700"/>
              <a:t>Describe five key components of a consistent, organized, and responsive learning environment.</a:t>
            </a:r>
            <a:endParaRPr sz="1700"/>
          </a:p>
          <a:p>
            <a:pPr indent="-336550" lvl="0" marL="457200" rtl="0" algn="l">
              <a:spcBef>
                <a:spcPts val="0"/>
              </a:spcBef>
              <a:spcAft>
                <a:spcPts val="0"/>
              </a:spcAft>
              <a:buSzPts val="1700"/>
              <a:buAutoNum type="arabicPeriod"/>
            </a:pPr>
            <a:r>
              <a:rPr lang="en" sz="1700"/>
              <a:t>Identify evidence-supported practices that strengthen HLP 7 implementation.</a:t>
            </a:r>
            <a:endParaRPr sz="1700"/>
          </a:p>
          <a:p>
            <a:pPr indent="-336550" lvl="0" marL="457200" rtl="0" algn="l">
              <a:spcBef>
                <a:spcPts val="0"/>
              </a:spcBef>
              <a:spcAft>
                <a:spcPts val="0"/>
              </a:spcAft>
              <a:buSzPts val="1700"/>
              <a:buAutoNum type="arabicPeriod"/>
            </a:pPr>
            <a:r>
              <a:rPr lang="en" sz="1700"/>
              <a:t>Recognize common implementation challenges and select proactive solutions. </a:t>
            </a:r>
            <a:endParaRPr sz="1700"/>
          </a:p>
          <a:p>
            <a:pPr indent="-336550" lvl="0" marL="457200" rtl="0" algn="l">
              <a:spcBef>
                <a:spcPts val="0"/>
              </a:spcBef>
              <a:spcAft>
                <a:spcPts val="0"/>
              </a:spcAft>
              <a:buSzPts val="1700"/>
              <a:buAutoNum type="arabicPeriod"/>
            </a:pPr>
            <a:r>
              <a:rPr lang="en" sz="1700"/>
              <a:t>Use observable indicators to reflect on implementation and identify next steps.</a:t>
            </a:r>
            <a:endParaRPr sz="1700"/>
          </a:p>
          <a:p>
            <a:pPr indent="-336550" lvl="0" marL="457200" rtl="0" algn="l">
              <a:spcBef>
                <a:spcPts val="0"/>
              </a:spcBef>
              <a:spcAft>
                <a:spcPts val="0"/>
              </a:spcAft>
              <a:buSzPts val="1700"/>
              <a:buAutoNum type="arabicPeriod"/>
            </a:pPr>
            <a:r>
              <a:rPr lang="en" sz="1700"/>
              <a:t>Apply HLP 7 to analyze and improve a classroom learning environment.</a:t>
            </a:r>
            <a:endParaRPr sz="1700"/>
          </a:p>
          <a:p>
            <a:pPr indent="0" lvl="0" marL="0" rtl="0" algn="l">
              <a:spcBef>
                <a:spcPts val="1200"/>
              </a:spcBef>
              <a:spcAft>
                <a:spcPts val="1200"/>
              </a:spcAft>
              <a:buNone/>
            </a:pPr>
            <a:r>
              <a:rPr lang="en"/>
              <a:t> </a:t>
            </a:r>
            <a:endParaRPr/>
          </a:p>
        </p:txBody>
      </p:sp>
      <p:pic>
        <p:nvPicPr>
          <p:cNvPr id="73" name="Google Shape;73;p15" title="Screenshot 2026-06-03 at 3.13.19 PM.png"/>
          <p:cNvPicPr preferRelativeResize="0"/>
          <p:nvPr/>
        </p:nvPicPr>
        <p:blipFill rotWithShape="1">
          <a:blip r:embed="rId4">
            <a:alphaModFix/>
          </a:blip>
          <a:srcRect b="0" l="11017" r="11017" t="0"/>
          <a:stretch/>
        </p:blipFill>
        <p:spPr>
          <a:xfrm>
            <a:off x="0" y="4289900"/>
            <a:ext cx="9144003" cy="853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6" title="AdobeStock_448917021.jpeg"/>
          <p:cNvPicPr preferRelativeResize="0"/>
          <p:nvPr/>
        </p:nvPicPr>
        <p:blipFill>
          <a:blip r:embed="rId3">
            <a:alphaModFix/>
          </a:blip>
          <a:stretch>
            <a:fillRect/>
          </a:stretch>
        </p:blipFill>
        <p:spPr>
          <a:xfrm rot="947533">
            <a:off x="5408084" y="398638"/>
            <a:ext cx="4121199" cy="4121199"/>
          </a:xfrm>
          <a:prstGeom prst="rect">
            <a:avLst/>
          </a:prstGeom>
          <a:noFill/>
          <a:ln>
            <a:noFill/>
          </a:ln>
        </p:spPr>
      </p:pic>
      <p:sp>
        <p:nvSpPr>
          <p:cNvPr id="79" name="Google Shape;79;p16"/>
          <p:cNvSpPr txBox="1"/>
          <p:nvPr>
            <p:ph idx="1" type="body"/>
          </p:nvPr>
        </p:nvSpPr>
        <p:spPr>
          <a:xfrm>
            <a:off x="204600" y="211675"/>
            <a:ext cx="5877300" cy="4078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en" sz="1600">
                <a:solidFill>
                  <a:srgbClr val="363636"/>
                </a:solidFill>
                <a:highlight>
                  <a:srgbClr val="FFFFFF"/>
                </a:highlight>
              </a:rPr>
              <a:t>To build and foster positive relationships with students, educators should establish age appropriate and culturally aware expectations, routines, and procedures within their classrooms that are positively stated and explicitly taught and practiced across the school year. When students demonstrate mastery and follow established rules and routines, educators should provide age-appropriate positive specific feedback in meaningful and caring ways. By establishing, following, and reinforcing expectations for all students within the classroom, educators will reduce the potential for challenging behavior and increase student engagement. When establishing responsive learning environments, educators should build mutually respectful relationships with students by demonstrating respect, cultural awareness, and accepting and valuing diverse learners.</a:t>
            </a:r>
            <a:endParaRPr b="1" sz="1600"/>
          </a:p>
        </p:txBody>
      </p:sp>
      <p:pic>
        <p:nvPicPr>
          <p:cNvPr id="80" name="Google Shape;80;p16" title="Screenshot 2026-06-03 at 3.13.19 PM.png"/>
          <p:cNvPicPr preferRelativeResize="0"/>
          <p:nvPr/>
        </p:nvPicPr>
        <p:blipFill rotWithShape="1">
          <a:blip r:embed="rId4">
            <a:alphaModFix/>
          </a:blip>
          <a:srcRect b="0" l="11017" r="11017" t="0"/>
          <a:stretch/>
        </p:blipFill>
        <p:spPr>
          <a:xfrm>
            <a:off x="0" y="4289900"/>
            <a:ext cx="9144003" cy="853600"/>
          </a:xfrm>
          <a:prstGeom prst="rect">
            <a:avLst/>
          </a:prstGeom>
          <a:noFill/>
          <a:ln>
            <a:noFill/>
          </a:ln>
        </p:spPr>
      </p:pic>
      <p:sp>
        <p:nvSpPr>
          <p:cNvPr id="81" name="Google Shape;81;p16"/>
          <p:cNvSpPr txBox="1"/>
          <p:nvPr>
            <p:ph type="title"/>
          </p:nvPr>
        </p:nvSpPr>
        <p:spPr>
          <a:xfrm>
            <a:off x="5606475" y="211675"/>
            <a:ext cx="3086100" cy="7002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b="1" lang="en">
                <a:solidFill>
                  <a:schemeClr val="accent1"/>
                </a:solidFill>
              </a:rPr>
              <a:t>HLP 7 Defined</a:t>
            </a:r>
            <a:endParaRPr b="1">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162275" y="141650"/>
            <a:ext cx="8670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980000"/>
                </a:solidFill>
              </a:rPr>
              <a:t>Definitions</a:t>
            </a:r>
            <a:r>
              <a:rPr b="1" lang="en" sz="3000">
                <a:solidFill>
                  <a:srgbClr val="980000"/>
                </a:solidFill>
              </a:rPr>
              <a:t> of Key Terms</a:t>
            </a:r>
            <a:endParaRPr b="1" sz="3000">
              <a:solidFill>
                <a:srgbClr val="980000"/>
              </a:solidFill>
            </a:endParaRPr>
          </a:p>
        </p:txBody>
      </p:sp>
      <p:pic>
        <p:nvPicPr>
          <p:cNvPr id="87" name="Google Shape;87;p17"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88" name="Google Shape;88;p17"/>
          <p:cNvPicPr preferRelativeResize="0"/>
          <p:nvPr/>
        </p:nvPicPr>
        <p:blipFill>
          <a:blip r:embed="rId4">
            <a:alphaModFix/>
          </a:blip>
          <a:stretch>
            <a:fillRect/>
          </a:stretch>
        </p:blipFill>
        <p:spPr>
          <a:xfrm>
            <a:off x="458600" y="926025"/>
            <a:ext cx="3785891" cy="1196825"/>
          </a:xfrm>
          <a:prstGeom prst="rect">
            <a:avLst/>
          </a:prstGeom>
          <a:noFill/>
          <a:ln>
            <a:noFill/>
          </a:ln>
        </p:spPr>
      </p:pic>
      <p:pic>
        <p:nvPicPr>
          <p:cNvPr id="89" name="Google Shape;89;p17"/>
          <p:cNvPicPr preferRelativeResize="0"/>
          <p:nvPr/>
        </p:nvPicPr>
        <p:blipFill>
          <a:blip r:embed="rId5">
            <a:alphaModFix/>
          </a:blip>
          <a:stretch>
            <a:fillRect/>
          </a:stretch>
        </p:blipFill>
        <p:spPr>
          <a:xfrm>
            <a:off x="492800" y="2401500"/>
            <a:ext cx="3785875" cy="1196825"/>
          </a:xfrm>
          <a:prstGeom prst="rect">
            <a:avLst/>
          </a:prstGeom>
          <a:noFill/>
          <a:ln>
            <a:noFill/>
          </a:ln>
        </p:spPr>
      </p:pic>
      <p:pic>
        <p:nvPicPr>
          <p:cNvPr id="90" name="Google Shape;90;p17"/>
          <p:cNvPicPr preferRelativeResize="0"/>
          <p:nvPr/>
        </p:nvPicPr>
        <p:blipFill>
          <a:blip r:embed="rId6">
            <a:alphaModFix/>
          </a:blip>
          <a:stretch>
            <a:fillRect/>
          </a:stretch>
        </p:blipFill>
        <p:spPr>
          <a:xfrm>
            <a:off x="5009450" y="1494750"/>
            <a:ext cx="3695033" cy="1168100"/>
          </a:xfrm>
          <a:prstGeom prst="rect">
            <a:avLst/>
          </a:prstGeom>
          <a:noFill/>
          <a:ln>
            <a:noFill/>
          </a:ln>
        </p:spPr>
      </p:pic>
      <p:pic>
        <p:nvPicPr>
          <p:cNvPr id="91" name="Google Shape;91;p17"/>
          <p:cNvPicPr preferRelativeResize="0"/>
          <p:nvPr/>
        </p:nvPicPr>
        <p:blipFill>
          <a:blip r:embed="rId7">
            <a:alphaModFix/>
          </a:blip>
          <a:stretch>
            <a:fillRect/>
          </a:stretch>
        </p:blipFill>
        <p:spPr>
          <a:xfrm>
            <a:off x="4960738" y="189725"/>
            <a:ext cx="3695042" cy="1168100"/>
          </a:xfrm>
          <a:prstGeom prst="rect">
            <a:avLst/>
          </a:prstGeom>
          <a:noFill/>
          <a:ln>
            <a:noFill/>
          </a:ln>
        </p:spPr>
      </p:pic>
      <p:pic>
        <p:nvPicPr>
          <p:cNvPr id="92" name="Google Shape;92;p17"/>
          <p:cNvPicPr preferRelativeResize="0"/>
          <p:nvPr/>
        </p:nvPicPr>
        <p:blipFill>
          <a:blip r:embed="rId8">
            <a:alphaModFix/>
          </a:blip>
          <a:stretch>
            <a:fillRect/>
          </a:stretch>
        </p:blipFill>
        <p:spPr>
          <a:xfrm>
            <a:off x="5010875" y="2855000"/>
            <a:ext cx="3694975" cy="1168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8"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98" name="Google Shape;98;p18" title="AdobeStock_374780483.jpeg"/>
          <p:cNvPicPr preferRelativeResize="0"/>
          <p:nvPr/>
        </p:nvPicPr>
        <p:blipFill>
          <a:blip r:embed="rId4">
            <a:alphaModFix/>
          </a:blip>
          <a:stretch>
            <a:fillRect/>
          </a:stretch>
        </p:blipFill>
        <p:spPr>
          <a:xfrm>
            <a:off x="0" y="0"/>
            <a:ext cx="9144003" cy="4289902"/>
          </a:xfrm>
          <a:prstGeom prst="rect">
            <a:avLst/>
          </a:prstGeom>
          <a:noFill/>
          <a:ln>
            <a:noFill/>
          </a:ln>
        </p:spPr>
      </p:pic>
      <p:sp>
        <p:nvSpPr>
          <p:cNvPr id="99" name="Google Shape;99;p18"/>
          <p:cNvSpPr txBox="1"/>
          <p:nvPr>
            <p:ph type="title"/>
          </p:nvPr>
        </p:nvSpPr>
        <p:spPr>
          <a:xfrm>
            <a:off x="278700" y="205125"/>
            <a:ext cx="5036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363636"/>
                </a:solidFill>
              </a:rPr>
              <a:t>Significance of </a:t>
            </a:r>
            <a:r>
              <a:rPr b="1" lang="en" sz="3000">
                <a:solidFill>
                  <a:srgbClr val="363636"/>
                </a:solidFill>
              </a:rPr>
              <a:t>this</a:t>
            </a:r>
            <a:r>
              <a:rPr b="1" lang="en" sz="3000">
                <a:solidFill>
                  <a:srgbClr val="363636"/>
                </a:solidFill>
              </a:rPr>
              <a:t> HLP</a:t>
            </a:r>
            <a:endParaRPr b="1" sz="3000">
              <a:solidFill>
                <a:srgbClr val="363636"/>
              </a:solidFill>
            </a:endParaRPr>
          </a:p>
        </p:txBody>
      </p:sp>
      <p:pic>
        <p:nvPicPr>
          <p:cNvPr id="100" name="Google Shape;100;p18"/>
          <p:cNvPicPr preferRelativeResize="0"/>
          <p:nvPr/>
        </p:nvPicPr>
        <p:blipFill>
          <a:blip r:embed="rId5">
            <a:alphaModFix/>
          </a:blip>
          <a:stretch>
            <a:fillRect/>
          </a:stretch>
        </p:blipFill>
        <p:spPr>
          <a:xfrm>
            <a:off x="278690" y="1097625"/>
            <a:ext cx="8231236" cy="1832175"/>
          </a:xfrm>
          <a:prstGeom prst="rect">
            <a:avLst/>
          </a:prstGeom>
          <a:noFill/>
          <a:ln>
            <a:noFill/>
          </a:ln>
        </p:spPr>
      </p:pic>
      <p:pic>
        <p:nvPicPr>
          <p:cNvPr id="101" name="Google Shape;101;p18"/>
          <p:cNvPicPr preferRelativeResize="0"/>
          <p:nvPr/>
        </p:nvPicPr>
        <p:blipFill>
          <a:blip r:embed="rId6">
            <a:alphaModFix/>
          </a:blip>
          <a:stretch>
            <a:fillRect/>
          </a:stretch>
        </p:blipFill>
        <p:spPr>
          <a:xfrm>
            <a:off x="278689" y="3249600"/>
            <a:ext cx="6962185" cy="1001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448775" y="106375"/>
            <a:ext cx="6980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C45C79"/>
                </a:solidFill>
              </a:rPr>
              <a:t>Significance of this HLP</a:t>
            </a:r>
            <a:endParaRPr b="1" sz="3000">
              <a:solidFill>
                <a:srgbClr val="C45C79"/>
              </a:solidFill>
            </a:endParaRPr>
          </a:p>
        </p:txBody>
      </p:sp>
      <p:pic>
        <p:nvPicPr>
          <p:cNvPr id="107" name="Google Shape;107;p19"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108" name="Google Shape;108;p19"/>
          <p:cNvPicPr preferRelativeResize="0"/>
          <p:nvPr/>
        </p:nvPicPr>
        <p:blipFill>
          <a:blip r:embed="rId4">
            <a:alphaModFix/>
          </a:blip>
          <a:stretch>
            <a:fillRect/>
          </a:stretch>
        </p:blipFill>
        <p:spPr>
          <a:xfrm>
            <a:off x="448775" y="929325"/>
            <a:ext cx="7035924" cy="3021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122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accent1"/>
                </a:solidFill>
              </a:rPr>
              <a:t>How this HLP Benefits Students</a:t>
            </a:r>
            <a:endParaRPr b="1">
              <a:solidFill>
                <a:schemeClr val="accent1"/>
              </a:solidFill>
            </a:endParaRPr>
          </a:p>
        </p:txBody>
      </p:sp>
      <p:pic>
        <p:nvPicPr>
          <p:cNvPr id="114" name="Google Shape;114;p20"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115" name="Google Shape;115;p20" title="AdobeStock_169074941.jpeg"/>
          <p:cNvPicPr preferRelativeResize="0"/>
          <p:nvPr/>
        </p:nvPicPr>
        <p:blipFill>
          <a:blip r:embed="rId4">
            <a:alphaModFix/>
          </a:blip>
          <a:stretch>
            <a:fillRect/>
          </a:stretch>
        </p:blipFill>
        <p:spPr>
          <a:xfrm>
            <a:off x="6025425" y="162473"/>
            <a:ext cx="2477225" cy="1653499"/>
          </a:xfrm>
          <a:prstGeom prst="rect">
            <a:avLst/>
          </a:prstGeom>
          <a:noFill/>
          <a:ln>
            <a:noFill/>
          </a:ln>
        </p:spPr>
      </p:pic>
      <p:pic>
        <p:nvPicPr>
          <p:cNvPr id="116" name="Google Shape;116;p20"/>
          <p:cNvPicPr preferRelativeResize="0"/>
          <p:nvPr/>
        </p:nvPicPr>
        <p:blipFill>
          <a:blip r:embed="rId5">
            <a:alphaModFix/>
          </a:blip>
          <a:stretch>
            <a:fillRect/>
          </a:stretch>
        </p:blipFill>
        <p:spPr>
          <a:xfrm>
            <a:off x="329375" y="752775"/>
            <a:ext cx="5310276" cy="754850"/>
          </a:xfrm>
          <a:prstGeom prst="rect">
            <a:avLst/>
          </a:prstGeom>
          <a:noFill/>
          <a:ln>
            <a:noFill/>
          </a:ln>
        </p:spPr>
      </p:pic>
      <p:pic>
        <p:nvPicPr>
          <p:cNvPr id="117" name="Google Shape;117;p20"/>
          <p:cNvPicPr preferRelativeResize="0"/>
          <p:nvPr/>
        </p:nvPicPr>
        <p:blipFill>
          <a:blip r:embed="rId6">
            <a:alphaModFix/>
          </a:blip>
          <a:stretch>
            <a:fillRect/>
          </a:stretch>
        </p:blipFill>
        <p:spPr>
          <a:xfrm>
            <a:off x="329363" y="1529762"/>
            <a:ext cx="5310294" cy="754850"/>
          </a:xfrm>
          <a:prstGeom prst="rect">
            <a:avLst/>
          </a:prstGeom>
          <a:noFill/>
          <a:ln>
            <a:noFill/>
          </a:ln>
        </p:spPr>
      </p:pic>
      <p:pic>
        <p:nvPicPr>
          <p:cNvPr id="118" name="Google Shape;118;p20"/>
          <p:cNvPicPr preferRelativeResize="0"/>
          <p:nvPr/>
        </p:nvPicPr>
        <p:blipFill>
          <a:blip r:embed="rId7">
            <a:alphaModFix/>
          </a:blip>
          <a:stretch>
            <a:fillRect/>
          </a:stretch>
        </p:blipFill>
        <p:spPr>
          <a:xfrm>
            <a:off x="329375" y="2306750"/>
            <a:ext cx="5310276" cy="790625"/>
          </a:xfrm>
          <a:prstGeom prst="rect">
            <a:avLst/>
          </a:prstGeom>
          <a:noFill/>
          <a:ln>
            <a:noFill/>
          </a:ln>
        </p:spPr>
      </p:pic>
      <p:pic>
        <p:nvPicPr>
          <p:cNvPr id="119" name="Google Shape;119;p20"/>
          <p:cNvPicPr preferRelativeResize="0"/>
          <p:nvPr/>
        </p:nvPicPr>
        <p:blipFill>
          <a:blip r:embed="rId8">
            <a:alphaModFix/>
          </a:blip>
          <a:stretch>
            <a:fillRect/>
          </a:stretch>
        </p:blipFill>
        <p:spPr>
          <a:xfrm>
            <a:off x="329375" y="3119526"/>
            <a:ext cx="5310276" cy="853600"/>
          </a:xfrm>
          <a:prstGeom prst="rect">
            <a:avLst/>
          </a:prstGeom>
          <a:noFill/>
          <a:ln>
            <a:noFill/>
          </a:ln>
        </p:spPr>
      </p:pic>
      <p:pic>
        <p:nvPicPr>
          <p:cNvPr id="120" name="Google Shape;120;p20"/>
          <p:cNvPicPr preferRelativeResize="0"/>
          <p:nvPr/>
        </p:nvPicPr>
        <p:blipFill>
          <a:blip r:embed="rId9">
            <a:alphaModFix/>
          </a:blip>
          <a:stretch>
            <a:fillRect/>
          </a:stretch>
        </p:blipFill>
        <p:spPr>
          <a:xfrm>
            <a:off x="5782969" y="2292525"/>
            <a:ext cx="2962132" cy="1520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28225" y="106350"/>
            <a:ext cx="9012600" cy="572700"/>
          </a:xfrm>
          <a:prstGeom prst="rect">
            <a:avLst/>
          </a:prstGeom>
        </p:spPr>
        <p:txBody>
          <a:bodyPr anchorCtr="0" anchor="t" bIns="91425" lIns="91425" spcFirstLastPara="1" rIns="91425" wrap="square" tIns="91425">
            <a:normAutofit fontScale="90000"/>
          </a:bodyPr>
          <a:lstStyle/>
          <a:p>
            <a:pPr indent="-457200" lvl="0" marL="914400" rtl="0" algn="ctr">
              <a:spcBef>
                <a:spcPts val="2000"/>
              </a:spcBef>
              <a:spcAft>
                <a:spcPts val="0"/>
              </a:spcAft>
              <a:buNone/>
            </a:pPr>
            <a:r>
              <a:rPr b="1" lang="en" sz="2761">
                <a:solidFill>
                  <a:srgbClr val="980000"/>
                </a:solidFill>
              </a:rPr>
              <a:t>Evidence-Based Practices that Support HLP 7</a:t>
            </a:r>
            <a:endParaRPr b="1" sz="2761">
              <a:solidFill>
                <a:srgbClr val="980000"/>
              </a:solidFill>
            </a:endParaRPr>
          </a:p>
          <a:p>
            <a:pPr indent="-457200" lvl="0" marL="457200" rtl="0" algn="l">
              <a:spcBef>
                <a:spcPts val="2000"/>
              </a:spcBef>
              <a:spcAft>
                <a:spcPts val="600"/>
              </a:spcAft>
              <a:buClr>
                <a:schemeClr val="dk1"/>
              </a:buClr>
              <a:buSzPct val="44000"/>
              <a:buFont typeface="Arial"/>
              <a:buNone/>
            </a:pPr>
            <a:r>
              <a:t/>
            </a:r>
            <a:endParaRPr sz="2500"/>
          </a:p>
        </p:txBody>
      </p:sp>
      <p:pic>
        <p:nvPicPr>
          <p:cNvPr id="126" name="Google Shape;126;p21" title="AdobeStock_1854807922.jpeg"/>
          <p:cNvPicPr preferRelativeResize="0"/>
          <p:nvPr/>
        </p:nvPicPr>
        <p:blipFill>
          <a:blip r:embed="rId3">
            <a:alphaModFix/>
          </a:blip>
          <a:stretch>
            <a:fillRect/>
          </a:stretch>
        </p:blipFill>
        <p:spPr>
          <a:xfrm>
            <a:off x="5522850" y="1495239"/>
            <a:ext cx="3517962" cy="1971963"/>
          </a:xfrm>
          <a:prstGeom prst="rect">
            <a:avLst/>
          </a:prstGeom>
          <a:noFill/>
          <a:ln>
            <a:noFill/>
          </a:ln>
        </p:spPr>
      </p:pic>
      <p:pic>
        <p:nvPicPr>
          <p:cNvPr id="127" name="Google Shape;127;p21" title="Screenshot 2026-06-03 at 3.13.19 PM.png"/>
          <p:cNvPicPr preferRelativeResize="0"/>
          <p:nvPr/>
        </p:nvPicPr>
        <p:blipFill rotWithShape="1">
          <a:blip r:embed="rId4">
            <a:alphaModFix/>
          </a:blip>
          <a:srcRect b="0" l="11017" r="11017" t="0"/>
          <a:stretch/>
        </p:blipFill>
        <p:spPr>
          <a:xfrm>
            <a:off x="0" y="4289900"/>
            <a:ext cx="9144003" cy="853600"/>
          </a:xfrm>
          <a:prstGeom prst="rect">
            <a:avLst/>
          </a:prstGeom>
          <a:noFill/>
          <a:ln>
            <a:noFill/>
          </a:ln>
        </p:spPr>
      </p:pic>
      <p:pic>
        <p:nvPicPr>
          <p:cNvPr id="128" name="Google Shape;128;p21"/>
          <p:cNvPicPr preferRelativeResize="0"/>
          <p:nvPr/>
        </p:nvPicPr>
        <p:blipFill>
          <a:blip r:embed="rId5">
            <a:alphaModFix/>
          </a:blip>
          <a:stretch>
            <a:fillRect/>
          </a:stretch>
        </p:blipFill>
        <p:spPr>
          <a:xfrm>
            <a:off x="314025" y="825500"/>
            <a:ext cx="5266174" cy="34644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564450" y="1044225"/>
            <a:ext cx="2991600" cy="1905000"/>
          </a:xfrm>
          <a:prstGeom prst="rect">
            <a:avLst/>
          </a:prstGeom>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b="1" lang="en">
                <a:solidFill>
                  <a:srgbClr val="980000"/>
                </a:solidFill>
              </a:rPr>
              <a:t>Evidence-Based Practices </a:t>
            </a:r>
            <a:endParaRPr b="1">
              <a:solidFill>
                <a:srgbClr val="980000"/>
              </a:solidFill>
            </a:endParaRPr>
          </a:p>
          <a:p>
            <a:pPr indent="-457200" lvl="0" marL="457200" rtl="0" algn="l">
              <a:spcBef>
                <a:spcPts val="0"/>
              </a:spcBef>
              <a:spcAft>
                <a:spcPts val="0"/>
              </a:spcAft>
              <a:buClr>
                <a:schemeClr val="dk1"/>
              </a:buClr>
              <a:buSzPts val="1100"/>
              <a:buFont typeface="Arial"/>
              <a:buNone/>
            </a:pPr>
            <a:r>
              <a:rPr b="1" lang="en">
                <a:solidFill>
                  <a:srgbClr val="980000"/>
                </a:solidFill>
              </a:rPr>
              <a:t>that Support </a:t>
            </a:r>
            <a:endParaRPr b="1">
              <a:solidFill>
                <a:srgbClr val="980000"/>
              </a:solidFill>
            </a:endParaRPr>
          </a:p>
          <a:p>
            <a:pPr indent="-457200" lvl="0" marL="457200" rtl="0" algn="l">
              <a:spcBef>
                <a:spcPts val="0"/>
              </a:spcBef>
              <a:spcAft>
                <a:spcPts val="0"/>
              </a:spcAft>
              <a:buClr>
                <a:schemeClr val="dk1"/>
              </a:buClr>
              <a:buSzPts val="1100"/>
              <a:buFont typeface="Arial"/>
              <a:buNone/>
            </a:pPr>
            <a:r>
              <a:rPr b="1" lang="en">
                <a:solidFill>
                  <a:srgbClr val="980000"/>
                </a:solidFill>
              </a:rPr>
              <a:t>HLP 7</a:t>
            </a:r>
            <a:endParaRPr b="1">
              <a:solidFill>
                <a:srgbClr val="980000"/>
              </a:solidFill>
            </a:endParaRPr>
          </a:p>
          <a:p>
            <a:pPr indent="0" lvl="0" marL="0" rtl="0" algn="l">
              <a:spcBef>
                <a:spcPts val="1000"/>
              </a:spcBef>
              <a:spcAft>
                <a:spcPts val="0"/>
              </a:spcAft>
              <a:buNone/>
            </a:pPr>
            <a:r>
              <a:t/>
            </a:r>
            <a:endParaRPr/>
          </a:p>
        </p:txBody>
      </p:sp>
      <p:pic>
        <p:nvPicPr>
          <p:cNvPr id="134" name="Google Shape;134;p22"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135" name="Google Shape;135;p22"/>
          <p:cNvPicPr preferRelativeResize="0"/>
          <p:nvPr/>
        </p:nvPicPr>
        <p:blipFill>
          <a:blip r:embed="rId4">
            <a:alphaModFix/>
          </a:blip>
          <a:stretch>
            <a:fillRect/>
          </a:stretch>
        </p:blipFill>
        <p:spPr>
          <a:xfrm>
            <a:off x="3993450" y="184750"/>
            <a:ext cx="4836424" cy="39373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3" title="AdobeStock_1951960158.jpeg"/>
          <p:cNvPicPr preferRelativeResize="0"/>
          <p:nvPr/>
        </p:nvPicPr>
        <p:blipFill>
          <a:blip r:embed="rId3">
            <a:alphaModFix/>
          </a:blip>
          <a:stretch>
            <a:fillRect/>
          </a:stretch>
        </p:blipFill>
        <p:spPr>
          <a:xfrm>
            <a:off x="5249325" y="0"/>
            <a:ext cx="4113398" cy="4289899"/>
          </a:xfrm>
          <a:prstGeom prst="rect">
            <a:avLst/>
          </a:prstGeom>
          <a:noFill/>
          <a:ln>
            <a:noFill/>
          </a:ln>
        </p:spPr>
      </p:pic>
      <p:sp>
        <p:nvSpPr>
          <p:cNvPr id="141" name="Google Shape;141;p23"/>
          <p:cNvSpPr txBox="1"/>
          <p:nvPr>
            <p:ph type="title"/>
          </p:nvPr>
        </p:nvSpPr>
        <p:spPr>
          <a:xfrm>
            <a:off x="5443975" y="372750"/>
            <a:ext cx="2366400" cy="1793400"/>
          </a:xfrm>
          <a:prstGeom prst="rect">
            <a:avLst/>
          </a:prstGeom>
        </p:spPr>
        <p:txBody>
          <a:bodyPr anchorCtr="0" anchor="t" bIns="91425" lIns="91425" spcFirstLastPara="1" rIns="91425" wrap="square" tIns="91425">
            <a:normAutofit/>
          </a:bodyPr>
          <a:lstStyle/>
          <a:p>
            <a:pPr indent="0" lvl="0" marL="114300" rtl="0" algn="l">
              <a:spcBef>
                <a:spcPts val="2000"/>
              </a:spcBef>
              <a:spcAft>
                <a:spcPts val="600"/>
              </a:spcAft>
              <a:buClr>
                <a:schemeClr val="dk1"/>
              </a:buClr>
              <a:buSzPts val="1100"/>
              <a:buFont typeface="Arial"/>
              <a:buNone/>
            </a:pPr>
            <a:r>
              <a:rPr b="1" lang="en" sz="2500">
                <a:solidFill>
                  <a:srgbClr val="980000"/>
                </a:solidFill>
              </a:rPr>
              <a:t>Common Challenges and Solutions</a:t>
            </a:r>
            <a:endParaRPr b="1" sz="2500">
              <a:solidFill>
                <a:srgbClr val="980000"/>
              </a:solidFill>
            </a:endParaRPr>
          </a:p>
        </p:txBody>
      </p:sp>
      <p:pic>
        <p:nvPicPr>
          <p:cNvPr id="142" name="Google Shape;142;p23" title="Screenshot 2026-06-03 at 3.13.19 PM.png"/>
          <p:cNvPicPr preferRelativeResize="0"/>
          <p:nvPr/>
        </p:nvPicPr>
        <p:blipFill rotWithShape="1">
          <a:blip r:embed="rId4">
            <a:alphaModFix/>
          </a:blip>
          <a:srcRect b="0" l="11017" r="11017" t="0"/>
          <a:stretch/>
        </p:blipFill>
        <p:spPr>
          <a:xfrm>
            <a:off x="0" y="4289900"/>
            <a:ext cx="9144003" cy="853600"/>
          </a:xfrm>
          <a:prstGeom prst="rect">
            <a:avLst/>
          </a:prstGeom>
          <a:noFill/>
          <a:ln>
            <a:noFill/>
          </a:ln>
        </p:spPr>
      </p:pic>
      <p:pic>
        <p:nvPicPr>
          <p:cNvPr id="143" name="Google Shape;143;p23"/>
          <p:cNvPicPr preferRelativeResize="0"/>
          <p:nvPr/>
        </p:nvPicPr>
        <p:blipFill>
          <a:blip r:embed="rId5">
            <a:alphaModFix/>
          </a:blip>
          <a:stretch>
            <a:fillRect/>
          </a:stretch>
        </p:blipFill>
        <p:spPr>
          <a:xfrm>
            <a:off x="28225" y="132850"/>
            <a:ext cx="5415748" cy="41570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1483775" y="99300"/>
            <a:ext cx="6176400" cy="572700"/>
          </a:xfrm>
          <a:prstGeom prst="rect">
            <a:avLst/>
          </a:prstGeom>
        </p:spPr>
        <p:txBody>
          <a:bodyPr anchorCtr="0" anchor="t" bIns="91425" lIns="91425" spcFirstLastPara="1" rIns="91425" wrap="square" tIns="91425">
            <a:normAutofit/>
          </a:bodyPr>
          <a:lstStyle/>
          <a:p>
            <a:pPr indent="-457200" lvl="0" marL="457200" rtl="0" algn="ctr">
              <a:spcBef>
                <a:spcPts val="2000"/>
              </a:spcBef>
              <a:spcAft>
                <a:spcPts val="600"/>
              </a:spcAft>
              <a:buNone/>
            </a:pPr>
            <a:r>
              <a:rPr lang="en" sz="2500"/>
              <a:t> </a:t>
            </a:r>
            <a:r>
              <a:rPr b="1" lang="en" sz="2500">
                <a:solidFill>
                  <a:schemeClr val="accent1"/>
                </a:solidFill>
              </a:rPr>
              <a:t>Common Challenges and Solutions</a:t>
            </a:r>
            <a:endParaRPr b="1" sz="2500">
              <a:solidFill>
                <a:schemeClr val="accent1"/>
              </a:solidFill>
            </a:endParaRPr>
          </a:p>
        </p:txBody>
      </p:sp>
      <p:pic>
        <p:nvPicPr>
          <p:cNvPr id="149" name="Google Shape;149;p24"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150" name="Google Shape;150;p24"/>
          <p:cNvPicPr preferRelativeResize="0"/>
          <p:nvPr/>
        </p:nvPicPr>
        <p:blipFill>
          <a:blip r:embed="rId4">
            <a:alphaModFix/>
          </a:blip>
          <a:stretch>
            <a:fillRect/>
          </a:stretch>
        </p:blipFill>
        <p:spPr>
          <a:xfrm>
            <a:off x="1483787" y="702613"/>
            <a:ext cx="6176425" cy="3556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rot="-5400488">
            <a:off x="-1708039" y="1862000"/>
            <a:ext cx="4226400" cy="572700"/>
          </a:xfrm>
          <a:prstGeom prst="rect">
            <a:avLst/>
          </a:prstGeom>
        </p:spPr>
        <p:txBody>
          <a:bodyPr anchorCtr="0" anchor="t" bIns="91425" lIns="91425" spcFirstLastPara="1" rIns="91425" wrap="square" tIns="91425">
            <a:noAutofit/>
          </a:bodyPr>
          <a:lstStyle/>
          <a:p>
            <a:pPr indent="-457200" lvl="0" marL="457200" rtl="0" algn="ctr">
              <a:spcBef>
                <a:spcPts val="2000"/>
              </a:spcBef>
              <a:spcAft>
                <a:spcPts val="600"/>
              </a:spcAft>
              <a:buClr>
                <a:schemeClr val="dk1"/>
              </a:buClr>
              <a:buSzPts val="1100"/>
              <a:buFont typeface="Arial"/>
              <a:buNone/>
            </a:pPr>
            <a:r>
              <a:rPr b="1" lang="en" sz="3000">
                <a:solidFill>
                  <a:srgbClr val="980000"/>
                </a:solidFill>
              </a:rPr>
              <a:t>Implementation</a:t>
            </a:r>
            <a:r>
              <a:rPr b="1" lang="en" sz="3000">
                <a:solidFill>
                  <a:srgbClr val="980000"/>
                </a:solidFill>
              </a:rPr>
              <a:t> Tips</a:t>
            </a:r>
            <a:endParaRPr b="1" sz="3000">
              <a:solidFill>
                <a:srgbClr val="980000"/>
              </a:solidFill>
            </a:endParaRPr>
          </a:p>
        </p:txBody>
      </p:sp>
      <p:pic>
        <p:nvPicPr>
          <p:cNvPr id="156" name="Google Shape;156;p25"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157" name="Google Shape;157;p25"/>
          <p:cNvPicPr preferRelativeResize="0"/>
          <p:nvPr/>
        </p:nvPicPr>
        <p:blipFill>
          <a:blip r:embed="rId4">
            <a:alphaModFix/>
          </a:blip>
          <a:stretch>
            <a:fillRect/>
          </a:stretch>
        </p:blipFill>
        <p:spPr>
          <a:xfrm>
            <a:off x="950638" y="174000"/>
            <a:ext cx="7700048" cy="3137461"/>
          </a:xfrm>
          <a:prstGeom prst="rect">
            <a:avLst/>
          </a:prstGeom>
          <a:noFill/>
          <a:ln>
            <a:noFill/>
          </a:ln>
        </p:spPr>
      </p:pic>
      <p:pic>
        <p:nvPicPr>
          <p:cNvPr id="158" name="Google Shape;158;p25"/>
          <p:cNvPicPr preferRelativeResize="0"/>
          <p:nvPr/>
        </p:nvPicPr>
        <p:blipFill>
          <a:blip r:embed="rId5">
            <a:alphaModFix/>
          </a:blip>
          <a:stretch>
            <a:fillRect/>
          </a:stretch>
        </p:blipFill>
        <p:spPr>
          <a:xfrm>
            <a:off x="910150" y="3311460"/>
            <a:ext cx="7802663" cy="92186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417500" y="1615725"/>
            <a:ext cx="2284800" cy="15027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0"/>
              </a:spcAft>
              <a:buNone/>
            </a:pPr>
            <a:r>
              <a:rPr b="1" lang="en" sz="3000">
                <a:solidFill>
                  <a:srgbClr val="980000"/>
                </a:solidFill>
              </a:rPr>
              <a:t>Observable </a:t>
            </a:r>
            <a:endParaRPr b="1" sz="3000">
              <a:solidFill>
                <a:srgbClr val="980000"/>
              </a:solidFill>
            </a:endParaRPr>
          </a:p>
          <a:p>
            <a:pPr indent="-457200" lvl="0" marL="457200" rtl="0" algn="l">
              <a:spcBef>
                <a:spcPts val="0"/>
              </a:spcBef>
              <a:spcAft>
                <a:spcPts val="0"/>
              </a:spcAft>
              <a:buNone/>
            </a:pPr>
            <a:r>
              <a:rPr b="1" lang="en" sz="3000">
                <a:solidFill>
                  <a:srgbClr val="980000"/>
                </a:solidFill>
              </a:rPr>
              <a:t>Indicators</a:t>
            </a:r>
            <a:endParaRPr b="1" sz="3000">
              <a:solidFill>
                <a:srgbClr val="980000"/>
              </a:solidFill>
            </a:endParaRPr>
          </a:p>
        </p:txBody>
      </p:sp>
      <p:pic>
        <p:nvPicPr>
          <p:cNvPr id="164" name="Google Shape;164;p26"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165" name="Google Shape;165;p26"/>
          <p:cNvPicPr preferRelativeResize="0"/>
          <p:nvPr/>
        </p:nvPicPr>
        <p:blipFill>
          <a:blip r:embed="rId4">
            <a:alphaModFix/>
          </a:blip>
          <a:stretch>
            <a:fillRect/>
          </a:stretch>
        </p:blipFill>
        <p:spPr>
          <a:xfrm>
            <a:off x="2935125" y="199025"/>
            <a:ext cx="5983276" cy="39102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7"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171" name="Google Shape;171;p27" title="AdobeStock_396413197.jpeg"/>
          <p:cNvPicPr preferRelativeResize="0"/>
          <p:nvPr/>
        </p:nvPicPr>
        <p:blipFill>
          <a:blip r:embed="rId4">
            <a:alphaModFix/>
          </a:blip>
          <a:stretch>
            <a:fillRect/>
          </a:stretch>
        </p:blipFill>
        <p:spPr>
          <a:xfrm>
            <a:off x="5101175" y="1715193"/>
            <a:ext cx="4014602" cy="1653256"/>
          </a:xfrm>
          <a:prstGeom prst="rect">
            <a:avLst/>
          </a:prstGeom>
          <a:noFill/>
          <a:ln>
            <a:noFill/>
          </a:ln>
        </p:spPr>
      </p:pic>
      <p:sp>
        <p:nvSpPr>
          <p:cNvPr id="172" name="Google Shape;172;p27"/>
          <p:cNvSpPr txBox="1"/>
          <p:nvPr>
            <p:ph type="title"/>
          </p:nvPr>
        </p:nvSpPr>
        <p:spPr>
          <a:xfrm>
            <a:off x="5101175" y="1087900"/>
            <a:ext cx="4014600" cy="627300"/>
          </a:xfrm>
          <a:prstGeom prst="rect">
            <a:avLst/>
          </a:prstGeom>
        </p:spPr>
        <p:txBody>
          <a:bodyPr anchorCtr="0" anchor="t" bIns="91425" lIns="91425" spcFirstLastPara="1" rIns="91425" wrap="square" tIns="91425">
            <a:normAutofit/>
          </a:bodyPr>
          <a:lstStyle/>
          <a:p>
            <a:pPr indent="-457200" lvl="0" marL="457200" rtl="0" algn="ctr">
              <a:spcBef>
                <a:spcPts val="2000"/>
              </a:spcBef>
              <a:spcAft>
                <a:spcPts val="600"/>
              </a:spcAft>
              <a:buNone/>
            </a:pPr>
            <a:r>
              <a:rPr b="1" lang="en" sz="2400">
                <a:solidFill>
                  <a:schemeClr val="accent1"/>
                </a:solidFill>
              </a:rPr>
              <a:t>Questions</a:t>
            </a:r>
            <a:r>
              <a:rPr b="1" lang="en" sz="2400">
                <a:solidFill>
                  <a:schemeClr val="accent1"/>
                </a:solidFill>
              </a:rPr>
              <a:t> to Consider</a:t>
            </a:r>
            <a:endParaRPr b="1" sz="2400">
              <a:solidFill>
                <a:schemeClr val="accent1"/>
              </a:solidFill>
            </a:endParaRPr>
          </a:p>
        </p:txBody>
      </p:sp>
      <p:pic>
        <p:nvPicPr>
          <p:cNvPr id="173" name="Google Shape;173;p27"/>
          <p:cNvPicPr preferRelativeResize="0"/>
          <p:nvPr/>
        </p:nvPicPr>
        <p:blipFill>
          <a:blip r:embed="rId5">
            <a:alphaModFix/>
          </a:blip>
          <a:stretch>
            <a:fillRect/>
          </a:stretch>
        </p:blipFill>
        <p:spPr>
          <a:xfrm>
            <a:off x="167825" y="282300"/>
            <a:ext cx="5367225" cy="39030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234100" y="92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accent1"/>
                </a:solidFill>
              </a:rPr>
              <a:t>References</a:t>
            </a:r>
            <a:endParaRPr b="1">
              <a:solidFill>
                <a:schemeClr val="accent1"/>
              </a:solidFill>
            </a:endParaRPr>
          </a:p>
        </p:txBody>
      </p:sp>
      <p:sp>
        <p:nvSpPr>
          <p:cNvPr id="179" name="Google Shape;179;p28"/>
          <p:cNvSpPr txBox="1"/>
          <p:nvPr/>
        </p:nvSpPr>
        <p:spPr>
          <a:xfrm>
            <a:off x="303400" y="629650"/>
            <a:ext cx="8678400" cy="419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262B30"/>
                </a:solidFill>
              </a:rPr>
              <a:t>Aceves, T. C., &amp; Kennedy, M. J. (Eds.). (2024). </a:t>
            </a:r>
            <a:r>
              <a:rPr i="1" lang="en" sz="1200">
                <a:solidFill>
                  <a:srgbClr val="262B30"/>
                </a:solidFill>
              </a:rPr>
              <a:t>High-leverage practices for students with disabilities</a:t>
            </a:r>
            <a:r>
              <a:rPr lang="en" sz="1200">
                <a:solidFill>
                  <a:srgbClr val="262B30"/>
                </a:solidFill>
              </a:rPr>
              <a:t> (2nd </a:t>
            </a:r>
            <a:endParaRPr sz="1200">
              <a:solidFill>
                <a:srgbClr val="262B30"/>
              </a:solidFill>
            </a:endParaRPr>
          </a:p>
          <a:p>
            <a:pPr indent="457200" lvl="0" marL="0" rtl="0" algn="l">
              <a:lnSpc>
                <a:spcPct val="115000"/>
              </a:lnSpc>
              <a:spcBef>
                <a:spcPts val="0"/>
              </a:spcBef>
              <a:spcAft>
                <a:spcPts val="0"/>
              </a:spcAft>
              <a:buNone/>
            </a:pPr>
            <a:r>
              <a:rPr lang="en" sz="1200">
                <a:solidFill>
                  <a:srgbClr val="262B30"/>
                </a:solidFill>
              </a:rPr>
              <a:t>ed.). Council for Exceptional Children and CEEDAR Center.  </a:t>
            </a:r>
            <a:endParaRPr sz="1200">
              <a:solidFill>
                <a:srgbClr val="262B30"/>
              </a:solidFill>
            </a:endParaRPr>
          </a:p>
          <a:p>
            <a:pPr indent="0" lvl="0" marL="0" rtl="0" algn="l">
              <a:lnSpc>
                <a:spcPct val="115000"/>
              </a:lnSpc>
              <a:spcBef>
                <a:spcPts val="0"/>
              </a:spcBef>
              <a:spcAft>
                <a:spcPts val="0"/>
              </a:spcAft>
              <a:buNone/>
            </a:pPr>
            <a:r>
              <a:rPr lang="en" sz="1200">
                <a:solidFill>
                  <a:srgbClr val="262B30"/>
                </a:solidFill>
              </a:rPr>
              <a:t>Council for Exceptional Children. (n.d.). HLP 7: Establish a consistent, organized, and responsive learning </a:t>
            </a:r>
            <a:endParaRPr sz="1200">
              <a:solidFill>
                <a:srgbClr val="262B30"/>
              </a:solidFill>
            </a:endParaRPr>
          </a:p>
          <a:p>
            <a:pPr indent="457200" lvl="0" marL="0" rtl="0" algn="l">
              <a:lnSpc>
                <a:spcPct val="115000"/>
              </a:lnSpc>
              <a:spcBef>
                <a:spcPts val="0"/>
              </a:spcBef>
              <a:spcAft>
                <a:spcPts val="0"/>
              </a:spcAft>
              <a:buNone/>
            </a:pPr>
            <a:r>
              <a:rPr lang="en" sz="1200">
                <a:solidFill>
                  <a:srgbClr val="262B30"/>
                </a:solidFill>
              </a:rPr>
              <a:t>environment. Faculty implementation resources. </a:t>
            </a:r>
            <a:endParaRPr sz="1200">
              <a:solidFill>
                <a:srgbClr val="262B30"/>
              </a:solidFill>
            </a:endParaRPr>
          </a:p>
          <a:p>
            <a:pPr indent="457200" lvl="0" marL="0" rtl="0" algn="l">
              <a:lnSpc>
                <a:spcPct val="115000"/>
              </a:lnSpc>
              <a:spcBef>
                <a:spcPts val="0"/>
              </a:spcBef>
              <a:spcAft>
                <a:spcPts val="0"/>
              </a:spcAft>
              <a:buNone/>
            </a:pPr>
            <a:r>
              <a:rPr lang="en" sz="1200" u="sng">
                <a:solidFill>
                  <a:schemeClr val="hlink"/>
                </a:solidFill>
                <a:hlinkClick r:id="rId3"/>
              </a:rPr>
              <a:t>https://highleveragepractices.org/sites/default/files/2025-08/HLP%20Faculty%20Guides%202025%20</a:t>
            </a:r>
            <a:endParaRPr sz="1200"/>
          </a:p>
          <a:p>
            <a:pPr indent="457200" lvl="0" marL="0" rtl="0" algn="l">
              <a:lnSpc>
                <a:spcPct val="115000"/>
              </a:lnSpc>
              <a:spcBef>
                <a:spcPts val="0"/>
              </a:spcBef>
              <a:spcAft>
                <a:spcPts val="0"/>
              </a:spcAft>
              <a:buNone/>
            </a:pPr>
            <a:r>
              <a:rPr lang="en" sz="1200" u="sng">
                <a:solidFill>
                  <a:schemeClr val="hlink"/>
                </a:solidFill>
                <a:hlinkClick r:id="rId4"/>
              </a:rPr>
              <a:t>-%20HLP%207.pdf</a:t>
            </a:r>
            <a:endParaRPr sz="1200">
              <a:solidFill>
                <a:srgbClr val="262B30"/>
              </a:solidFill>
            </a:endParaRPr>
          </a:p>
          <a:p>
            <a:pPr indent="0" lvl="0" marL="0" rtl="0" algn="l">
              <a:lnSpc>
                <a:spcPct val="115000"/>
              </a:lnSpc>
              <a:spcBef>
                <a:spcPts val="0"/>
              </a:spcBef>
              <a:spcAft>
                <a:spcPts val="0"/>
              </a:spcAft>
              <a:buNone/>
            </a:pPr>
            <a:r>
              <a:rPr lang="en" sz="1200">
                <a:solidFill>
                  <a:srgbClr val="262B30"/>
                </a:solidFill>
              </a:rPr>
              <a:t>Institute of Education Sciences, What Works Clearinghouse. (2024). Teacher-delivered behavioral </a:t>
            </a:r>
            <a:endParaRPr sz="1200">
              <a:solidFill>
                <a:srgbClr val="262B30"/>
              </a:solidFill>
            </a:endParaRPr>
          </a:p>
          <a:p>
            <a:pPr indent="457200" lvl="0" marL="0" rtl="0" algn="l">
              <a:lnSpc>
                <a:spcPct val="115000"/>
              </a:lnSpc>
              <a:spcBef>
                <a:spcPts val="0"/>
              </a:spcBef>
              <a:spcAft>
                <a:spcPts val="0"/>
              </a:spcAft>
              <a:buNone/>
            </a:pPr>
            <a:r>
              <a:rPr lang="en" sz="1200">
                <a:solidFill>
                  <a:srgbClr val="262B30"/>
                </a:solidFill>
              </a:rPr>
              <a:t>interventions in grades K–5.  </a:t>
            </a:r>
            <a:r>
              <a:rPr lang="en" sz="1200">
                <a:solidFill>
                  <a:srgbClr val="262B30"/>
                </a:solidFill>
                <a:uFill>
                  <a:noFill/>
                </a:uFill>
                <a:hlinkClick r:id="rId5">
                  <a:extLst>
                    <a:ext uri="{A12FA001-AC4F-418D-AE19-62706E023703}">
                      <ahyp:hlinkClr val="tx"/>
                    </a:ext>
                  </a:extLst>
                </a:hlinkClick>
              </a:rPr>
              <a:t> </a:t>
            </a:r>
            <a:r>
              <a:rPr lang="en" sz="1200" u="sng">
                <a:solidFill>
                  <a:schemeClr val="hlink"/>
                </a:solidFill>
                <a:hlinkClick r:id="rId6"/>
              </a:rPr>
              <a:t>https://ies.ed.gov/ncee/wwc/practiceguide/31</a:t>
            </a:r>
            <a:endParaRPr sz="1200" u="sng">
              <a:solidFill>
                <a:schemeClr val="hlink"/>
              </a:solidFill>
            </a:endParaRPr>
          </a:p>
          <a:p>
            <a:pPr indent="0" lvl="0" marL="0" rtl="0" algn="l">
              <a:lnSpc>
                <a:spcPct val="115000"/>
              </a:lnSpc>
              <a:spcBef>
                <a:spcPts val="0"/>
              </a:spcBef>
              <a:spcAft>
                <a:spcPts val="0"/>
              </a:spcAft>
              <a:buNone/>
            </a:pPr>
            <a:r>
              <a:rPr lang="en" sz="1200">
                <a:solidFill>
                  <a:srgbClr val="262B30"/>
                </a:solidFill>
              </a:rPr>
              <a:t>Korpershoek, H., de Boer, H., &amp; Mouw, J. M. (2026). An update of the meta-analysis of the effects of </a:t>
            </a:r>
            <a:endParaRPr sz="1200">
              <a:solidFill>
                <a:srgbClr val="262B30"/>
              </a:solidFill>
            </a:endParaRPr>
          </a:p>
          <a:p>
            <a:pPr indent="0" lvl="0" marL="457200" rtl="0" algn="l">
              <a:lnSpc>
                <a:spcPct val="115000"/>
              </a:lnSpc>
              <a:spcBef>
                <a:spcPts val="0"/>
              </a:spcBef>
              <a:spcAft>
                <a:spcPts val="0"/>
              </a:spcAft>
              <a:buNone/>
            </a:pPr>
            <a:r>
              <a:rPr lang="en" sz="1200">
                <a:solidFill>
                  <a:srgbClr val="262B30"/>
                </a:solidFill>
              </a:rPr>
              <a:t>classroom management interventions on students’ academic,   behavioral, social-emotional, and motivational outcomes. </a:t>
            </a:r>
            <a:r>
              <a:rPr i="1" lang="en" sz="1200">
                <a:solidFill>
                  <a:srgbClr val="262B30"/>
                </a:solidFill>
              </a:rPr>
              <a:t>Review of Educational   Research</a:t>
            </a:r>
            <a:r>
              <a:rPr lang="en" sz="1200">
                <a:solidFill>
                  <a:srgbClr val="262B30"/>
                </a:solidFill>
              </a:rPr>
              <a:t>, </a:t>
            </a:r>
            <a:r>
              <a:rPr i="1" lang="en" sz="1200">
                <a:solidFill>
                  <a:srgbClr val="262B30"/>
                </a:solidFill>
              </a:rPr>
              <a:t>96</a:t>
            </a:r>
            <a:r>
              <a:rPr lang="en" sz="1200">
                <a:solidFill>
                  <a:srgbClr val="262B30"/>
                </a:solidFill>
              </a:rPr>
              <a:t>(5), 1640-1680.</a:t>
            </a:r>
            <a:r>
              <a:rPr lang="en" sz="1200">
                <a:solidFill>
                  <a:srgbClr val="262B30"/>
                </a:solidFill>
                <a:uFill>
                  <a:noFill/>
                </a:uFill>
                <a:hlinkClick r:id="rId7">
                  <a:extLst>
                    <a:ext uri="{A12FA001-AC4F-418D-AE19-62706E023703}">
                      <ahyp:hlinkClr val="tx"/>
                    </a:ext>
                  </a:extLst>
                </a:hlinkClick>
              </a:rPr>
              <a:t> </a:t>
            </a:r>
            <a:r>
              <a:rPr lang="en" sz="1200" u="sng">
                <a:solidFill>
                  <a:schemeClr val="hlink"/>
                </a:solidFill>
                <a:hlinkClick r:id="rId8"/>
              </a:rPr>
              <a:t>https://doi-org/10.3102/00346543251361903</a:t>
            </a:r>
            <a:endParaRPr sz="1200" u="sng">
              <a:solidFill>
                <a:schemeClr val="hlink"/>
              </a:solidFill>
            </a:endParaRPr>
          </a:p>
          <a:p>
            <a:pPr indent="0" lvl="0" marL="0" rtl="0" algn="l">
              <a:lnSpc>
                <a:spcPct val="115000"/>
              </a:lnSpc>
              <a:spcBef>
                <a:spcPts val="0"/>
              </a:spcBef>
              <a:spcAft>
                <a:spcPts val="0"/>
              </a:spcAft>
              <a:buNone/>
            </a:pPr>
            <a:r>
              <a:rPr lang="en" sz="1200">
                <a:solidFill>
                  <a:schemeClr val="dk1"/>
                </a:solidFill>
              </a:rPr>
              <a:t>Owiny, R. L., &amp; Cornelius, K. E. (2024). </a:t>
            </a:r>
            <a:r>
              <a:rPr i="1" lang="en" sz="1200">
                <a:solidFill>
                  <a:schemeClr val="dk1"/>
                </a:solidFill>
              </a:rPr>
              <a:t>The practical guide to high-leverage practices in special education: </a:t>
            </a:r>
            <a:endParaRPr i="1" sz="1200">
              <a:solidFill>
                <a:schemeClr val="dk1"/>
              </a:solidFill>
            </a:endParaRPr>
          </a:p>
          <a:p>
            <a:pPr indent="457200" lvl="0" marL="0" rtl="0" algn="l">
              <a:lnSpc>
                <a:spcPct val="115000"/>
              </a:lnSpc>
              <a:spcBef>
                <a:spcPts val="0"/>
              </a:spcBef>
              <a:spcAft>
                <a:spcPts val="0"/>
              </a:spcAft>
              <a:buNone/>
            </a:pPr>
            <a:r>
              <a:rPr i="1" lang="en" sz="1200">
                <a:solidFill>
                  <a:schemeClr val="dk1"/>
                </a:solidFill>
              </a:rPr>
              <a:t>The purposeful “how” to enhance classroom rigor.</a:t>
            </a:r>
            <a:r>
              <a:rPr lang="en" sz="1200">
                <a:solidFill>
                  <a:schemeClr val="dk1"/>
                </a:solidFill>
              </a:rPr>
              <a:t> Routledge.</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Simonsen, B., Putnam, R., Yaneck, K., Evanovich, L., Shaw, S. Shuttleton, C. Morris, K., &amp; Mitchell, B. </a:t>
            </a:r>
            <a:endParaRPr sz="1200">
              <a:solidFill>
                <a:schemeClr val="dk1"/>
              </a:solidFill>
            </a:endParaRPr>
          </a:p>
          <a:p>
            <a:pPr indent="457200" lvl="0" marL="457200" rtl="0" algn="l">
              <a:lnSpc>
                <a:spcPct val="115000"/>
              </a:lnSpc>
              <a:spcBef>
                <a:spcPts val="0"/>
              </a:spcBef>
              <a:spcAft>
                <a:spcPts val="0"/>
              </a:spcAft>
              <a:buNone/>
            </a:pPr>
            <a:r>
              <a:rPr lang="en" sz="1200">
                <a:solidFill>
                  <a:schemeClr val="dk1"/>
                </a:solidFill>
              </a:rPr>
              <a:t>(February, 2020). Supporting students with disabilities within a   PBIS framework. Center on PBIS, University of Oregon. www.pbis.org.</a:t>
            </a:r>
            <a:endParaRPr sz="1200">
              <a:solidFill>
                <a:schemeClr val="dk1"/>
              </a:solidFill>
            </a:endParaRPr>
          </a:p>
          <a:p>
            <a:pPr indent="0" lvl="0" marL="0" rtl="0" algn="l">
              <a:lnSpc>
                <a:spcPct val="115000"/>
              </a:lnSpc>
              <a:spcBef>
                <a:spcPts val="0"/>
              </a:spcBef>
              <a:spcAft>
                <a:spcPts val="0"/>
              </a:spcAft>
              <a:buNone/>
            </a:pPr>
            <a:r>
              <a:rPr lang="en" sz="1200">
                <a:solidFill>
                  <a:srgbClr val="262B30"/>
                </a:solidFill>
              </a:rPr>
              <a:t>Weinstein, C. S., Tomlinson-Clarke, S., &amp; Curran, M. (2004). Toward a conception of culturally responsive </a:t>
            </a:r>
            <a:endParaRPr sz="1200">
              <a:solidFill>
                <a:srgbClr val="262B30"/>
              </a:solidFill>
            </a:endParaRPr>
          </a:p>
          <a:p>
            <a:pPr indent="457200" lvl="0" marL="0" rtl="0" algn="l">
              <a:lnSpc>
                <a:spcPct val="115000"/>
              </a:lnSpc>
              <a:spcBef>
                <a:spcPts val="0"/>
              </a:spcBef>
              <a:spcAft>
                <a:spcPts val="0"/>
              </a:spcAft>
              <a:buNone/>
            </a:pPr>
            <a:r>
              <a:rPr lang="en" sz="1200">
                <a:solidFill>
                  <a:srgbClr val="262B30"/>
                </a:solidFill>
              </a:rPr>
              <a:t>classroom management. </a:t>
            </a:r>
            <a:r>
              <a:rPr i="1" lang="en" sz="1200">
                <a:solidFill>
                  <a:srgbClr val="262B30"/>
                </a:solidFill>
              </a:rPr>
              <a:t>Journal of Teacher Education</a:t>
            </a:r>
            <a:r>
              <a:rPr lang="en" sz="1200">
                <a:solidFill>
                  <a:srgbClr val="262B30"/>
                </a:solidFill>
              </a:rPr>
              <a:t>,   </a:t>
            </a:r>
            <a:r>
              <a:rPr i="1" lang="en" sz="1200">
                <a:solidFill>
                  <a:srgbClr val="262B30"/>
                </a:solidFill>
              </a:rPr>
              <a:t>55</a:t>
            </a:r>
            <a:r>
              <a:rPr lang="en" sz="1200">
                <a:solidFill>
                  <a:srgbClr val="262B30"/>
                </a:solidFill>
              </a:rPr>
              <a:t>(1), 25-38. </a:t>
            </a:r>
            <a:endParaRPr sz="1200">
              <a:solidFill>
                <a:srgbClr val="262B30"/>
              </a:solidFill>
            </a:endParaRPr>
          </a:p>
          <a:p>
            <a:pPr indent="457200" lvl="0" marL="0" rtl="0" algn="l">
              <a:lnSpc>
                <a:spcPct val="115000"/>
              </a:lnSpc>
              <a:spcBef>
                <a:spcPts val="0"/>
              </a:spcBef>
              <a:spcAft>
                <a:spcPts val="0"/>
              </a:spcAft>
              <a:buNone/>
            </a:pPr>
            <a:r>
              <a:rPr lang="en" sz="1200" u="sng">
                <a:solidFill>
                  <a:schemeClr val="hlink"/>
                </a:solidFill>
                <a:hlinkClick r:id="rId9"/>
              </a:rPr>
              <a:t>https://doi-org/10.1177/0022487103259812</a:t>
            </a:r>
            <a:endParaRPr sz="1200" u="sng">
              <a:solidFill>
                <a:schemeClr val="hlink"/>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